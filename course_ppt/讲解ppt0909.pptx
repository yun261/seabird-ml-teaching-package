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431" r:id="rId4"/>
    <p:sldId id="471" r:id="rId6"/>
    <p:sldId id="479" r:id="rId7"/>
    <p:sldId id="472" r:id="rId8"/>
    <p:sldId id="473" r:id="rId9"/>
    <p:sldId id="475" r:id="rId10"/>
    <p:sldId id="504" r:id="rId11"/>
    <p:sldId id="477" r:id="rId12"/>
    <p:sldId id="508" r:id="rId13"/>
    <p:sldId id="478" r:id="rId14"/>
    <p:sldId id="506" r:id="rId15"/>
    <p:sldId id="412" r:id="rId16"/>
    <p:sldId id="483" r:id="rId17"/>
    <p:sldId id="480" r:id="rId18"/>
    <p:sldId id="484" r:id="rId19"/>
    <p:sldId id="486" r:id="rId20"/>
    <p:sldId id="491" r:id="rId21"/>
    <p:sldId id="503" r:id="rId22"/>
    <p:sldId id="442" r:id="rId23"/>
    <p:sldId id="496" r:id="rId24"/>
    <p:sldId id="492" r:id="rId25"/>
    <p:sldId id="488" r:id="rId26"/>
    <p:sldId id="500" r:id="rId27"/>
    <p:sldId id="489" r:id="rId28"/>
    <p:sldId id="499" r:id="rId29"/>
    <p:sldId id="451" r:id="rId30"/>
    <p:sldId id="501" r:id="rId31"/>
    <p:sldId id="510" r:id="rId32"/>
    <p:sldId id="511" r:id="rId33"/>
    <p:sldId id="452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7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 Microsoft Office" initials="Office" lastIdx="1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666666"/>
    <a:srgbClr val="FFFFFF"/>
    <a:srgbClr val="A6A6A6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85831" autoAdjust="0"/>
  </p:normalViewPr>
  <p:slideViewPr>
    <p:cSldViewPr snapToGrid="0" showGuides="1">
      <p:cViewPr varScale="1">
        <p:scale>
          <a:sx n="94" d="100"/>
          <a:sy n="94" d="100"/>
        </p:scale>
        <p:origin x="560" y="72"/>
      </p:cViewPr>
      <p:guideLst>
        <p:guide orient="horz" pos="1997"/>
        <p:guide pos="38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kumimoji="0" lang="zh-CN" altLang="en-US" sz="18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defRPr sz="14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lang="zh-CN" altLang="en-US" sz="2000" b="1" i="0" u="none" strike="noStrike" kern="1200" cap="none" spc="2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defRPr u="none" strike="noStrike" kern="1200" cap="none" spc="150" normalizeH="0" baseline="0"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defRPr u="none" strike="noStrike" kern="1200" cap="none" spc="150" normalizeH="0" baseline="0"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defRPr u="none" strike="noStrike" kern="1200" cap="none" spc="150" normalizeH="0" baseline="0"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defRPr u="none" strike="noStrike" kern="1200" cap="none" spc="150" normalizeH="0" baseline="0"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defRPr u="none" strike="noStrike" kern="1200" cap="none" spc="150" normalizeH="0" baseline="0"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9" Type="http://schemas.openxmlformats.org/officeDocument/2006/relationships/tags" Target="../tags/tag124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1" Type="http://schemas.openxmlformats.org/officeDocument/2006/relationships/notesSlide" Target="../notesSlides/notesSlide1.xml"/><Relationship Id="rId30" Type="http://schemas.openxmlformats.org/officeDocument/2006/relationships/slideLayout" Target="../slideLayouts/slideLayout15.xml"/><Relationship Id="rId3" Type="http://schemas.openxmlformats.org/officeDocument/2006/relationships/tags" Target="../tags/tag127.xml"/><Relationship Id="rId29" Type="http://schemas.openxmlformats.org/officeDocument/2006/relationships/tags" Target="../tags/tag148.xml"/><Relationship Id="rId28" Type="http://schemas.openxmlformats.org/officeDocument/2006/relationships/image" Target="../media/image5.png"/><Relationship Id="rId27" Type="http://schemas.openxmlformats.org/officeDocument/2006/relationships/tags" Target="../tags/tag147.xml"/><Relationship Id="rId26" Type="http://schemas.openxmlformats.org/officeDocument/2006/relationships/tags" Target="../tags/tag146.xml"/><Relationship Id="rId25" Type="http://schemas.openxmlformats.org/officeDocument/2006/relationships/tags" Target="../tags/tag145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image" Target="../media/image4.svg"/><Relationship Id="rId20" Type="http://schemas.openxmlformats.org/officeDocument/2006/relationships/image" Target="../media/image3.png"/><Relationship Id="rId2" Type="http://schemas.openxmlformats.org/officeDocument/2006/relationships/tags" Target="../tags/tag126.xml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image" Target="../media/image2.svg"/><Relationship Id="rId15" Type="http://schemas.openxmlformats.org/officeDocument/2006/relationships/image" Target="../media/image1.png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14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2" Type="http://schemas.openxmlformats.org/officeDocument/2006/relationships/notesSlide" Target="../notesSlides/notesSlide4.xml"/><Relationship Id="rId31" Type="http://schemas.openxmlformats.org/officeDocument/2006/relationships/slideLayout" Target="../slideLayouts/slideLayout25.xml"/><Relationship Id="rId30" Type="http://schemas.openxmlformats.org/officeDocument/2006/relationships/image" Target="../media/image13.jpeg"/><Relationship Id="rId3" Type="http://schemas.openxmlformats.org/officeDocument/2006/relationships/tags" Target="../tags/tag172.xml"/><Relationship Id="rId29" Type="http://schemas.openxmlformats.org/officeDocument/2006/relationships/tags" Target="../tags/tag193.xml"/><Relationship Id="rId28" Type="http://schemas.openxmlformats.org/officeDocument/2006/relationships/image" Target="../media/image12.jpeg"/><Relationship Id="rId27" Type="http://schemas.openxmlformats.org/officeDocument/2006/relationships/tags" Target="../tags/tag192.xml"/><Relationship Id="rId26" Type="http://schemas.openxmlformats.org/officeDocument/2006/relationships/image" Target="../media/image11.jpeg"/><Relationship Id="rId25" Type="http://schemas.openxmlformats.org/officeDocument/2006/relationships/tags" Target="../tags/tag191.xml"/><Relationship Id="rId24" Type="http://schemas.openxmlformats.org/officeDocument/2006/relationships/image" Target="../media/image10.jpeg"/><Relationship Id="rId23" Type="http://schemas.openxmlformats.org/officeDocument/2006/relationships/tags" Target="../tags/tag190.xml"/><Relationship Id="rId22" Type="http://schemas.openxmlformats.org/officeDocument/2006/relationships/image" Target="../media/image9.jpeg"/><Relationship Id="rId21" Type="http://schemas.openxmlformats.org/officeDocument/2006/relationships/tags" Target="../tags/tag189.xml"/><Relationship Id="rId20" Type="http://schemas.openxmlformats.org/officeDocument/2006/relationships/image" Target="../media/image8.jpeg"/><Relationship Id="rId2" Type="http://schemas.openxmlformats.org/officeDocument/2006/relationships/tags" Target="../tags/tag171.xml"/><Relationship Id="rId19" Type="http://schemas.openxmlformats.org/officeDocument/2006/relationships/tags" Target="../tags/tag188.xml"/><Relationship Id="rId18" Type="http://schemas.openxmlformats.org/officeDocument/2006/relationships/tags" Target="../tags/tag187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25.xml"/><Relationship Id="rId25" Type="http://schemas.openxmlformats.org/officeDocument/2006/relationships/tags" Target="../tags/tag218.xml"/><Relationship Id="rId24" Type="http://schemas.openxmlformats.org/officeDocument/2006/relationships/tags" Target="../tags/tag217.xml"/><Relationship Id="rId23" Type="http://schemas.openxmlformats.org/officeDocument/2006/relationships/tags" Target="../tags/tag216.xml"/><Relationship Id="rId22" Type="http://schemas.openxmlformats.org/officeDocument/2006/relationships/tags" Target="../tags/tag215.xml"/><Relationship Id="rId21" Type="http://schemas.openxmlformats.org/officeDocument/2006/relationships/tags" Target="../tags/tag214.xml"/><Relationship Id="rId20" Type="http://schemas.openxmlformats.org/officeDocument/2006/relationships/tags" Target="../tags/tag213.xml"/><Relationship Id="rId2" Type="http://schemas.openxmlformats.org/officeDocument/2006/relationships/tags" Target="../tags/tag195.xml"/><Relationship Id="rId19" Type="http://schemas.openxmlformats.org/officeDocument/2006/relationships/tags" Target="../tags/tag212.xml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tags" Target="../tags/tag19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tags" Target="../tags/tag21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23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25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tags" Target="../tags/tag24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" Type="http://schemas.openxmlformats.org/officeDocument/2006/relationships/tags" Target="../tags/tag257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26.xml"/><Relationship Id="rId16" Type="http://schemas.openxmlformats.org/officeDocument/2006/relationships/tags" Target="../tags/tag266.xml"/><Relationship Id="rId15" Type="http://schemas.openxmlformats.org/officeDocument/2006/relationships/tags" Target="../tags/tag265.xml"/><Relationship Id="rId14" Type="http://schemas.openxmlformats.org/officeDocument/2006/relationships/tags" Target="../tags/tag264.xml"/><Relationship Id="rId13" Type="http://schemas.openxmlformats.org/officeDocument/2006/relationships/tags" Target="../tags/tag263.xml"/><Relationship Id="rId12" Type="http://schemas.openxmlformats.org/officeDocument/2006/relationships/tags" Target="../tags/tag262.xml"/><Relationship Id="rId11" Type="http://schemas.openxmlformats.org/officeDocument/2006/relationships/tags" Target="../tags/tag261.xml"/><Relationship Id="rId10" Type="http://schemas.openxmlformats.org/officeDocument/2006/relationships/tags" Target="../tags/tag260.xml"/><Relationship Id="rId1" Type="http://schemas.openxmlformats.org/officeDocument/2006/relationships/tags" Target="../tags/tag25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8" Type="http://schemas.openxmlformats.org/officeDocument/2006/relationships/notesSlide" Target="../notesSlides/notesSlide11.xml"/><Relationship Id="rId27" Type="http://schemas.openxmlformats.org/officeDocument/2006/relationships/slideLayout" Target="../slideLayouts/slideLayout25.xml"/><Relationship Id="rId26" Type="http://schemas.openxmlformats.org/officeDocument/2006/relationships/tags" Target="../tags/tag292.xml"/><Relationship Id="rId25" Type="http://schemas.openxmlformats.org/officeDocument/2006/relationships/tags" Target="../tags/tag291.xml"/><Relationship Id="rId24" Type="http://schemas.openxmlformats.org/officeDocument/2006/relationships/tags" Target="../tags/tag290.xml"/><Relationship Id="rId23" Type="http://schemas.openxmlformats.org/officeDocument/2006/relationships/tags" Target="../tags/tag289.xml"/><Relationship Id="rId22" Type="http://schemas.openxmlformats.org/officeDocument/2006/relationships/tags" Target="../tags/tag288.xml"/><Relationship Id="rId21" Type="http://schemas.openxmlformats.org/officeDocument/2006/relationships/tags" Target="../tags/tag287.xml"/><Relationship Id="rId20" Type="http://schemas.openxmlformats.org/officeDocument/2006/relationships/tags" Target="../tags/tag286.xml"/><Relationship Id="rId2" Type="http://schemas.openxmlformats.org/officeDocument/2006/relationships/tags" Target="../tags/tag268.xml"/><Relationship Id="rId19" Type="http://schemas.openxmlformats.org/officeDocument/2006/relationships/tags" Target="../tags/tag285.xml"/><Relationship Id="rId18" Type="http://schemas.openxmlformats.org/officeDocument/2006/relationships/tags" Target="../tags/tag284.xml"/><Relationship Id="rId17" Type="http://schemas.openxmlformats.org/officeDocument/2006/relationships/tags" Target="../tags/tag283.xml"/><Relationship Id="rId16" Type="http://schemas.openxmlformats.org/officeDocument/2006/relationships/tags" Target="../tags/tag282.xml"/><Relationship Id="rId15" Type="http://schemas.openxmlformats.org/officeDocument/2006/relationships/tags" Target="../tags/tag281.xml"/><Relationship Id="rId14" Type="http://schemas.openxmlformats.org/officeDocument/2006/relationships/tags" Target="../tags/tag280.xml"/><Relationship Id="rId13" Type="http://schemas.openxmlformats.org/officeDocument/2006/relationships/tags" Target="../tags/tag279.xml"/><Relationship Id="rId12" Type="http://schemas.openxmlformats.org/officeDocument/2006/relationships/tags" Target="../tags/tag278.xml"/><Relationship Id="rId11" Type="http://schemas.openxmlformats.org/officeDocument/2006/relationships/tags" Target="../tags/tag277.xml"/><Relationship Id="rId10" Type="http://schemas.openxmlformats.org/officeDocument/2006/relationships/tags" Target="../tags/tag276.xml"/><Relationship Id="rId1" Type="http://schemas.openxmlformats.org/officeDocument/2006/relationships/tags" Target="../tags/tag2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304.xml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tags" Target="../tags/tag29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13.xml"/><Relationship Id="rId8" Type="http://schemas.openxmlformats.org/officeDocument/2006/relationships/tags" Target="../tags/tag312.xml"/><Relationship Id="rId7" Type="http://schemas.openxmlformats.org/officeDocument/2006/relationships/tags" Target="../tags/tag311.xml"/><Relationship Id="rId6" Type="http://schemas.openxmlformats.org/officeDocument/2006/relationships/tags" Target="../tags/tag310.xml"/><Relationship Id="rId5" Type="http://schemas.openxmlformats.org/officeDocument/2006/relationships/tags" Target="../tags/tag309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17.xml"/><Relationship Id="rId12" Type="http://schemas.openxmlformats.org/officeDocument/2006/relationships/tags" Target="../tags/tag316.xml"/><Relationship Id="rId11" Type="http://schemas.openxmlformats.org/officeDocument/2006/relationships/tags" Target="../tags/tag315.xml"/><Relationship Id="rId10" Type="http://schemas.openxmlformats.org/officeDocument/2006/relationships/tags" Target="../tags/tag314.xml"/><Relationship Id="rId1" Type="http://schemas.openxmlformats.org/officeDocument/2006/relationships/tags" Target="../tags/tag30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26.xml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25.xml"/><Relationship Id="rId12" Type="http://schemas.openxmlformats.org/officeDocument/2006/relationships/tags" Target="../tags/tag329.xml"/><Relationship Id="rId11" Type="http://schemas.openxmlformats.org/officeDocument/2006/relationships/tags" Target="../tags/tag328.xml"/><Relationship Id="rId10" Type="http://schemas.openxmlformats.org/officeDocument/2006/relationships/tags" Target="../tags/tag327.xml"/><Relationship Id="rId1" Type="http://schemas.openxmlformats.org/officeDocument/2006/relationships/tags" Target="../tags/tag3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38.xml"/><Relationship Id="rId8" Type="http://schemas.openxmlformats.org/officeDocument/2006/relationships/tags" Target="../tags/tag337.xml"/><Relationship Id="rId7" Type="http://schemas.openxmlformats.org/officeDocument/2006/relationships/tags" Target="../tags/tag336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4" Type="http://schemas.openxmlformats.org/officeDocument/2006/relationships/notesSlide" Target="../notesSlides/notesSlide19.xml"/><Relationship Id="rId13" Type="http://schemas.openxmlformats.org/officeDocument/2006/relationships/slideLayout" Target="../slideLayouts/slideLayout25.xml"/><Relationship Id="rId12" Type="http://schemas.openxmlformats.org/officeDocument/2006/relationships/tags" Target="../tags/tag341.xml"/><Relationship Id="rId11" Type="http://schemas.openxmlformats.org/officeDocument/2006/relationships/tags" Target="../tags/tag340.xml"/><Relationship Id="rId10" Type="http://schemas.openxmlformats.org/officeDocument/2006/relationships/tags" Target="../tags/tag339.xml"/><Relationship Id="rId1" Type="http://schemas.openxmlformats.org/officeDocument/2006/relationships/tags" Target="../tags/tag330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50.xml"/><Relationship Id="rId8" Type="http://schemas.openxmlformats.org/officeDocument/2006/relationships/tags" Target="../tags/tag349.xml"/><Relationship Id="rId7" Type="http://schemas.openxmlformats.org/officeDocument/2006/relationships/tags" Target="../tags/tag348.xml"/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4" Type="http://schemas.openxmlformats.org/officeDocument/2006/relationships/tags" Target="../tags/tag345.xml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54.xml"/><Relationship Id="rId12" Type="http://schemas.openxmlformats.org/officeDocument/2006/relationships/tags" Target="../tags/tag353.xml"/><Relationship Id="rId11" Type="http://schemas.openxmlformats.org/officeDocument/2006/relationships/tags" Target="../tags/tag352.xml"/><Relationship Id="rId10" Type="http://schemas.openxmlformats.org/officeDocument/2006/relationships/tags" Target="../tags/tag351.xml"/><Relationship Id="rId1" Type="http://schemas.openxmlformats.org/officeDocument/2006/relationships/tags" Target="../tags/tag34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25.xml"/><Relationship Id="rId1" Type="http://schemas.openxmlformats.org/officeDocument/2006/relationships/tags" Target="../tags/tag35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372.xml"/><Relationship Id="rId8" Type="http://schemas.openxmlformats.org/officeDocument/2006/relationships/tags" Target="../tags/tag37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9" Type="http://schemas.openxmlformats.org/officeDocument/2006/relationships/slideLayout" Target="../slideLayouts/slideLayout15.xml"/><Relationship Id="rId18" Type="http://schemas.openxmlformats.org/officeDocument/2006/relationships/tags" Target="../tags/tag380.xml"/><Relationship Id="rId17" Type="http://schemas.openxmlformats.org/officeDocument/2006/relationships/image" Target="../media/image19.png"/><Relationship Id="rId16" Type="http://schemas.openxmlformats.org/officeDocument/2006/relationships/tags" Target="../tags/tag379.xml"/><Relationship Id="rId15" Type="http://schemas.openxmlformats.org/officeDocument/2006/relationships/tags" Target="../tags/tag378.xml"/><Relationship Id="rId14" Type="http://schemas.openxmlformats.org/officeDocument/2006/relationships/tags" Target="../tags/tag377.xml"/><Relationship Id="rId13" Type="http://schemas.openxmlformats.org/officeDocument/2006/relationships/tags" Target="../tags/tag376.xml"/><Relationship Id="rId12" Type="http://schemas.openxmlformats.org/officeDocument/2006/relationships/tags" Target="../tags/tag375.xml"/><Relationship Id="rId11" Type="http://schemas.openxmlformats.org/officeDocument/2006/relationships/tags" Target="../tags/tag374.xml"/><Relationship Id="rId10" Type="http://schemas.openxmlformats.org/officeDocument/2006/relationships/tags" Target="../tags/tag373.xml"/><Relationship Id="rId1" Type="http://schemas.openxmlformats.org/officeDocument/2006/relationships/tags" Target="../tags/tag3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 flipH="1">
            <a:off x="8599805" y="5489575"/>
            <a:ext cx="3480435" cy="1250950"/>
            <a:chOff x="13719" y="55"/>
            <a:chExt cx="5481" cy="1970"/>
          </a:xfrm>
        </p:grpSpPr>
        <p:grpSp>
          <p:nvGrpSpPr>
            <p:cNvPr id="4" name="Group 4"/>
            <p:cNvGrpSpPr/>
            <p:nvPr userDrawn="1"/>
          </p:nvGrpSpPr>
          <p:grpSpPr>
            <a:xfrm rot="10800000">
              <a:off x="14586" y="777"/>
              <a:ext cx="4614" cy="1248"/>
              <a:chOff x="6492014" y="1638308"/>
              <a:chExt cx="938947" cy="253992"/>
            </a:xfrm>
            <a:solidFill>
              <a:schemeClr val="bg1">
                <a:lumMod val="65000"/>
              </a:schemeClr>
            </a:solidFill>
          </p:grpSpPr>
          <p:sp>
            <p:nvSpPr>
              <p:cNvPr id="5" name="Diamond 5"/>
              <p:cNvSpPr/>
              <p:nvPr>
                <p:custDataLst>
                  <p:tags r:id="rId1"/>
                </p:custDataLst>
              </p:nvPr>
            </p:nvSpPr>
            <p:spPr>
              <a:xfrm>
                <a:off x="6492014" y="1638308"/>
                <a:ext cx="253992" cy="253992"/>
              </a:xfrm>
              <a:prstGeom prst="diamond">
                <a:avLst/>
              </a:prstGeom>
              <a:solidFill>
                <a:srgbClr val="A6A6A6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" name="Diamond 6"/>
              <p:cNvSpPr/>
              <p:nvPr>
                <p:custDataLst>
                  <p:tags r:id="rId2"/>
                </p:custDataLst>
              </p:nvPr>
            </p:nvSpPr>
            <p:spPr>
              <a:xfrm>
                <a:off x="6837701" y="1638308"/>
                <a:ext cx="253992" cy="253992"/>
              </a:xfrm>
              <a:prstGeom prst="diamond">
                <a:avLst/>
              </a:prstGeom>
              <a:solidFill>
                <a:srgbClr val="A6A6A6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7" name="Diamond 7"/>
              <p:cNvSpPr/>
              <p:nvPr>
                <p:custDataLst>
                  <p:tags r:id="rId3"/>
                </p:custDataLst>
              </p:nvPr>
            </p:nvSpPr>
            <p:spPr>
              <a:xfrm>
                <a:off x="7176969" y="1638308"/>
                <a:ext cx="253992" cy="253992"/>
              </a:xfrm>
              <a:prstGeom prst="diamond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8" name="Group 12"/>
            <p:cNvGrpSpPr/>
            <p:nvPr userDrawn="1"/>
          </p:nvGrpSpPr>
          <p:grpSpPr>
            <a:xfrm rot="10800000">
              <a:off x="13719" y="55"/>
              <a:ext cx="4614" cy="1248"/>
              <a:chOff x="6492014" y="1638308"/>
              <a:chExt cx="938947" cy="253992"/>
            </a:xfrm>
            <a:solidFill>
              <a:srgbClr val="C00000"/>
            </a:solidFill>
          </p:grpSpPr>
          <p:sp>
            <p:nvSpPr>
              <p:cNvPr id="9" name="Diamond 13"/>
              <p:cNvSpPr/>
              <p:nvPr>
                <p:custDataLst>
                  <p:tags r:id="rId4"/>
                </p:custDataLst>
              </p:nvPr>
            </p:nvSpPr>
            <p:spPr>
              <a:xfrm>
                <a:off x="6492014" y="1638308"/>
                <a:ext cx="253992" cy="253992"/>
              </a:xfrm>
              <a:prstGeom prst="diamond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2" name="Diamond 14"/>
              <p:cNvSpPr/>
              <p:nvPr>
                <p:custDataLst>
                  <p:tags r:id="rId5"/>
                </p:custDataLst>
              </p:nvPr>
            </p:nvSpPr>
            <p:spPr>
              <a:xfrm>
                <a:off x="6837701" y="1638308"/>
                <a:ext cx="253992" cy="253992"/>
              </a:xfrm>
              <a:prstGeom prst="diamond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3" name="Diamond 15"/>
              <p:cNvSpPr/>
              <p:nvPr>
                <p:custDataLst>
                  <p:tags r:id="rId6"/>
                </p:custDataLst>
              </p:nvPr>
            </p:nvSpPr>
            <p:spPr>
              <a:xfrm>
                <a:off x="7176969" y="1638308"/>
                <a:ext cx="253992" cy="253992"/>
              </a:xfrm>
              <a:prstGeom prst="diamond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3733800" y="591185"/>
            <a:ext cx="8016875" cy="71120"/>
            <a:chOff x="5880" y="931"/>
            <a:chExt cx="12625" cy="112"/>
          </a:xfrm>
        </p:grpSpPr>
        <p:cxnSp>
          <p:nvCxnSpPr>
            <p:cNvPr id="20" name="直接连接符 19"/>
            <p:cNvCxnSpPr/>
            <p:nvPr>
              <p:custDataLst>
                <p:tags r:id="rId7"/>
              </p:custDataLst>
            </p:nvPr>
          </p:nvCxnSpPr>
          <p:spPr>
            <a:xfrm>
              <a:off x="5880" y="931"/>
              <a:ext cx="11653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>
              <p:custDataLst>
                <p:tags r:id="rId8"/>
              </p:custDataLst>
            </p:nvPr>
          </p:nvCxnSpPr>
          <p:spPr>
            <a:xfrm>
              <a:off x="6852" y="1043"/>
              <a:ext cx="11653" cy="0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 flipV="1">
            <a:off x="499110" y="6344285"/>
            <a:ext cx="8016875" cy="85090"/>
            <a:chOff x="5880" y="909"/>
            <a:chExt cx="12625" cy="134"/>
          </a:xfrm>
        </p:grpSpPr>
        <p:cxnSp>
          <p:nvCxnSpPr>
            <p:cNvPr id="24" name="直接连接符 23"/>
            <p:cNvCxnSpPr/>
            <p:nvPr>
              <p:custDataLst>
                <p:tags r:id="rId9"/>
              </p:custDataLst>
            </p:nvPr>
          </p:nvCxnSpPr>
          <p:spPr>
            <a:xfrm>
              <a:off x="5880" y="909"/>
              <a:ext cx="11653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>
              <p:custDataLst>
                <p:tags r:id="rId10"/>
              </p:custDataLst>
            </p:nvPr>
          </p:nvCxnSpPr>
          <p:spPr>
            <a:xfrm>
              <a:off x="6852" y="1043"/>
              <a:ext cx="11653" cy="0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1468755" y="2877820"/>
            <a:ext cx="9851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90000"/>
              </a:lnSpc>
            </a:pPr>
            <a:r>
              <a:rPr lang="zh-CN" altLang="en-US" sz="4000" dirty="0">
                <a:solidFill>
                  <a:schemeClr val="tx1"/>
                </a:solidFill>
                <a:latin typeface="字魂35号-经典雅黑" panose="00000500000000000000" charset="-122"/>
                <a:ea typeface="字魂35号-经典雅黑" panose="00000500000000000000" charset="-122"/>
              </a:rPr>
              <a:t>基于三轴加速度与机器学习的海鸟行为识别</a:t>
            </a:r>
            <a:endParaRPr lang="zh-CN" altLang="en-US" sz="4000" dirty="0">
              <a:solidFill>
                <a:schemeClr val="tx1"/>
              </a:solidFill>
              <a:latin typeface="字魂35号-经典雅黑" panose="00000500000000000000" charset="-122"/>
              <a:ea typeface="字魂35号-经典雅黑" panose="00000500000000000000" charset="-122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3430905" y="4531995"/>
            <a:ext cx="1853565" cy="490220"/>
            <a:chOff x="8119" y="8320"/>
            <a:chExt cx="2919" cy="772"/>
          </a:xfrm>
        </p:grpSpPr>
        <p:sp>
          <p:nvSpPr>
            <p:cNvPr id="109" name="圆角矩形 108"/>
            <p:cNvSpPr/>
            <p:nvPr>
              <p:custDataLst>
                <p:tags r:id="rId12"/>
              </p:custDataLst>
            </p:nvPr>
          </p:nvSpPr>
          <p:spPr>
            <a:xfrm>
              <a:off x="8119" y="8320"/>
              <a:ext cx="2919" cy="772"/>
            </a:xfrm>
            <a:prstGeom prst="roundRect">
              <a:avLst>
                <a:gd name="adj" fmla="val 4235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>
              <p:custDataLst>
                <p:tags r:id="rId13"/>
              </p:custDataLst>
            </p:nvPr>
          </p:nvSpPr>
          <p:spPr>
            <a:xfrm>
              <a:off x="8752" y="8327"/>
              <a:ext cx="2137" cy="7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2400" dirty="0">
                  <a:latin typeface="字魂59号-创粗黑" panose="00000500000000000000" charset="-122"/>
                  <a:ea typeface="字魂59号-创粗黑" panose="00000500000000000000" charset="-122"/>
                  <a:sym typeface="+mn-ea"/>
                </a:rPr>
                <a:t>青课</a:t>
              </a:r>
              <a:endParaRPr lang="zh-CN" altLang="en-US" sz="2400" dirty="0">
                <a:latin typeface="字魂59号-创粗黑" panose="00000500000000000000" charset="-122"/>
                <a:ea typeface="字魂59号-创粗黑" panose="00000500000000000000" charset="-122"/>
                <a:sym typeface="+mn-ea"/>
              </a:endParaRPr>
            </a:p>
          </p:txBody>
        </p:sp>
      </p:grpSp>
      <p:pic>
        <p:nvPicPr>
          <p:cNvPr id="111" name="图片 110" descr="303b343532313237323bb4f0b1e7c8cb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87750" y="4574540"/>
            <a:ext cx="396875" cy="396875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6710045" y="4515485"/>
            <a:ext cx="1964690" cy="498475"/>
            <a:chOff x="8119" y="8320"/>
            <a:chExt cx="2919" cy="785"/>
          </a:xfrm>
        </p:grpSpPr>
        <p:sp>
          <p:nvSpPr>
            <p:cNvPr id="28" name="圆角矩形 27"/>
            <p:cNvSpPr/>
            <p:nvPr>
              <p:custDataLst>
                <p:tags r:id="rId17"/>
              </p:custDataLst>
            </p:nvPr>
          </p:nvSpPr>
          <p:spPr>
            <a:xfrm>
              <a:off x="8119" y="8320"/>
              <a:ext cx="2919" cy="772"/>
            </a:xfrm>
            <a:prstGeom prst="roundRect">
              <a:avLst>
                <a:gd name="adj" fmla="val 42357"/>
              </a:avLst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>
              <p:custDataLst>
                <p:tags r:id="rId18"/>
              </p:custDataLst>
            </p:nvPr>
          </p:nvSpPr>
          <p:spPr>
            <a:xfrm>
              <a:off x="8863" y="8346"/>
              <a:ext cx="2175" cy="7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2400">
                  <a:latin typeface="字魂59号-创粗黑" panose="00000500000000000000" charset="-122"/>
                  <a:ea typeface="字魂59号-创粗黑" panose="00000500000000000000" charset="-122"/>
                  <a:sym typeface="+mn-ea"/>
                </a:rPr>
                <a:t>指导老师</a:t>
              </a:r>
              <a:endParaRPr lang="zh-CN" altLang="en-US" sz="2400">
                <a:latin typeface="字魂59号-创粗黑" panose="00000500000000000000" charset="-122"/>
                <a:ea typeface="字魂59号-创粗黑" panose="00000500000000000000" charset="-122"/>
                <a:sym typeface="+mn-ea"/>
              </a:endParaRPr>
            </a:p>
          </p:txBody>
        </p:sp>
      </p:grpSp>
      <p:pic>
        <p:nvPicPr>
          <p:cNvPr id="30" name="图片 29" descr="303b343532313235393bd6b8b5bcc0cfcaa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14185" y="4562475"/>
            <a:ext cx="396875" cy="396875"/>
          </a:xfrm>
          <a:prstGeom prst="rect">
            <a:avLst/>
          </a:prstGeom>
        </p:spPr>
      </p:pic>
      <p:sp>
        <p:nvSpPr>
          <p:cNvPr id="56" name="椭圆 55"/>
          <p:cNvSpPr/>
          <p:nvPr/>
        </p:nvSpPr>
        <p:spPr>
          <a:xfrm>
            <a:off x="9413875" y="5752465"/>
            <a:ext cx="266065" cy="2660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11021695" y="6211570"/>
            <a:ext cx="266065" cy="2660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9" name="组合 58"/>
          <p:cNvGrpSpPr/>
          <p:nvPr/>
        </p:nvGrpSpPr>
        <p:grpSpPr>
          <a:xfrm>
            <a:off x="107315" y="132715"/>
            <a:ext cx="3479800" cy="1250950"/>
            <a:chOff x="169" y="209"/>
            <a:chExt cx="5480" cy="1970"/>
          </a:xfrm>
        </p:grpSpPr>
        <p:grpSp>
          <p:nvGrpSpPr>
            <p:cNvPr id="60" name="组合 59"/>
            <p:cNvGrpSpPr/>
            <p:nvPr/>
          </p:nvGrpSpPr>
          <p:grpSpPr>
            <a:xfrm flipH="1">
              <a:off x="169" y="209"/>
              <a:ext cx="5481" cy="1970"/>
              <a:chOff x="13719" y="55"/>
              <a:chExt cx="5481" cy="1970"/>
            </a:xfrm>
          </p:grpSpPr>
          <p:grpSp>
            <p:nvGrpSpPr>
              <p:cNvPr id="61" name="Group 4"/>
              <p:cNvGrpSpPr/>
              <p:nvPr userDrawn="1"/>
            </p:nvGrpSpPr>
            <p:grpSpPr>
              <a:xfrm rot="10800000">
                <a:off x="14586" y="777"/>
                <a:ext cx="4614" cy="1248"/>
                <a:chOff x="6492014" y="1638308"/>
                <a:chExt cx="938947" cy="25399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62" name="Diamond 5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63" name="Diamond 6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64" name="Diamond 7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grpSp>
            <p:nvGrpSpPr>
              <p:cNvPr id="65" name="Group 12"/>
              <p:cNvGrpSpPr/>
              <p:nvPr userDrawn="1"/>
            </p:nvGrpSpPr>
            <p:grpSpPr>
              <a:xfrm rot="10800000">
                <a:off x="13719" y="55"/>
                <a:ext cx="4614" cy="1248"/>
                <a:chOff x="6492014" y="1638308"/>
                <a:chExt cx="938947" cy="253992"/>
              </a:xfrm>
              <a:solidFill>
                <a:srgbClr val="C00000"/>
              </a:solidFill>
            </p:grpSpPr>
            <p:sp>
              <p:nvSpPr>
                <p:cNvPr id="66" name="Diamond 13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67" name="Diamond 14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68" name="Diamond 15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</p:grpSp>
        <p:sp>
          <p:nvSpPr>
            <p:cNvPr id="69" name="椭圆 68"/>
            <p:cNvSpPr/>
            <p:nvPr/>
          </p:nvSpPr>
          <p:spPr>
            <a:xfrm>
              <a:off x="583" y="1346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3116" y="624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935" y="1092909"/>
            <a:ext cx="5528130" cy="1058650"/>
          </a:xfrm>
          <a:prstGeom prst="rect">
            <a:avLst/>
          </a:prstGeom>
        </p:spPr>
      </p:pic>
    </p:spTree>
    <p:custDataLst>
      <p:tags r:id="rId2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56" grpId="0" animBg="1"/>
      <p:bldP spid="56" grpId="1" animBg="1"/>
      <p:bldP spid="57" grpId="0" animBg="1"/>
      <p:bldP spid="57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zh-CN" sz="2400"/>
              <a:t>一切都</a:t>
            </a:r>
            <a:r>
              <a:rPr sz="2400"/>
              <a:t>从一个简单问题开始</a:t>
            </a:r>
            <a:r>
              <a:rPr lang="zh-CN" sz="2400"/>
              <a:t>：</a:t>
            </a:r>
            <a:endParaRPr lang="zh-CN" sz="2400"/>
          </a:p>
        </p:txBody>
      </p:sp>
      <p:sp>
        <p:nvSpPr>
          <p:cNvPr id="6" name="Text 4"/>
          <p:cNvSpPr/>
          <p:nvPr/>
        </p:nvSpPr>
        <p:spPr>
          <a:xfrm>
            <a:off x="713740" y="1438275"/>
            <a:ext cx="10424160" cy="4292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algn="ctr"/>
            <a:r>
              <a:rPr sz="2800"/>
              <a:t>海鸟离开巢穴后，我们怎样知道它在做什么？</a:t>
            </a:r>
            <a:endParaRPr sz="280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823278" y="230378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FFF3F3"/>
          </a:solidFill>
          <a:ln w="12700">
            <a:solidFill>
              <a:srgbClr val="F5B5B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987869" y="2440940"/>
            <a:ext cx="28712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t>传统观察</a:t>
            </a:r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987869" y="2834132"/>
            <a:ext cx="2871216" cy="21214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t>人看视频或现场记录</a:t>
            </a:r>
          </a:p>
          <a:p/>
          <a:p>
            <a:r>
              <a:t>优点：</a:t>
            </a:r>
          </a:p>
          <a:p>
            <a:pPr lvl="1"/>
            <a:r>
              <a:t>直观</a:t>
            </a:r>
          </a:p>
          <a:p>
            <a:r>
              <a:t>问题：</a:t>
            </a:r>
          </a:p>
          <a:p>
            <a:pPr lvl="1"/>
            <a:r>
              <a:t>费时、</a:t>
            </a:r>
          </a:p>
          <a:p>
            <a:pPr lvl="1"/>
            <a:r>
              <a:t>很难连续观察海上行为</a:t>
            </a:r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4252278" y="3263900"/>
            <a:ext cx="45720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t>→</a:t>
            </a:r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4846638" y="230378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EAF3FB"/>
          </a:solidFill>
          <a:ln w="12700">
            <a:solidFill>
              <a:srgbClr val="BDD7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5011230" y="2440940"/>
            <a:ext cx="28712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t>生物记录仪</a:t>
            </a:r>
          </a:p>
        </p:txBody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5011230" y="2834132"/>
            <a:ext cx="2871216" cy="21214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t>佩戴在海鸟背部</a:t>
            </a:r>
          </a:p>
          <a:p>
            <a:r>
              <a:t>记录加速度、位置、深度等</a:t>
            </a:r>
          </a:p>
          <a:p/>
          <a:p>
            <a:r>
              <a:t>优点：</a:t>
            </a:r>
          </a:p>
          <a:p>
            <a:pPr lvl="1"/>
            <a:r>
              <a:t>可以长时间自动记录</a:t>
            </a:r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8275638" y="3263900"/>
            <a:ext cx="45720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t>→</a:t>
            </a:r>
          </a:p>
        </p:txBody>
      </p:sp>
      <p:sp>
        <p:nvSpPr>
          <p:cNvPr id="15" name="Shape 13"/>
          <p:cNvSpPr/>
          <p:nvPr/>
        </p:nvSpPr>
        <p:spPr>
          <a:xfrm>
            <a:off x="8870315" y="2303780"/>
            <a:ext cx="2993390" cy="2743200"/>
          </a:xfrm>
          <a:prstGeom prst="roundRect">
            <a:avLst>
              <a:gd name="adj" fmla="val 2909"/>
            </a:avLst>
          </a:prstGeom>
          <a:solidFill>
            <a:srgbClr val="EEF7EE"/>
          </a:solidFill>
          <a:ln w="12700">
            <a:solidFill>
              <a:srgbClr val="B7D7B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34590" y="2440940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t>机器学习</a:t>
            </a:r>
          </a:p>
        </p:txBody>
      </p:sp>
      <p:sp>
        <p:nvSpPr>
          <p:cNvPr id="17" name="Text 15"/>
          <p:cNvSpPr/>
          <p:nvPr/>
        </p:nvSpPr>
        <p:spPr>
          <a:xfrm>
            <a:off x="9034780" y="2733675"/>
            <a:ext cx="2795905" cy="212153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t>让电脑从已标注样本中学习</a:t>
            </a:r>
          </a:p>
          <a:p>
            <a:r>
              <a:t>再自动判断新片段的行为</a:t>
            </a:r>
          </a:p>
        </p:txBody>
      </p:sp>
      <p:sp>
        <p:nvSpPr>
          <p:cNvPr id="18" name="Text 16"/>
          <p:cNvSpPr/>
          <p:nvPr/>
        </p:nvSpPr>
        <p:spPr>
          <a:xfrm>
            <a:off x="988695" y="5572760"/>
            <a:ext cx="10521315" cy="771525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zh-CN" sz="2400"/>
              <a:t>显然，</a:t>
            </a:r>
            <a:r>
              <a:rPr sz="2400"/>
              <a:t>野外动物行为很难长期人工观察，因此</a:t>
            </a:r>
            <a:r>
              <a:rPr lang="zh-CN" sz="2400"/>
              <a:t>我们</a:t>
            </a:r>
            <a:r>
              <a:rPr sz="2400"/>
              <a:t>需要自动化识别工具</a:t>
            </a:r>
            <a:r>
              <a:rPr lang="zh-CN" sz="2400"/>
              <a:t>来帮助记录了很多数据，以</a:t>
            </a:r>
            <a:r>
              <a:rPr lang="zh-CN" sz="2400"/>
              <a:t>支撑更深一步</a:t>
            </a:r>
            <a:r>
              <a:rPr lang="zh-CN" sz="2400"/>
              <a:t>的分析。</a:t>
            </a:r>
            <a:endParaRPr 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等腰三角形 48"/>
          <p:cNvSpPr/>
          <p:nvPr/>
        </p:nvSpPr>
        <p:spPr>
          <a:xfrm rot="16200000">
            <a:off x="11021695" y="3008630"/>
            <a:ext cx="1499235" cy="840105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178300" y="2971800"/>
            <a:ext cx="452437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5400" spc="300" dirty="0">
                <a:latin typeface="字魂35号-经典雅黑" panose="00000500000000000000" charset="-122"/>
                <a:ea typeface="字魂35号-经典雅黑" panose="00000500000000000000" charset="-122"/>
                <a:cs typeface="+mn-ea"/>
                <a:sym typeface="+mn-ea"/>
              </a:rPr>
              <a:t>数据</a:t>
            </a:r>
            <a:r>
              <a:rPr lang="zh-CN" altLang="en-US" sz="5400" spc="300" dirty="0">
                <a:latin typeface="字魂35号-经典雅黑" panose="00000500000000000000" charset="-122"/>
                <a:ea typeface="字魂35号-经典雅黑" panose="00000500000000000000" charset="-122"/>
                <a:cs typeface="+mn-ea"/>
                <a:sym typeface="+mn-ea"/>
              </a:rPr>
              <a:t>探索</a:t>
            </a:r>
            <a:endParaRPr lang="zh-CN" altLang="en-US" sz="5400" spc="300" dirty="0">
              <a:latin typeface="字魂35号-经典雅黑" panose="00000500000000000000" charset="-122"/>
              <a:ea typeface="字魂35号-经典雅黑" panose="00000500000000000000" charset="-122"/>
              <a:cs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54655" y="4079240"/>
            <a:ext cx="7490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latin typeface="字魂119号-天真儿风体" panose="00000500000000000000" charset="-122"/>
                <a:ea typeface="字魂119号-天真儿风体" panose="00000500000000000000" charset="-122"/>
                <a:cs typeface="Lucida Calligraphy" panose="03010101010101010101" charset="0"/>
                <a:sym typeface="+mn-ea"/>
              </a:rPr>
              <a:t>点击这里，输入合适的内容。点击这里，输入合适的内容。点击这里，输入合适的内容。</a:t>
            </a:r>
            <a:r>
              <a:rPr lang="en-US" sz="1400" dirty="0">
                <a:latin typeface="字魂119号-天真儿风体" panose="00000500000000000000" charset="-122"/>
                <a:ea typeface="字魂119号-天真儿风体" panose="00000500000000000000" charset="-122"/>
                <a:cs typeface="Lucida Calligraphy" panose="03010101010101010101" charset="0"/>
                <a:sym typeface="+mn-ea"/>
              </a:rPr>
              <a:t>.</a:t>
            </a:r>
            <a:endParaRPr lang="en-US" sz="1400" dirty="0">
              <a:latin typeface="字魂119号-天真儿风体" panose="00000500000000000000" charset="-122"/>
              <a:ea typeface="字魂119号-天真儿风体" panose="00000500000000000000" charset="-122"/>
              <a:cs typeface="Lucida Calligraphy" panose="03010101010101010101" charset="0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901055" y="1647190"/>
            <a:ext cx="1049655" cy="1049655"/>
            <a:chOff x="8078" y="1403"/>
            <a:chExt cx="2610" cy="2610"/>
          </a:xfrm>
        </p:grpSpPr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8493" y="2088"/>
              <a:ext cx="1781" cy="1240"/>
            </a:xfrm>
            <a:custGeom>
              <a:avLst/>
              <a:gdLst>
                <a:gd name="T0" fmla="*/ 245 w 589"/>
                <a:gd name="T1" fmla="*/ 311 h 334"/>
                <a:gd name="T2" fmla="*/ 243 w 589"/>
                <a:gd name="T3" fmla="*/ 244 h 334"/>
                <a:gd name="T4" fmla="*/ 236 w 589"/>
                <a:gd name="T5" fmla="*/ 238 h 334"/>
                <a:gd name="T6" fmla="*/ 223 w 589"/>
                <a:gd name="T7" fmla="*/ 240 h 334"/>
                <a:gd name="T8" fmla="*/ 218 w 589"/>
                <a:gd name="T9" fmla="*/ 239 h 334"/>
                <a:gd name="T10" fmla="*/ 156 w 589"/>
                <a:gd name="T11" fmla="*/ 211 h 334"/>
                <a:gd name="T12" fmla="*/ 148 w 589"/>
                <a:gd name="T13" fmla="*/ 216 h 334"/>
                <a:gd name="T14" fmla="*/ 151 w 589"/>
                <a:gd name="T15" fmla="*/ 252 h 334"/>
                <a:gd name="T16" fmla="*/ 153 w 589"/>
                <a:gd name="T17" fmla="*/ 254 h 334"/>
                <a:gd name="T18" fmla="*/ 199 w 589"/>
                <a:gd name="T19" fmla="*/ 296 h 334"/>
                <a:gd name="T20" fmla="*/ 237 w 589"/>
                <a:gd name="T21" fmla="*/ 317 h 334"/>
                <a:gd name="T22" fmla="*/ 245 w 589"/>
                <a:gd name="T23" fmla="*/ 311 h 334"/>
                <a:gd name="T24" fmla="*/ 521 w 589"/>
                <a:gd name="T25" fmla="*/ 220 h 334"/>
                <a:gd name="T26" fmla="*/ 524 w 589"/>
                <a:gd name="T27" fmla="*/ 223 h 334"/>
                <a:gd name="T28" fmla="*/ 534 w 589"/>
                <a:gd name="T29" fmla="*/ 235 h 334"/>
                <a:gd name="T30" fmla="*/ 536 w 589"/>
                <a:gd name="T31" fmla="*/ 238 h 334"/>
                <a:gd name="T32" fmla="*/ 552 w 589"/>
                <a:gd name="T33" fmla="*/ 262 h 334"/>
                <a:gd name="T34" fmla="*/ 527 w 589"/>
                <a:gd name="T35" fmla="*/ 320 h 334"/>
                <a:gd name="T36" fmla="*/ 520 w 589"/>
                <a:gd name="T37" fmla="*/ 313 h 334"/>
                <a:gd name="T38" fmla="*/ 501 w 589"/>
                <a:gd name="T39" fmla="*/ 268 h 334"/>
                <a:gd name="T40" fmla="*/ 506 w 589"/>
                <a:gd name="T41" fmla="*/ 244 h 334"/>
                <a:gd name="T42" fmla="*/ 506 w 589"/>
                <a:gd name="T43" fmla="*/ 241 h 334"/>
                <a:gd name="T44" fmla="*/ 505 w 589"/>
                <a:gd name="T45" fmla="*/ 235 h 334"/>
                <a:gd name="T46" fmla="*/ 510 w 589"/>
                <a:gd name="T47" fmla="*/ 226 h 334"/>
                <a:gd name="T48" fmla="*/ 511 w 589"/>
                <a:gd name="T49" fmla="*/ 222 h 334"/>
                <a:gd name="T50" fmla="*/ 495 w 589"/>
                <a:gd name="T51" fmla="*/ 174 h 334"/>
                <a:gd name="T52" fmla="*/ 491 w 589"/>
                <a:gd name="T53" fmla="*/ 173 h 334"/>
                <a:gd name="T54" fmla="*/ 224 w 589"/>
                <a:gd name="T55" fmla="*/ 227 h 334"/>
                <a:gd name="T56" fmla="*/ 221 w 589"/>
                <a:gd name="T57" fmla="*/ 227 h 334"/>
                <a:gd name="T58" fmla="*/ 95 w 589"/>
                <a:gd name="T59" fmla="*/ 162 h 334"/>
                <a:gd name="T60" fmla="*/ 5 w 589"/>
                <a:gd name="T61" fmla="*/ 81 h 334"/>
                <a:gd name="T62" fmla="*/ 9 w 589"/>
                <a:gd name="T63" fmla="*/ 72 h 334"/>
                <a:gd name="T64" fmla="*/ 194 w 589"/>
                <a:gd name="T65" fmla="*/ 51 h 334"/>
                <a:gd name="T66" fmla="*/ 372 w 589"/>
                <a:gd name="T67" fmla="*/ 0 h 334"/>
                <a:gd name="T68" fmla="*/ 378 w 589"/>
                <a:gd name="T69" fmla="*/ 2 h 334"/>
                <a:gd name="T70" fmla="*/ 484 w 589"/>
                <a:gd name="T71" fmla="*/ 84 h 334"/>
                <a:gd name="T72" fmla="*/ 581 w 589"/>
                <a:gd name="T73" fmla="*/ 132 h 334"/>
                <a:gd name="T74" fmla="*/ 581 w 589"/>
                <a:gd name="T75" fmla="*/ 143 h 334"/>
                <a:gd name="T76" fmla="*/ 507 w 589"/>
                <a:gd name="T77" fmla="*/ 167 h 334"/>
                <a:gd name="T78" fmla="*/ 505 w 589"/>
                <a:gd name="T79" fmla="*/ 172 h 334"/>
                <a:gd name="T80" fmla="*/ 521 w 589"/>
                <a:gd name="T81" fmla="*/ 220 h 334"/>
                <a:gd name="T82" fmla="*/ 452 w 589"/>
                <a:gd name="T83" fmla="*/ 197 h 334"/>
                <a:gd name="T84" fmla="*/ 458 w 589"/>
                <a:gd name="T85" fmla="*/ 209 h 334"/>
                <a:gd name="T86" fmla="*/ 456 w 589"/>
                <a:gd name="T87" fmla="*/ 234 h 334"/>
                <a:gd name="T88" fmla="*/ 451 w 589"/>
                <a:gd name="T89" fmla="*/ 258 h 334"/>
                <a:gd name="T90" fmla="*/ 448 w 589"/>
                <a:gd name="T91" fmla="*/ 262 h 334"/>
                <a:gd name="T92" fmla="*/ 355 w 589"/>
                <a:gd name="T93" fmla="*/ 298 h 334"/>
                <a:gd name="T94" fmla="*/ 264 w 589"/>
                <a:gd name="T95" fmla="*/ 321 h 334"/>
                <a:gd name="T96" fmla="*/ 258 w 589"/>
                <a:gd name="T97" fmla="*/ 316 h 334"/>
                <a:gd name="T98" fmla="*/ 255 w 589"/>
                <a:gd name="T99" fmla="*/ 241 h 334"/>
                <a:gd name="T100" fmla="*/ 260 w 589"/>
                <a:gd name="T101" fmla="*/ 235 h 334"/>
                <a:gd name="T102" fmla="*/ 452 w 589"/>
                <a:gd name="T103" fmla="*/ 19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89" h="334">
                  <a:moveTo>
                    <a:pt x="245" y="311"/>
                  </a:moveTo>
                  <a:cubicBezTo>
                    <a:pt x="244" y="289"/>
                    <a:pt x="243" y="266"/>
                    <a:pt x="243" y="244"/>
                  </a:cubicBezTo>
                  <a:cubicBezTo>
                    <a:pt x="242" y="241"/>
                    <a:pt x="239" y="238"/>
                    <a:pt x="236" y="238"/>
                  </a:cubicBezTo>
                  <a:cubicBezTo>
                    <a:pt x="232" y="239"/>
                    <a:pt x="228" y="239"/>
                    <a:pt x="223" y="240"/>
                  </a:cubicBezTo>
                  <a:cubicBezTo>
                    <a:pt x="221" y="240"/>
                    <a:pt x="220" y="240"/>
                    <a:pt x="218" y="239"/>
                  </a:cubicBezTo>
                  <a:cubicBezTo>
                    <a:pt x="194" y="229"/>
                    <a:pt x="173" y="219"/>
                    <a:pt x="156" y="211"/>
                  </a:cubicBezTo>
                  <a:cubicBezTo>
                    <a:pt x="152" y="209"/>
                    <a:pt x="147" y="212"/>
                    <a:pt x="148" y="216"/>
                  </a:cubicBezTo>
                  <a:cubicBezTo>
                    <a:pt x="148" y="228"/>
                    <a:pt x="149" y="241"/>
                    <a:pt x="151" y="252"/>
                  </a:cubicBezTo>
                  <a:cubicBezTo>
                    <a:pt x="152" y="253"/>
                    <a:pt x="152" y="254"/>
                    <a:pt x="153" y="254"/>
                  </a:cubicBezTo>
                  <a:cubicBezTo>
                    <a:pt x="167" y="270"/>
                    <a:pt x="183" y="284"/>
                    <a:pt x="199" y="296"/>
                  </a:cubicBezTo>
                  <a:cubicBezTo>
                    <a:pt x="211" y="304"/>
                    <a:pt x="224" y="311"/>
                    <a:pt x="237" y="317"/>
                  </a:cubicBezTo>
                  <a:cubicBezTo>
                    <a:pt x="241" y="318"/>
                    <a:pt x="245" y="316"/>
                    <a:pt x="245" y="311"/>
                  </a:cubicBezTo>
                  <a:close/>
                  <a:moveTo>
                    <a:pt x="521" y="220"/>
                  </a:moveTo>
                  <a:cubicBezTo>
                    <a:pt x="522" y="222"/>
                    <a:pt x="522" y="222"/>
                    <a:pt x="524" y="223"/>
                  </a:cubicBezTo>
                  <a:cubicBezTo>
                    <a:pt x="530" y="224"/>
                    <a:pt x="534" y="229"/>
                    <a:pt x="534" y="235"/>
                  </a:cubicBezTo>
                  <a:cubicBezTo>
                    <a:pt x="534" y="237"/>
                    <a:pt x="534" y="237"/>
                    <a:pt x="536" y="238"/>
                  </a:cubicBezTo>
                  <a:cubicBezTo>
                    <a:pt x="545" y="241"/>
                    <a:pt x="551" y="249"/>
                    <a:pt x="552" y="262"/>
                  </a:cubicBezTo>
                  <a:cubicBezTo>
                    <a:pt x="553" y="279"/>
                    <a:pt x="539" y="308"/>
                    <a:pt x="527" y="320"/>
                  </a:cubicBezTo>
                  <a:cubicBezTo>
                    <a:pt x="512" y="334"/>
                    <a:pt x="515" y="327"/>
                    <a:pt x="520" y="313"/>
                  </a:cubicBezTo>
                  <a:cubicBezTo>
                    <a:pt x="524" y="300"/>
                    <a:pt x="504" y="290"/>
                    <a:pt x="501" y="268"/>
                  </a:cubicBezTo>
                  <a:cubicBezTo>
                    <a:pt x="500" y="257"/>
                    <a:pt x="501" y="249"/>
                    <a:pt x="506" y="244"/>
                  </a:cubicBezTo>
                  <a:cubicBezTo>
                    <a:pt x="507" y="243"/>
                    <a:pt x="507" y="242"/>
                    <a:pt x="506" y="241"/>
                  </a:cubicBezTo>
                  <a:cubicBezTo>
                    <a:pt x="506" y="239"/>
                    <a:pt x="505" y="237"/>
                    <a:pt x="505" y="235"/>
                  </a:cubicBezTo>
                  <a:cubicBezTo>
                    <a:pt x="505" y="232"/>
                    <a:pt x="507" y="228"/>
                    <a:pt x="510" y="226"/>
                  </a:cubicBezTo>
                  <a:cubicBezTo>
                    <a:pt x="511" y="224"/>
                    <a:pt x="511" y="224"/>
                    <a:pt x="511" y="222"/>
                  </a:cubicBezTo>
                  <a:cubicBezTo>
                    <a:pt x="505" y="202"/>
                    <a:pt x="500" y="187"/>
                    <a:pt x="495" y="174"/>
                  </a:cubicBezTo>
                  <a:cubicBezTo>
                    <a:pt x="495" y="173"/>
                    <a:pt x="493" y="172"/>
                    <a:pt x="491" y="173"/>
                  </a:cubicBezTo>
                  <a:cubicBezTo>
                    <a:pt x="405" y="199"/>
                    <a:pt x="327" y="215"/>
                    <a:pt x="224" y="227"/>
                  </a:cubicBezTo>
                  <a:cubicBezTo>
                    <a:pt x="223" y="227"/>
                    <a:pt x="222" y="227"/>
                    <a:pt x="221" y="227"/>
                  </a:cubicBezTo>
                  <a:cubicBezTo>
                    <a:pt x="162" y="201"/>
                    <a:pt x="127" y="184"/>
                    <a:pt x="95" y="162"/>
                  </a:cubicBezTo>
                  <a:cubicBezTo>
                    <a:pt x="67" y="142"/>
                    <a:pt x="42" y="118"/>
                    <a:pt x="5" y="81"/>
                  </a:cubicBezTo>
                  <a:cubicBezTo>
                    <a:pt x="2" y="78"/>
                    <a:pt x="0" y="72"/>
                    <a:pt x="9" y="72"/>
                  </a:cubicBezTo>
                  <a:cubicBezTo>
                    <a:pt x="86" y="67"/>
                    <a:pt x="142" y="61"/>
                    <a:pt x="194" y="51"/>
                  </a:cubicBezTo>
                  <a:cubicBezTo>
                    <a:pt x="250" y="40"/>
                    <a:pt x="302" y="25"/>
                    <a:pt x="372" y="0"/>
                  </a:cubicBezTo>
                  <a:cubicBezTo>
                    <a:pt x="374" y="0"/>
                    <a:pt x="376" y="0"/>
                    <a:pt x="378" y="2"/>
                  </a:cubicBezTo>
                  <a:cubicBezTo>
                    <a:pt x="416" y="37"/>
                    <a:pt x="449" y="63"/>
                    <a:pt x="484" y="84"/>
                  </a:cubicBezTo>
                  <a:cubicBezTo>
                    <a:pt x="514" y="102"/>
                    <a:pt x="545" y="117"/>
                    <a:pt x="581" y="132"/>
                  </a:cubicBezTo>
                  <a:cubicBezTo>
                    <a:pt x="589" y="135"/>
                    <a:pt x="589" y="140"/>
                    <a:pt x="581" y="143"/>
                  </a:cubicBezTo>
                  <a:cubicBezTo>
                    <a:pt x="555" y="152"/>
                    <a:pt x="531" y="160"/>
                    <a:pt x="507" y="167"/>
                  </a:cubicBezTo>
                  <a:cubicBezTo>
                    <a:pt x="505" y="168"/>
                    <a:pt x="504" y="170"/>
                    <a:pt x="505" y="172"/>
                  </a:cubicBezTo>
                  <a:cubicBezTo>
                    <a:pt x="509" y="184"/>
                    <a:pt x="514" y="199"/>
                    <a:pt x="521" y="220"/>
                  </a:cubicBezTo>
                  <a:close/>
                  <a:moveTo>
                    <a:pt x="452" y="197"/>
                  </a:moveTo>
                  <a:cubicBezTo>
                    <a:pt x="460" y="195"/>
                    <a:pt x="459" y="205"/>
                    <a:pt x="458" y="209"/>
                  </a:cubicBezTo>
                  <a:cubicBezTo>
                    <a:pt x="457" y="218"/>
                    <a:pt x="457" y="226"/>
                    <a:pt x="456" y="234"/>
                  </a:cubicBezTo>
                  <a:cubicBezTo>
                    <a:pt x="454" y="242"/>
                    <a:pt x="453" y="250"/>
                    <a:pt x="451" y="258"/>
                  </a:cubicBezTo>
                  <a:cubicBezTo>
                    <a:pt x="451" y="260"/>
                    <a:pt x="450" y="261"/>
                    <a:pt x="448" y="262"/>
                  </a:cubicBezTo>
                  <a:cubicBezTo>
                    <a:pt x="418" y="276"/>
                    <a:pt x="387" y="288"/>
                    <a:pt x="355" y="298"/>
                  </a:cubicBezTo>
                  <a:cubicBezTo>
                    <a:pt x="326" y="307"/>
                    <a:pt x="295" y="315"/>
                    <a:pt x="264" y="321"/>
                  </a:cubicBezTo>
                  <a:cubicBezTo>
                    <a:pt x="261" y="321"/>
                    <a:pt x="258" y="319"/>
                    <a:pt x="258" y="316"/>
                  </a:cubicBezTo>
                  <a:cubicBezTo>
                    <a:pt x="257" y="291"/>
                    <a:pt x="256" y="266"/>
                    <a:pt x="255" y="241"/>
                  </a:cubicBezTo>
                  <a:cubicBezTo>
                    <a:pt x="255" y="238"/>
                    <a:pt x="257" y="236"/>
                    <a:pt x="260" y="235"/>
                  </a:cubicBezTo>
                  <a:cubicBezTo>
                    <a:pt x="325" y="227"/>
                    <a:pt x="389" y="214"/>
                    <a:pt x="452" y="197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8078" y="1403"/>
              <a:ext cx="2610" cy="2610"/>
            </a:xfrm>
            <a:prstGeom prst="ellipse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八边形 8"/>
          <p:cNvSpPr/>
          <p:nvPr/>
        </p:nvSpPr>
        <p:spPr>
          <a:xfrm>
            <a:off x="5604510" y="4949825"/>
            <a:ext cx="1643380" cy="445770"/>
          </a:xfrm>
          <a:prstGeom prst="octagon">
            <a:avLst>
              <a:gd name="adj" fmla="val 2753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556250" y="4973320"/>
            <a:ext cx="1625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en-US" altLang="zh-CN" sz="20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  <a:sym typeface="+mn-ea"/>
              </a:rPr>
              <a:t> PART 01</a:t>
            </a:r>
            <a:endParaRPr lang="en-US" altLang="zh-CN" sz="2000" b="1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  <a:sym typeface="+mn-ea"/>
            </a:endParaRPr>
          </a:p>
        </p:txBody>
      </p:sp>
      <p:grpSp>
        <p:nvGrpSpPr>
          <p:cNvPr id="58" name="组合 57"/>
          <p:cNvGrpSpPr/>
          <p:nvPr/>
        </p:nvGrpSpPr>
        <p:grpSpPr>
          <a:xfrm rot="16200000">
            <a:off x="-845185" y="1463675"/>
            <a:ext cx="3479800" cy="1250950"/>
            <a:chOff x="169" y="209"/>
            <a:chExt cx="5480" cy="1970"/>
          </a:xfrm>
        </p:grpSpPr>
        <p:grpSp>
          <p:nvGrpSpPr>
            <p:cNvPr id="2" name="组合 1"/>
            <p:cNvGrpSpPr/>
            <p:nvPr/>
          </p:nvGrpSpPr>
          <p:grpSpPr>
            <a:xfrm flipH="1">
              <a:off x="169" y="209"/>
              <a:ext cx="5481" cy="1970"/>
              <a:chOff x="13719" y="55"/>
              <a:chExt cx="5481" cy="1970"/>
            </a:xfrm>
          </p:grpSpPr>
          <p:grpSp>
            <p:nvGrpSpPr>
              <p:cNvPr id="10" name="Group 4"/>
              <p:cNvGrpSpPr/>
              <p:nvPr userDrawn="1"/>
            </p:nvGrpSpPr>
            <p:grpSpPr>
              <a:xfrm rot="10800000">
                <a:off x="14586" y="777"/>
                <a:ext cx="4614" cy="1248"/>
                <a:chOff x="6492014" y="1638308"/>
                <a:chExt cx="938947" cy="25399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17" name="Diamond 5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18" name="Diamond 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" name="Diamond 7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grpSp>
            <p:nvGrpSpPr>
              <p:cNvPr id="11" name="Group 12"/>
              <p:cNvGrpSpPr/>
              <p:nvPr userDrawn="1"/>
            </p:nvGrpSpPr>
            <p:grpSpPr>
              <a:xfrm rot="10800000">
                <a:off x="13719" y="55"/>
                <a:ext cx="4614" cy="1248"/>
                <a:chOff x="6492014" y="1638308"/>
                <a:chExt cx="938947" cy="253992"/>
              </a:xfrm>
              <a:solidFill>
                <a:srgbClr val="C00000"/>
              </a:solidFill>
            </p:grpSpPr>
            <p:sp>
              <p:nvSpPr>
                <p:cNvPr id="15" name="Diamond 1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16" name="Diamond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1" name="Diamond 1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4" name="椭圆 53"/>
            <p:cNvSpPr/>
            <p:nvPr/>
          </p:nvSpPr>
          <p:spPr>
            <a:xfrm>
              <a:off x="583" y="1346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3116" y="624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 rot="5400000" flipH="1">
            <a:off x="95250" y="4151630"/>
            <a:ext cx="3479800" cy="1250950"/>
            <a:chOff x="169" y="209"/>
            <a:chExt cx="5480" cy="1970"/>
          </a:xfrm>
        </p:grpSpPr>
        <p:grpSp>
          <p:nvGrpSpPr>
            <p:cNvPr id="23" name="组合 22"/>
            <p:cNvGrpSpPr/>
            <p:nvPr/>
          </p:nvGrpSpPr>
          <p:grpSpPr>
            <a:xfrm flipH="1">
              <a:off x="169" y="209"/>
              <a:ext cx="5481" cy="1970"/>
              <a:chOff x="13719" y="55"/>
              <a:chExt cx="5481" cy="1970"/>
            </a:xfrm>
          </p:grpSpPr>
          <p:grpSp>
            <p:nvGrpSpPr>
              <p:cNvPr id="24" name="Group 4"/>
              <p:cNvGrpSpPr/>
              <p:nvPr userDrawn="1"/>
            </p:nvGrpSpPr>
            <p:grpSpPr>
              <a:xfrm rot="10800000">
                <a:off x="14586" y="777"/>
                <a:ext cx="4614" cy="1248"/>
                <a:chOff x="6492014" y="1638308"/>
                <a:chExt cx="938947" cy="25399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25" name="Diamond 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6" name="Diamond 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7" name="Diamond 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grpSp>
            <p:nvGrpSpPr>
              <p:cNvPr id="28" name="Group 12"/>
              <p:cNvGrpSpPr/>
              <p:nvPr userDrawn="1"/>
            </p:nvGrpSpPr>
            <p:grpSpPr>
              <a:xfrm rot="10800000">
                <a:off x="13719" y="55"/>
                <a:ext cx="4614" cy="1248"/>
                <a:chOff x="6492014" y="1638308"/>
                <a:chExt cx="938947" cy="253992"/>
              </a:xfrm>
              <a:solidFill>
                <a:srgbClr val="C00000"/>
              </a:solidFill>
            </p:grpSpPr>
            <p:sp>
              <p:nvSpPr>
                <p:cNvPr id="30" name="Diamond 13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1" name="Diamond 14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2" name="Diamond 15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3" name="椭圆 32"/>
            <p:cNvSpPr/>
            <p:nvPr/>
          </p:nvSpPr>
          <p:spPr>
            <a:xfrm>
              <a:off x="583" y="1346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3116" y="624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等腰三角形 47"/>
          <p:cNvSpPr/>
          <p:nvPr/>
        </p:nvSpPr>
        <p:spPr>
          <a:xfrm rot="16200000">
            <a:off x="11189970" y="3176270"/>
            <a:ext cx="1499235" cy="50482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/>
          <p:nvPr/>
        </p:nvCxnSpPr>
        <p:spPr>
          <a:xfrm flipH="1" flipV="1">
            <a:off x="293370" y="3190240"/>
            <a:ext cx="594360" cy="6388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 flipV="1">
            <a:off x="2197100" y="5085715"/>
            <a:ext cx="605155" cy="59880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925830" y="425450"/>
            <a:ext cx="594360" cy="6388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14:prism isContent="1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ldLvl="0" animBg="1"/>
      <p:bldP spid="49" grpId="1" animBg="1"/>
      <p:bldP spid="34" grpId="0"/>
      <p:bldP spid="34" grpId="1"/>
      <p:bldP spid="8" grpId="0"/>
      <p:bldP spid="8" grpId="1"/>
      <p:bldP spid="9" grpId="0" bldLvl="0" animBg="1"/>
      <p:bldP spid="9" grpId="1" animBg="1"/>
      <p:bldP spid="29" grpId="0"/>
      <p:bldP spid="29" grpId="1"/>
      <p:bldP spid="48" grpId="0" bldLvl="0" animBg="1"/>
      <p:bldP spid="4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2_三轴加速度每小时均值"/>
          <p:cNvPicPr>
            <a:picLocks noChangeAspect="1"/>
          </p:cNvPicPr>
          <p:nvPr/>
        </p:nvPicPr>
        <p:blipFill>
          <a:blip r:embed="rId1"/>
          <a:srcRect t="6046"/>
          <a:stretch>
            <a:fillRect/>
          </a:stretch>
        </p:blipFill>
        <p:spPr>
          <a:xfrm>
            <a:off x="4050030" y="3244850"/>
            <a:ext cx="7459345" cy="345376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435" y="868680"/>
            <a:ext cx="316103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原始数据是什么？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35595" y="2136775"/>
            <a:ext cx="5731510" cy="274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随时间变化的三条运动曲线</a:t>
            </a:r>
            <a:endParaRPr lang="en-US" sz="2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01065" y="3663315"/>
            <a:ext cx="3000375" cy="2468880"/>
            <a:chOff x="12916" y="3168"/>
            <a:chExt cx="4725" cy="3888"/>
          </a:xfrm>
        </p:grpSpPr>
        <p:sp>
          <p:nvSpPr>
            <p:cNvPr id="20" name="Shape 8"/>
            <p:cNvSpPr/>
            <p:nvPr/>
          </p:nvSpPr>
          <p:spPr>
            <a:xfrm>
              <a:off x="12916" y="3168"/>
              <a:ext cx="4464" cy="3888"/>
            </a:xfrm>
            <a:prstGeom prst="roundRect">
              <a:avLst>
                <a:gd name="adj" fmla="val 2963"/>
              </a:avLst>
            </a:prstGeom>
            <a:solidFill>
              <a:srgbClr val="FFF7E8"/>
            </a:solidFill>
            <a:ln w="12700">
              <a:solidFill>
                <a:srgbClr val="F6D7A6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13694" y="3421"/>
              <a:ext cx="3946" cy="46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28C2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三轴加速度</a:t>
              </a:r>
              <a:endParaRPr lang="en-US" sz="20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3695" y="3882"/>
              <a:ext cx="3946" cy="2909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acc_x：前后方向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acc_y：左右方向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acc_z：上下方向</a:t>
              </a:r>
              <a:endParaRPr lang="en-US" sz="1600" dirty="0"/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每个时间点有3个数字</a:t>
              </a:r>
              <a:endPara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10" name="Shape 8"/>
          <p:cNvSpPr/>
          <p:nvPr/>
        </p:nvSpPr>
        <p:spPr>
          <a:xfrm>
            <a:off x="12281853" y="1194435"/>
            <a:ext cx="2834640" cy="2468880"/>
          </a:xfrm>
          <a:prstGeom prst="roundRect">
            <a:avLst>
              <a:gd name="adj" fmla="val 2963"/>
            </a:avLst>
          </a:prstGeom>
          <a:solidFill>
            <a:srgbClr val="FFF7E8"/>
          </a:solidFill>
          <a:ln w="12700">
            <a:solidFill>
              <a:srgbClr val="F6D7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46445" y="1331595"/>
            <a:ext cx="250545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采样率 25 Hz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46445" y="1724787"/>
            <a:ext cx="2505456" cy="18470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每秒记录25次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2秒 = 50个采样点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一个窗口就是模型看到的“小片段”</a:t>
            </a:r>
            <a:endParaRPr lang="en-US" sz="13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7445" y="2011680"/>
            <a:ext cx="1776730" cy="3395345"/>
          </a:xfrm>
          <a:prstGeom prst="rect">
            <a:avLst/>
          </a:prstGeom>
        </p:spPr>
      </p:pic>
      <p:graphicFrame>
        <p:nvGraphicFramePr>
          <p:cNvPr id="19" name="表格 18"/>
          <p:cNvGraphicFramePr/>
          <p:nvPr/>
        </p:nvGraphicFramePr>
        <p:xfrm>
          <a:off x="1130935" y="1427480"/>
          <a:ext cx="6518275" cy="173228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1870710"/>
                <a:gridCol w="994410"/>
                <a:gridCol w="1149350"/>
                <a:gridCol w="1009015"/>
                <a:gridCol w="1494790"/>
              </a:tblGrid>
              <a:tr h="433070"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timestamp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acc_x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acc_y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acc_z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label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</a:tr>
              <a:tr h="433070"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2018-09-08T21:41:04.560Z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0.175781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0.067383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1.270508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stationary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</a:tr>
              <a:tr h="433070"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2018-09-08T21:41:04.600Z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0.084473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0.054199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1.226074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stationary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</a:tr>
              <a:tr h="433070"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2018-09-08T21:41:04.640Z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0.041016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0.04248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1.17627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/>
                        <a:t>stationary</a:t>
                      </a:r>
                      <a:endParaRPr lang="en-US" altLang="zh-CN" sz="1400"/>
                    </a:p>
                  </a:txBody>
                  <a:tcPr marL="6667" marR="6667" marT="6667" marB="0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我们想</a:t>
            </a:r>
            <a:r>
              <a:rPr 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要做什么？</a:t>
            </a:r>
            <a:endParaRPr 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00698" y="3562985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665289" y="3700145"/>
            <a:ext cx="296265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Stationary</a:t>
            </a:r>
            <a:endParaRPr lang="en-US" sz="155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65289" y="4093337"/>
            <a:ext cx="2962656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静止</a:t>
            </a:r>
            <a:endParaRPr lang="en-US" sz="1500" dirty="0"/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4249738" y="3562985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EAF3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4414330" y="3700145"/>
            <a:ext cx="296265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Bathing</a:t>
            </a:r>
            <a:endParaRPr lang="en-US" sz="155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414330" y="4093337"/>
            <a:ext cx="2962656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洗浴/理羽</a:t>
            </a:r>
            <a:endParaRPr lang="en-US" sz="1500" dirty="0"/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7998778" y="3562985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8163370" y="3700145"/>
            <a:ext cx="296265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Take-off</a:t>
            </a:r>
            <a:endParaRPr lang="en-US" sz="155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8163370" y="4093337"/>
            <a:ext cx="2962656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起飞</a:t>
            </a:r>
            <a:endParaRPr lang="en-US" sz="1500" dirty="0"/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500698" y="4980305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EAF3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665289" y="5117465"/>
            <a:ext cx="296265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Cruising Flight</a:t>
            </a:r>
            <a:endParaRPr lang="en-US" sz="155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665289" y="5510657"/>
            <a:ext cx="2962656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巡航飞行</a:t>
            </a:r>
            <a:endParaRPr lang="en-US" sz="1500" dirty="0"/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4249738" y="4980305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4414330" y="5117465"/>
            <a:ext cx="296265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Foraging Dive</a:t>
            </a:r>
            <a:endParaRPr lang="en-US" sz="1550" dirty="0"/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4414330" y="5510657"/>
            <a:ext cx="2962656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觅食潜水</a:t>
            </a:r>
            <a:endParaRPr lang="en-US" sz="1500" dirty="0"/>
          </a:p>
        </p:txBody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7998778" y="4980305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EAF3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8163370" y="5117465"/>
            <a:ext cx="296265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Dipping</a:t>
            </a:r>
            <a:endParaRPr lang="en-US" sz="1550" dirty="0"/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8163370" y="5510657"/>
            <a:ext cx="2962656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点水/俯冲</a:t>
            </a:r>
            <a:endParaRPr lang="en-US" sz="1500" dirty="0"/>
          </a:p>
        </p:txBody>
      </p:sp>
      <p:sp>
        <p:nvSpPr>
          <p:cNvPr id="28" name="Text 13"/>
          <p:cNvSpPr/>
          <p:nvPr/>
        </p:nvSpPr>
        <p:spPr>
          <a:xfrm>
            <a:off x="1697355" y="1120775"/>
            <a:ext cx="8688070" cy="18472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输入：2秒三轴加速度</a:t>
            </a:r>
            <a:r>
              <a:rPr lang="zh-CN" alt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输出：这2秒里海鸟的行为类别</a:t>
            </a:r>
            <a:r>
              <a:rPr lang="zh-CN" alt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（即上一页中的</a:t>
            </a:r>
            <a:r>
              <a:rPr lang="en-US" altLang="zh-CN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label</a:t>
            </a:r>
            <a:r>
              <a:rPr lang="zh-CN" alt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，也就是我们后文所说的</a:t>
            </a:r>
            <a:r>
              <a:rPr lang="zh-CN" alt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标签）</a:t>
            </a:r>
            <a:endParaRPr lang="zh-CN" altLang="en-US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4466273" y="1325880"/>
            <a:ext cx="8229600" cy="3200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一段连续波动的曲线  →  “巡航飞行”</a:t>
            </a:r>
            <a:endParaRPr 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5003" y="284226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我们将海鸟的行为划分为以下六个类别</a:t>
            </a:r>
            <a:endParaRPr lang="zh-CN" altLang="en-US" sz="2000" b="1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25" name="图片 24" descr="海鸥栖息在桥上position_newest_0_resourcebtn&amp;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028190" y="3346450"/>
            <a:ext cx="1893570" cy="1420495"/>
          </a:xfrm>
          <a:prstGeom prst="rect">
            <a:avLst/>
          </a:prstGeom>
        </p:spPr>
      </p:pic>
      <p:pic>
        <p:nvPicPr>
          <p:cNvPr id="27" name="图片 26" descr="c264f1a82ed32aa4f604a4c23d76092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2203450" y="4888865"/>
            <a:ext cx="1572260" cy="1609725"/>
          </a:xfrm>
          <a:prstGeom prst="rect">
            <a:avLst/>
          </a:prstGeom>
        </p:spPr>
      </p:pic>
      <p:pic>
        <p:nvPicPr>
          <p:cNvPr id="30" name="图片 29" descr="Sea Eagle catching a fishposition_newest_0_resourcebtn&amp;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9187180" y="4888865"/>
            <a:ext cx="2103755" cy="1397000"/>
          </a:xfrm>
          <a:prstGeom prst="rect">
            <a:avLst/>
          </a:prstGeom>
        </p:spPr>
      </p:pic>
      <p:pic>
        <p:nvPicPr>
          <p:cNvPr id="31" name="图片 30" descr="成年蓝脚鲣鸟(苏拉nebouxii)在厄瓜多尔加拉帕戈斯群岛的海里游泳。position_newest_0_resourcebtn&amp;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5486400" y="3357880"/>
            <a:ext cx="2055495" cy="1370330"/>
          </a:xfrm>
          <a:prstGeom prst="rect">
            <a:avLst/>
          </a:prstGeom>
        </p:spPr>
      </p:pic>
      <p:pic>
        <p:nvPicPr>
          <p:cNvPr id="33" name="图片 32" descr="Campbell albatrossposition_newest_0_resourcebtn&amp;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9205595" y="3313430"/>
            <a:ext cx="2117090" cy="1411605"/>
          </a:xfrm>
          <a:prstGeom prst="rect">
            <a:avLst/>
          </a:prstGeom>
        </p:spPr>
      </p:pic>
      <p:pic>
        <p:nvPicPr>
          <p:cNvPr id="34" name="图片 33" descr="Cattle egretposition_newest_0_resourcebtn&amp;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5824220" y="4888865"/>
            <a:ext cx="1717675" cy="126936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10855960" y="6449695"/>
            <a:ext cx="11747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*</a:t>
            </a:r>
            <a:r>
              <a:rPr lang="zh-CN" altLang="en-US" sz="1200"/>
              <a:t>图来源于网络</a:t>
            </a:r>
            <a:endParaRPr lang="zh-CN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5"/>
          <p:cNvSpPr/>
          <p:nvPr>
            <p:custDataLst>
              <p:tags r:id="rId1"/>
            </p:custDataLst>
          </p:nvPr>
        </p:nvSpPr>
        <p:spPr>
          <a:xfrm>
            <a:off x="1287780" y="3472815"/>
            <a:ext cx="1837690" cy="804545"/>
          </a:xfrm>
          <a:prstGeom prst="roundRect">
            <a:avLst>
              <a:gd name="adj" fmla="val 9091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数据规模与行为识别任务</a:t>
            </a:r>
            <a:endParaRPr lang="en-US" sz="2800" dirty="0"/>
          </a:p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823278" y="1828800"/>
            <a:ext cx="2194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823278" y="1993392"/>
            <a:ext cx="21945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33</a:t>
            </a:r>
            <a:endParaRPr lang="en-US" sz="28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868998" y="2606040"/>
            <a:ext cx="210312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个体文件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3337878" y="1828800"/>
            <a:ext cx="2194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337878" y="1993392"/>
            <a:ext cx="21945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≈3940万</a:t>
            </a:r>
            <a:endParaRPr lang="en-US" sz="28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3383598" y="2606040"/>
            <a:ext cx="210312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原始采样记录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5852478" y="1828800"/>
            <a:ext cx="2194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5852478" y="1993392"/>
            <a:ext cx="21945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28</a:t>
            </a:r>
            <a:endParaRPr lang="en-US" sz="28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5898198" y="2606040"/>
            <a:ext cx="210312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有行为标签的个体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8367078" y="1828800"/>
            <a:ext cx="2194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8367078" y="1993392"/>
            <a:ext cx="21945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42,526</a:t>
            </a:r>
            <a:endParaRPr lang="en-US" sz="2800" dirty="0"/>
          </a:p>
        </p:txBody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8412798" y="2606040"/>
            <a:ext cx="210312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最终有标签窗口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06475" y="4776470"/>
            <a:ext cx="9509760" cy="1143000"/>
            <a:chOff x="1801" y="6336"/>
            <a:chExt cx="14976" cy="1800"/>
          </a:xfrm>
        </p:grpSpPr>
        <p:sp>
          <p:nvSpPr>
            <p:cNvPr id="19" name="Shape 17"/>
            <p:cNvSpPr/>
            <p:nvPr/>
          </p:nvSpPr>
          <p:spPr>
            <a:xfrm>
              <a:off x="1801" y="6336"/>
              <a:ext cx="14976" cy="1800"/>
            </a:xfrm>
            <a:prstGeom prst="roundRect">
              <a:avLst>
                <a:gd name="adj" fmla="val 6400"/>
              </a:avLst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2103" y="6826"/>
              <a:ext cx="14458" cy="82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Autofit/>
            </a:bodyPr>
            <a:lstStyle/>
            <a:p>
              <a:pPr indent="457200" fontAlgn="auto">
                <a:buNone/>
              </a:pPr>
              <a:r>
                <a:rPr lang="en-US" sz="24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每个有标签窗口 ≈ 一个训练样本</a:t>
              </a:r>
              <a:r>
                <a:rPr lang="zh-CN" altLang="en-US" sz="24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数据</a:t>
              </a:r>
              <a:r>
                <a:rPr lang="en-US" sz="24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。</a:t>
              </a:r>
              <a:endParaRPr lang="en-US" sz="24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  <a:p>
              <a:pPr indent="457200" fontAlgn="auto">
                <a:buNone/>
              </a:pPr>
              <a:r>
                <a:rPr lang="zh-CN" altLang="en-US" sz="24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我们对数据进行初步清理</a:t>
              </a:r>
              <a:r>
                <a:rPr lang="zh-CN" altLang="en-US" sz="24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之后，先查看数据都有哪些特点，再在</a:t>
              </a:r>
              <a:r>
                <a:rPr lang="zh-CN" altLang="en-US" sz="24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后续进行对应处理</a:t>
              </a:r>
              <a:r>
                <a:rPr lang="en-US" sz="24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。</a:t>
              </a:r>
              <a:endParaRPr lang="en-US" sz="24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29" name="Text 14"/>
          <p:cNvSpPr/>
          <p:nvPr/>
        </p:nvSpPr>
        <p:spPr>
          <a:xfrm>
            <a:off x="4466273" y="1325880"/>
            <a:ext cx="8229600" cy="3200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这么多数据，我们该从哪里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入手？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Text 6"/>
          <p:cNvSpPr/>
          <p:nvPr>
            <p:custDataLst>
              <p:tags r:id="rId14"/>
            </p:custDataLst>
          </p:nvPr>
        </p:nvSpPr>
        <p:spPr>
          <a:xfrm>
            <a:off x="1544955" y="3520440"/>
            <a:ext cx="1267460" cy="29273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 CSV</a:t>
            </a:r>
            <a:endParaRPr 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0" name="Text 7"/>
          <p:cNvSpPr/>
          <p:nvPr>
            <p:custDataLst>
              <p:tags r:id="rId15"/>
            </p:custDataLst>
          </p:nvPr>
        </p:nvSpPr>
        <p:spPr>
          <a:xfrm>
            <a:off x="1483360" y="3698240"/>
            <a:ext cx="1984375" cy="69469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连续记录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时间戳 + 三轴加速度</a:t>
            </a:r>
            <a:endParaRPr lang="en-US" sz="12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3" name="Shape 9"/>
          <p:cNvSpPr/>
          <p:nvPr>
            <p:custDataLst>
              <p:tags r:id="rId16"/>
            </p:custDataLst>
          </p:nvPr>
        </p:nvSpPr>
        <p:spPr>
          <a:xfrm>
            <a:off x="3384550" y="3472815"/>
            <a:ext cx="1915160" cy="804545"/>
          </a:xfrm>
          <a:prstGeom prst="roundRect">
            <a:avLst>
              <a:gd name="adj" fmla="val 9091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4" name="Text 10"/>
          <p:cNvSpPr/>
          <p:nvPr>
            <p:custDataLst>
              <p:tags r:id="rId17"/>
            </p:custDataLst>
          </p:nvPr>
        </p:nvSpPr>
        <p:spPr>
          <a:xfrm>
            <a:off x="3640455" y="3520440"/>
            <a:ext cx="1446530" cy="29273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清洗和重采样</a:t>
            </a:r>
            <a:endParaRPr 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5" name="Text 11"/>
          <p:cNvSpPr/>
          <p:nvPr>
            <p:custDataLst>
              <p:tags r:id="rId18"/>
            </p:custDataLst>
          </p:nvPr>
        </p:nvSpPr>
        <p:spPr>
          <a:xfrm>
            <a:off x="3617595" y="3851275"/>
            <a:ext cx="1905000" cy="43053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校正时间、处理缺口</a:t>
            </a:r>
            <a:endParaRPr lang="en-US" sz="12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裁剪异常值</a:t>
            </a:r>
            <a:endParaRPr lang="en-US" sz="12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6" name="Shape 13"/>
          <p:cNvSpPr/>
          <p:nvPr>
            <p:custDataLst>
              <p:tags r:id="rId19"/>
            </p:custDataLst>
          </p:nvPr>
        </p:nvSpPr>
        <p:spPr>
          <a:xfrm>
            <a:off x="5713095" y="3472815"/>
            <a:ext cx="1903095" cy="804545"/>
          </a:xfrm>
          <a:prstGeom prst="roundRect">
            <a:avLst>
              <a:gd name="adj" fmla="val 9091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7" name="Text 14"/>
          <p:cNvSpPr/>
          <p:nvPr>
            <p:custDataLst>
              <p:tags r:id="rId20"/>
            </p:custDataLst>
          </p:nvPr>
        </p:nvSpPr>
        <p:spPr>
          <a:xfrm>
            <a:off x="6016625" y="3520440"/>
            <a:ext cx="1236980" cy="29273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切成2秒窗口</a:t>
            </a:r>
            <a:endParaRPr 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8" name="Text 15"/>
          <p:cNvSpPr/>
          <p:nvPr>
            <p:custDataLst>
              <p:tags r:id="rId21"/>
            </p:custDataLst>
          </p:nvPr>
        </p:nvSpPr>
        <p:spPr>
          <a:xfrm>
            <a:off x="6022340" y="3851275"/>
            <a:ext cx="1306830" cy="3200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50个采样点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相邻窗口重叠50%</a:t>
            </a:r>
            <a:endParaRPr lang="en-US" sz="12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52" name="组合 51"/>
          <p:cNvGrpSpPr/>
          <p:nvPr>
            <p:custDataLst>
              <p:tags r:id="rId22"/>
            </p:custDataLst>
          </p:nvPr>
        </p:nvGrpSpPr>
        <p:grpSpPr>
          <a:xfrm>
            <a:off x="8183245" y="3472815"/>
            <a:ext cx="2332355" cy="803910"/>
            <a:chOff x="11751" y="5616"/>
            <a:chExt cx="3673" cy="1266"/>
          </a:xfrm>
        </p:grpSpPr>
        <p:sp>
          <p:nvSpPr>
            <p:cNvPr id="49" name="Shape 17"/>
            <p:cNvSpPr/>
            <p:nvPr>
              <p:custDataLst>
                <p:tags r:id="rId23"/>
              </p:custDataLst>
            </p:nvPr>
          </p:nvSpPr>
          <p:spPr>
            <a:xfrm>
              <a:off x="11751" y="5616"/>
              <a:ext cx="2881" cy="1267"/>
            </a:xfrm>
            <a:prstGeom prst="roundRect">
              <a:avLst>
                <a:gd name="adj" fmla="val 9091"/>
              </a:avLst>
            </a:prstGeom>
            <a:solidFill>
              <a:srgbClr val="EAF3FB"/>
            </a:solidFill>
            <a:ln w="12700">
              <a:solidFill>
                <a:srgbClr val="EAF3FB"/>
              </a:solidFill>
              <a:prstDash val="solid"/>
            </a:ln>
          </p:spPr>
        </p:sp>
        <p:sp>
          <p:nvSpPr>
            <p:cNvPr id="50" name="Text 18"/>
            <p:cNvSpPr/>
            <p:nvPr>
              <p:custDataLst>
                <p:tags r:id="rId24"/>
              </p:custDataLst>
            </p:nvPr>
          </p:nvSpPr>
          <p:spPr>
            <a:xfrm>
              <a:off x="12010" y="5691"/>
              <a:ext cx="2645" cy="46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保存为模型输入</a:t>
              </a:r>
              <a:endPara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51" name="Text 19"/>
            <p:cNvSpPr/>
            <p:nvPr>
              <p:custDataLst>
                <p:tags r:id="rId25"/>
              </p:custDataLst>
            </p:nvPr>
          </p:nvSpPr>
          <p:spPr>
            <a:xfrm>
              <a:off x="12010" y="6091"/>
              <a:ext cx="3415" cy="759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深度学习用NPZ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传统模型用特征CSV</a:t>
              </a:r>
              <a:endParaRPr lang="en-US" sz="12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1752" y="256032"/>
            <a:ext cx="201168" cy="20116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21792"/>
            <a:ext cx="10515600" cy="109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007" y="1789430"/>
            <a:ext cx="283464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C00000"/>
                </a:solidFill>
                <a:latin typeface="微软雅黑" panose="020B0503020204020204" pitchFamily="34" charset="-122"/>
              </a:rPr>
              <a:t>≈ 3,940 万</a:t>
            </a:r>
            <a:endParaRPr sz="3400"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2007" y="2411222"/>
            <a:ext cx="2834640" cy="3448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>
                <a:solidFill>
                  <a:srgbClr val="666666"/>
                </a:solidFill>
                <a:latin typeface="微软雅黑" panose="020B0503020204020204" pitchFamily="34" charset="-122"/>
              </a:rPr>
              <a:t>原始采样记录</a:t>
            </a:r>
            <a:endParaRPr b="0">
              <a:solidFill>
                <a:srgbClr val="6666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24935" y="1926590"/>
            <a:ext cx="5486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666666"/>
                </a:solidFill>
                <a:latin typeface="微软雅黑" panose="020B0503020204020204" pitchFamily="34" charset="-122"/>
              </a:rPr>
              <a:t>→</a:t>
            </a:r>
            <a:endParaRPr sz="3000" b="1">
              <a:solidFill>
                <a:srgbClr val="6666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67935" y="1789430"/>
            <a:ext cx="205740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28C28"/>
                </a:solidFill>
                <a:latin typeface="微软雅黑" panose="020B0503020204020204" pitchFamily="34" charset="-122"/>
              </a:rPr>
              <a:t>42,526</a:t>
            </a:r>
            <a:endParaRPr sz="3400" b="1">
              <a:solidFill>
                <a:srgbClr val="F28C2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67935" y="2411222"/>
            <a:ext cx="2057400" cy="3448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buClrTx/>
              <a:buSzTx/>
              <a:buFontTx/>
            </a:pPr>
            <a:r>
              <a:rPr b="0">
                <a:solidFill>
                  <a:srgbClr val="666666"/>
                </a:solidFill>
                <a:latin typeface="微软雅黑" panose="020B0503020204020204" pitchFamily="34" charset="-122"/>
              </a:rPr>
              <a:t>最终有标签窗口</a:t>
            </a:r>
            <a:endParaRPr b="0">
              <a:solidFill>
                <a:srgbClr val="6666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0635" y="1926590"/>
            <a:ext cx="5486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666666"/>
                </a:solidFill>
                <a:latin typeface="微软雅黑" panose="020B0503020204020204" pitchFamily="34" charset="-122"/>
              </a:rPr>
              <a:t>→</a:t>
            </a:r>
            <a:endParaRPr sz="3000" b="1">
              <a:solidFill>
                <a:srgbClr val="6666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62595" y="1789430"/>
            <a:ext cx="3211195" cy="55499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100" b="1">
                <a:solidFill>
                  <a:srgbClr val="2B75B8"/>
                </a:solidFill>
                <a:latin typeface="微软雅黑" panose="020B0503020204020204" pitchFamily="34" charset="-122"/>
              </a:rPr>
              <a:t>2 条建模路线</a:t>
            </a:r>
            <a:endParaRPr sz="31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79790" y="2383917"/>
            <a:ext cx="2377440" cy="3448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buClrTx/>
              <a:buSzTx/>
              <a:buFontTx/>
            </a:pPr>
            <a:r>
              <a:rPr b="0">
                <a:solidFill>
                  <a:srgbClr val="666666"/>
                </a:solidFill>
                <a:latin typeface="微软雅黑" panose="020B0503020204020204" pitchFamily="34" charset="-122"/>
              </a:rPr>
              <a:t>XGBoost / DCL-SA</a:t>
            </a:r>
            <a:endParaRPr b="0">
              <a:solidFill>
                <a:srgbClr val="6666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246120"/>
            <a:ext cx="3246120" cy="2057400"/>
          </a:xfrm>
          <a:prstGeom prst="roundRect">
            <a:avLst/>
          </a:prstGeom>
          <a:solidFill>
            <a:srgbClr val="FCEE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392424"/>
            <a:ext cx="2971800" cy="44132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C00000"/>
                </a:solidFill>
                <a:latin typeface="微软雅黑" panose="020B0503020204020204" pitchFamily="34" charset="-122"/>
              </a:rPr>
              <a:t>① 量大 Volume</a:t>
            </a:r>
            <a:endParaRPr sz="2400"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7552" y="3906012"/>
            <a:ext cx="2953512" cy="9505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indent="457200" algn="l" fontAlgn="auto">
              <a:lnSpc>
                <a:spcPct val="108000"/>
              </a:lnSpc>
            </a:pPr>
            <a:r>
              <a:rPr b="0">
                <a:solidFill>
                  <a:srgbClr val="1F1F1F"/>
                </a:solidFill>
                <a:latin typeface="微软雅黑" panose="020B0503020204020204" pitchFamily="34" charset="-122"/>
              </a:rPr>
              <a:t>数千万条原始记录，不能靠人工逐条观察；需要程序化清洗、切窗和存储。</a:t>
            </a:r>
            <a:endParaRPr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480560" y="3246120"/>
            <a:ext cx="3246120" cy="2057400"/>
          </a:xfrm>
          <a:prstGeom prst="roundRect">
            <a:avLst/>
          </a:prstGeom>
          <a:solidFill>
            <a:srgbClr val="FFF5E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392424"/>
            <a:ext cx="2971800" cy="44132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28C28"/>
                </a:solidFill>
                <a:latin typeface="微软雅黑" panose="020B0503020204020204" pitchFamily="34" charset="-122"/>
              </a:rPr>
              <a:t>② 连续 Velocity</a:t>
            </a:r>
            <a:endParaRPr sz="2400" b="1">
              <a:solidFill>
                <a:srgbClr val="F28C2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45152" y="3936492"/>
            <a:ext cx="2953512" cy="9505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indent="457200" algn="l">
              <a:lnSpc>
                <a:spcPct val="108000"/>
              </a:lnSpc>
              <a:buClrTx/>
              <a:buSzTx/>
              <a:buFontTx/>
            </a:pPr>
            <a:r>
              <a:rPr sz="1800" b="0">
                <a:solidFill>
                  <a:srgbClr val="1F1F1F"/>
                </a:solidFill>
                <a:latin typeface="微软雅黑" panose="020B0503020204020204" pitchFamily="34" charset="-122"/>
              </a:rPr>
              <a:t>25 Hz 持续采样，数据按时间不断产生；顺序和窗口长度本身就是信息。</a:t>
            </a:r>
            <a:endParaRPr sz="18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38160" y="3246120"/>
            <a:ext cx="3246120" cy="2057400"/>
          </a:xfrm>
          <a:prstGeom prst="roundRect">
            <a:avLst/>
          </a:prstGeom>
          <a:solidFill>
            <a:srgbClr val="EAF3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392424"/>
            <a:ext cx="2971800" cy="44132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B75B8"/>
                </a:solidFill>
                <a:latin typeface="微软雅黑" panose="020B0503020204020204" pitchFamily="34" charset="-122"/>
              </a:rPr>
              <a:t>③ 差异 Variability</a:t>
            </a:r>
            <a:endParaRPr sz="24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02752" y="3944112"/>
            <a:ext cx="2953512" cy="9505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indent="457200" algn="l">
              <a:lnSpc>
                <a:spcPct val="108000"/>
              </a:lnSpc>
              <a:buClrTx/>
              <a:buSzTx/>
              <a:buFontTx/>
            </a:pPr>
            <a:r>
              <a:rPr sz="1800" b="0">
                <a:solidFill>
                  <a:srgbClr val="1F1F1F"/>
                </a:solidFill>
                <a:latin typeface="微软雅黑" panose="020B0503020204020204" pitchFamily="34" charset="-122"/>
              </a:rPr>
              <a:t>不同海鸟、不同动作差别明显；同一个模型要面对“个体差异 + 类别差异”。</a:t>
            </a:r>
            <a:endParaRPr sz="18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80" y="5715000"/>
            <a:ext cx="10469880" cy="8286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E8B57"/>
                </a:solidFill>
                <a:latin typeface="微软雅黑" panose="020B0503020204020204" pitchFamily="34" charset="-122"/>
              </a:rPr>
              <a:t>大数据 ≠ 只有“数据很多”。</a:t>
            </a:r>
            <a:endParaRPr sz="2400" b="1">
              <a:solidFill>
                <a:srgbClr val="2E8B57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E8B57"/>
                </a:solidFill>
                <a:latin typeface="微软雅黑" panose="020B0503020204020204" pitchFamily="34" charset="-122"/>
              </a:rPr>
              <a:t>真正的挑战是：规模 + 时间结构 + 个体差异一起出现</a:t>
            </a:r>
            <a:r>
              <a:rPr lang="zh-CN" sz="2400" b="1">
                <a:solidFill>
                  <a:srgbClr val="2E8B57"/>
                </a:solidFill>
                <a:latin typeface="微软雅黑" panose="020B0503020204020204" pitchFamily="34" charset="-122"/>
              </a:rPr>
              <a:t>，都需要处理</a:t>
            </a:r>
            <a:r>
              <a:rPr sz="2400" b="1">
                <a:solidFill>
                  <a:srgbClr val="2E8B57"/>
                </a:solidFill>
                <a:latin typeface="微软雅黑" panose="020B0503020204020204" pitchFamily="34" charset="-122"/>
              </a:rPr>
              <a:t>。</a:t>
            </a:r>
            <a:endParaRPr sz="2400"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1F1F"/>
                </a:solidFill>
                <a:latin typeface="微软雅黑" panose="020B0503020204020204" pitchFamily="34" charset="-122"/>
                <a:sym typeface="+mn-ea"/>
              </a:rPr>
              <a:t>“大数据”到底大在哪里？</a:t>
            </a:r>
            <a:endParaRPr lang="en-US" sz="2800" dirty="0"/>
          </a:p>
        </p:txBody>
      </p:sp>
      <p:sp>
        <p:nvSpPr>
          <p:cNvPr id="29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31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数据问题一：行为类别很不均衡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42990" y="1094740"/>
            <a:ext cx="10424160" cy="733425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最多的是“静止”和“巡航飞行”，</a:t>
            </a:r>
            <a:r>
              <a:rPr lang="zh-CN" alt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且远远高于其他类别</a:t>
            </a:r>
            <a:endParaRPr lang="zh-CN" altLang="en-US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少数</a:t>
            </a:r>
            <a:r>
              <a:rPr lang="zh-CN" alt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类别的</a:t>
            </a:r>
            <a:r>
              <a:rPr 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行为样本</a:t>
            </a:r>
            <a:r>
              <a:rPr lang="zh-CN" alt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非常少</a:t>
            </a:r>
            <a:r>
              <a:rPr 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630035" y="2226945"/>
            <a:ext cx="4572000" cy="2560320"/>
            <a:chOff x="10441" y="2880"/>
            <a:chExt cx="7200" cy="4032"/>
          </a:xfrm>
        </p:grpSpPr>
        <p:sp>
          <p:nvSpPr>
            <p:cNvPr id="8" name="Shape 5"/>
            <p:cNvSpPr/>
            <p:nvPr/>
          </p:nvSpPr>
          <p:spPr>
            <a:xfrm>
              <a:off x="10441" y="2880"/>
              <a:ext cx="7200" cy="4032"/>
            </a:xfrm>
            <a:prstGeom prst="roundRect">
              <a:avLst>
                <a:gd name="adj" fmla="val 2857"/>
              </a:avLst>
            </a:prstGeom>
            <a:solidFill>
              <a:srgbClr val="FFF1F1"/>
            </a:solidFill>
            <a:ln w="12700">
              <a:solidFill>
                <a:srgbClr val="F0BFBF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10700" y="3096"/>
              <a:ext cx="6682" cy="46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为什么这</a:t>
              </a:r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会是一个问题</a:t>
              </a:r>
              <a:r>
                <a:rPr 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？</a:t>
              </a:r>
              <a:endParaRPr 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10700" y="3715"/>
              <a:ext cx="6682" cy="3053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如果</a:t>
              </a:r>
              <a:r>
                <a:rPr lang="zh-CN" alt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数据中有某些类别特别多，那在这个数据上训练出来的</a:t>
              </a: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模型</a:t>
              </a:r>
              <a:r>
                <a:rPr lang="zh-CN" alt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就会</a:t>
              </a: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总是猜多数类，</a:t>
              </a:r>
              <a:r>
                <a:rPr lang="zh-CN" alt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并且</a:t>
              </a: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也</a:t>
              </a:r>
              <a:r>
                <a:rPr lang="zh-CN" alt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很</a:t>
              </a: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可能得到很高准确率。</a:t>
              </a:r>
              <a:endParaRPr lang="en-US" sz="1600" dirty="0"/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因此不能只看Accuracy，还要看每一类是否都识别得好。</a:t>
              </a:r>
              <a:endPara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" y="1828800"/>
            <a:ext cx="6166485" cy="385318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6630035" y="5061585"/>
            <a:ext cx="4572000" cy="923925"/>
            <a:chOff x="10441" y="7344"/>
            <a:chExt cx="7200" cy="1455"/>
          </a:xfrm>
        </p:grpSpPr>
        <p:sp>
          <p:nvSpPr>
            <p:cNvPr id="11" name="Shape 8"/>
            <p:cNvSpPr/>
            <p:nvPr/>
          </p:nvSpPr>
          <p:spPr>
            <a:xfrm>
              <a:off x="10441" y="7344"/>
              <a:ext cx="7200" cy="1455"/>
            </a:xfrm>
            <a:prstGeom prst="roundRect">
              <a:avLst>
                <a:gd name="adj" fmla="val 10000"/>
              </a:avLst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16" name="文本框 15"/>
            <p:cNvSpPr txBox="1"/>
            <p:nvPr/>
          </p:nvSpPr>
          <p:spPr>
            <a:xfrm>
              <a:off x="10626" y="7632"/>
              <a:ext cx="6755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这像考试题里</a:t>
              </a:r>
              <a:r>
                <a:rPr lang="zh-CN" alt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大部分都是课后习题，我们按做过的思路来写，总分就可能</a:t>
              </a:r>
              <a:r>
                <a:rPr lang="zh-CN" alt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会很高</a:t>
              </a:r>
              <a:r>
                <a:rPr lang="zh-CN" alt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了。</a:t>
              </a:r>
              <a:endPara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1752" y="256032"/>
            <a:ext cx="201168" cy="20116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21792"/>
            <a:ext cx="10515600" cy="109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698480" cy="5060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1F1F"/>
                </a:solidFill>
                <a:latin typeface="微软雅黑" panose="020B0503020204020204" pitchFamily="34" charset="-122"/>
              </a:rPr>
              <a:t>概念 1：比例、基线与“看起来很高”的准确率</a:t>
            </a:r>
            <a:endParaRPr sz="2800" b="1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6435" y="1553845"/>
            <a:ext cx="3200400" cy="44132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1F1F"/>
                </a:solidFill>
                <a:latin typeface="微软雅黑" panose="020B0503020204020204" pitchFamily="34" charset="-122"/>
              </a:rPr>
              <a:t>一个极端示意</a:t>
            </a:r>
            <a:endParaRPr sz="2400" b="1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114800" cy="635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>
                <a:solidFill>
                  <a:srgbClr val="666666"/>
                </a:solidFill>
                <a:latin typeface="微软雅黑" panose="020B0503020204020204" pitchFamily="34" charset="-122"/>
              </a:rPr>
              <a:t>假设 100 个样本：</a:t>
            </a:r>
            <a:endParaRPr b="0">
              <a:solidFill>
                <a:srgbClr val="666666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</a:pPr>
            <a:r>
              <a:rPr lang="en-US" b="0">
                <a:solidFill>
                  <a:srgbClr val="666666"/>
                </a:solidFill>
                <a:latin typeface="微软雅黑" panose="020B0503020204020204" pitchFamily="34" charset="-122"/>
              </a:rPr>
              <a:t>                       </a:t>
            </a:r>
            <a:r>
              <a:rPr b="0">
                <a:solidFill>
                  <a:srgbClr val="666666"/>
                </a:solidFill>
                <a:latin typeface="微软雅黑" panose="020B0503020204020204" pitchFamily="34" charset="-122"/>
              </a:rPr>
              <a:t>90 个静止，10 个点水</a:t>
            </a:r>
            <a:endParaRPr b="0">
              <a:solidFill>
                <a:srgbClr val="6666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8680" y="2903220"/>
            <a:ext cx="3703320" cy="502920"/>
          </a:xfrm>
          <a:prstGeom prst="rect">
            <a:avLst/>
          </a:prstGeom>
          <a:solidFill>
            <a:srgbClr val="2B7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903220"/>
            <a:ext cx="411480" cy="5029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85516"/>
            <a:ext cx="1828800" cy="3448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90 静止</a:t>
            </a:r>
            <a:endParaRPr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90288" y="2985516"/>
            <a:ext cx="320040" cy="3124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10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3771900"/>
            <a:ext cx="42976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C00000"/>
                </a:solidFill>
                <a:latin typeface="微软雅黑" panose="020B0503020204020204" pitchFamily="34" charset="-122"/>
              </a:rPr>
              <a:t>模型什么也没学，只输出“静止”</a:t>
            </a:r>
            <a:endParaRPr sz="1800"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4302252"/>
            <a:ext cx="3429000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C00000"/>
                </a:solidFill>
                <a:latin typeface="微软雅黑" panose="020B0503020204020204" pitchFamily="34" charset="-122"/>
              </a:rPr>
              <a:t>Accuracy = 90%</a:t>
            </a:r>
            <a:endParaRPr sz="2800"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914900"/>
            <a:ext cx="3977639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666666"/>
                </a:solidFill>
                <a:latin typeface="微软雅黑" panose="020B0503020204020204" pitchFamily="34" charset="-122"/>
              </a:rPr>
              <a:t>但少数类 10 个样本全部识别失败</a:t>
            </a:r>
            <a:endParaRPr sz="2000" b="1">
              <a:solidFill>
                <a:srgbClr val="6666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97880" y="1691640"/>
            <a:ext cx="5349240" cy="1143000"/>
          </a:xfrm>
          <a:prstGeom prst="roundRect">
            <a:avLst/>
          </a:prstGeom>
          <a:solidFill>
            <a:srgbClr val="EAF3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691640"/>
            <a:ext cx="73152" cy="1143000"/>
          </a:xfrm>
          <a:prstGeom prst="rect">
            <a:avLst/>
          </a:prstGeom>
          <a:solidFill>
            <a:srgbClr val="2B7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1837944"/>
            <a:ext cx="50749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B75B8"/>
                </a:solidFill>
                <a:latin typeface="微软雅黑" panose="020B0503020204020204" pitchFamily="34" charset="-122"/>
              </a:rPr>
              <a:t>比例（proportion）</a:t>
            </a:r>
            <a:endParaRPr sz="18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62472" y="2221992"/>
            <a:ext cx="5056631" cy="58547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indent="457200" algn="l" fontAlgn="auto">
              <a:lnSpc>
                <a:spcPct val="108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先看每个类别占多少；类别比例决定了“多数类基线”有多强。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897880" y="2971800"/>
            <a:ext cx="5349240" cy="1143000"/>
          </a:xfrm>
          <a:prstGeom prst="roundRect">
            <a:avLst/>
          </a:prstGeom>
          <a:solidFill>
            <a:srgbClr val="FFF5E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2971800"/>
            <a:ext cx="73152" cy="1143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3118104"/>
            <a:ext cx="50749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28C28"/>
                </a:solidFill>
                <a:latin typeface="微软雅黑" panose="020B0503020204020204" pitchFamily="34" charset="-122"/>
              </a:rPr>
              <a:t>基线（baseline）</a:t>
            </a:r>
            <a:endParaRPr sz="1800" b="1">
              <a:solidFill>
                <a:srgbClr val="F28C2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62472" y="3502152"/>
            <a:ext cx="5056631" cy="58547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indent="457200" algn="l" fontAlgn="auto">
              <a:lnSpc>
                <a:spcPct val="108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真正有用的模型，至少应该明显优于“永远猜最多那一类”。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97880" y="4251960"/>
            <a:ext cx="5349240" cy="1143000"/>
          </a:xfrm>
          <a:prstGeom prst="roundRect">
            <a:avLst/>
          </a:prstGeom>
          <a:solidFill>
            <a:srgbClr val="ECF7F0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7880" y="4251960"/>
            <a:ext cx="73152" cy="1143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62472" y="4398264"/>
            <a:ext cx="50749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E8B57"/>
                </a:solidFill>
                <a:latin typeface="微软雅黑" panose="020B0503020204020204" pitchFamily="34" charset="-122"/>
              </a:rPr>
              <a:t>所以不能只看 Accuracy</a:t>
            </a:r>
            <a:endParaRPr sz="1800"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62472" y="4782312"/>
            <a:ext cx="5056631" cy="58547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indent="457200" algn="l" fontAlgn="auto">
              <a:lnSpc>
                <a:spcPct val="108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要结合 Macro F1、混淆矩阵</a:t>
            </a:r>
            <a:r>
              <a:rPr lang="zh-CN" sz="1600" b="0">
                <a:solidFill>
                  <a:srgbClr val="1F1F1F"/>
                </a:solidFill>
                <a:latin typeface="微软雅黑" panose="020B0503020204020204" pitchFamily="34" charset="-122"/>
              </a:rPr>
              <a:t>（后续有补充）</a:t>
            </a: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，检查少数类有没有被模型“放弃”。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TextBox 26"/>
          <p:cNvSpPr txBox="1"/>
          <p:nvPr/>
        </p:nvSpPr>
        <p:spPr>
          <a:xfrm>
            <a:off x="861060" y="5833745"/>
            <a:ext cx="10469880" cy="44132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sym typeface="+mn-ea"/>
              </a:rPr>
              <a:t>先理解数据分布，再决定评价方法。</a:t>
            </a:r>
            <a:endParaRPr sz="2400" b="1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0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32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数据问题二：不同海鸟差异很大</a:t>
            </a:r>
            <a:endParaRPr lang="en-US" sz="28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7236460" y="2267585"/>
            <a:ext cx="4160520" cy="2194560"/>
            <a:chOff x="11305" y="2880"/>
            <a:chExt cx="6552" cy="3456"/>
          </a:xfrm>
        </p:grpSpPr>
        <p:sp>
          <p:nvSpPr>
            <p:cNvPr id="8" name="Shape 5"/>
            <p:cNvSpPr/>
            <p:nvPr/>
          </p:nvSpPr>
          <p:spPr>
            <a:xfrm>
              <a:off x="11305" y="2880"/>
              <a:ext cx="6552" cy="3456"/>
            </a:xfrm>
            <a:prstGeom prst="roundRect">
              <a:avLst>
                <a:gd name="adj" fmla="val 3333"/>
              </a:avLst>
            </a:prstGeom>
            <a:solidFill>
              <a:srgbClr val="FFF7E8"/>
            </a:solidFill>
            <a:ln w="12700">
              <a:solidFill>
                <a:srgbClr val="F3D3A0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11564" y="3457"/>
              <a:ext cx="6034" cy="46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b="1" dirty="0">
                  <a:solidFill>
                    <a:srgbClr val="F28C2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为什么这也会是一个问题？</a:t>
              </a:r>
              <a:endParaRPr lang="en-US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11564" y="3715"/>
              <a:ext cx="6034" cy="2477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   如果同一只鸟同时出现在训练集和测试集，模型可能记住这只鸟的个体特征，而不是学会真正的行为规律。</a:t>
              </a:r>
              <a:endParaRPr 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330" y="1744345"/>
            <a:ext cx="6652260" cy="4540885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7343140" y="4919345"/>
            <a:ext cx="3780155" cy="1167216"/>
            <a:chOff x="10441" y="7344"/>
            <a:chExt cx="7200" cy="1455"/>
          </a:xfrm>
        </p:grpSpPr>
        <p:sp>
          <p:nvSpPr>
            <p:cNvPr id="17" name="Shape 8"/>
            <p:cNvSpPr/>
            <p:nvPr/>
          </p:nvSpPr>
          <p:spPr>
            <a:xfrm>
              <a:off x="10441" y="7344"/>
              <a:ext cx="7200" cy="1455"/>
            </a:xfrm>
            <a:prstGeom prst="roundRect">
              <a:avLst>
                <a:gd name="adj" fmla="val 10000"/>
              </a:avLst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19" name="文本框 18"/>
            <p:cNvSpPr txBox="1"/>
            <p:nvPr/>
          </p:nvSpPr>
          <p:spPr>
            <a:xfrm>
              <a:off x="10626" y="7632"/>
              <a:ext cx="6755" cy="103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这像考试题里</a:t>
              </a:r>
              <a:r>
                <a:rPr lang="zh-CN" alt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大部分都是课后习题，我们能做对这些题，但是不一定掌握了</a:t>
              </a:r>
              <a:r>
                <a:rPr lang="zh-CN" alt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知识点。</a:t>
              </a:r>
              <a:endPara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5907405" y="914400"/>
            <a:ext cx="54895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1600">
                <a:sym typeface="+mn-ea"/>
              </a:rPr>
              <a:t>不同海鸟的行为构成差异较大。有的个体以静止行为为主，有的以巡航飞行为主，部分个体只包含少数几类行为。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1752" y="256032"/>
            <a:ext cx="201168" cy="20116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21792"/>
            <a:ext cx="10515600" cy="109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698480" cy="5060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1F1F"/>
                </a:solidFill>
                <a:latin typeface="微软雅黑" panose="020B0503020204020204" pitchFamily="34" charset="-122"/>
              </a:rPr>
              <a:t>概念 2：为什么“同一只鸟”不能同时出现在训练和测试？</a:t>
            </a:r>
            <a:endParaRPr sz="2800" b="1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1530" y="1664208"/>
            <a:ext cx="48463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C00000"/>
                </a:solidFill>
                <a:latin typeface="微软雅黑" panose="020B0503020204020204" pitchFamily="34" charset="-122"/>
              </a:rPr>
              <a:t>随机切窗口：容易产生数据泄漏</a:t>
            </a:r>
            <a:endParaRPr sz="1900"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94410" y="2240280"/>
            <a:ext cx="530352" cy="530352"/>
          </a:xfrm>
          <a:prstGeom prst="ellipse">
            <a:avLst/>
          </a:prstGeom>
          <a:solidFill>
            <a:srgbClr val="EAF3FB"/>
          </a:solidFill>
          <a:ln>
            <a:solidFill>
              <a:srgbClr val="2B7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410" y="2319719"/>
            <a:ext cx="530352" cy="2800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B75B8"/>
                </a:solidFill>
                <a:latin typeface="微软雅黑" panose="020B0503020204020204" pitchFamily="34" charset="-122"/>
              </a:rPr>
              <a:t>鸟1</a:t>
            </a:r>
            <a:endParaRPr sz="14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744218" y="2240280"/>
            <a:ext cx="530352" cy="530352"/>
          </a:xfrm>
          <a:prstGeom prst="ellipse">
            <a:avLst/>
          </a:prstGeom>
          <a:solidFill>
            <a:srgbClr val="EAF3FB"/>
          </a:solidFill>
          <a:ln>
            <a:solidFill>
              <a:srgbClr val="2B7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44218" y="2319719"/>
            <a:ext cx="530352" cy="2800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B75B8"/>
                </a:solidFill>
                <a:latin typeface="微软雅黑" panose="020B0503020204020204" pitchFamily="34" charset="-122"/>
              </a:rPr>
              <a:t>鸟2</a:t>
            </a:r>
            <a:endParaRPr sz="10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494026" y="2240280"/>
            <a:ext cx="530352" cy="530352"/>
          </a:xfrm>
          <a:prstGeom prst="ellipse">
            <a:avLst/>
          </a:prstGeom>
          <a:solidFill>
            <a:srgbClr val="EAF3FB"/>
          </a:solidFill>
          <a:ln>
            <a:solidFill>
              <a:srgbClr val="2B7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4026" y="2319719"/>
            <a:ext cx="530352" cy="2800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buClrTx/>
              <a:buSzTx/>
              <a:buFontTx/>
            </a:pPr>
            <a:r>
              <a:rPr sz="1400" b="1">
                <a:solidFill>
                  <a:srgbClr val="2B75B8"/>
                </a:solidFill>
                <a:latin typeface="微软雅黑" panose="020B0503020204020204" pitchFamily="34" charset="-122"/>
              </a:rPr>
              <a:t>鸟3</a:t>
            </a:r>
            <a:endParaRPr sz="14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43834" y="2240280"/>
            <a:ext cx="530352" cy="530352"/>
          </a:xfrm>
          <a:prstGeom prst="ellipse">
            <a:avLst/>
          </a:prstGeom>
          <a:solidFill>
            <a:srgbClr val="EAF3FB"/>
          </a:solidFill>
          <a:ln>
            <a:solidFill>
              <a:srgbClr val="2B7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3834" y="2319719"/>
            <a:ext cx="530352" cy="2800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buClrTx/>
              <a:buSzTx/>
              <a:buFontTx/>
            </a:pPr>
            <a:r>
              <a:rPr sz="1400" b="1">
                <a:solidFill>
                  <a:srgbClr val="2B75B8"/>
                </a:solidFill>
                <a:latin typeface="微软雅黑" panose="020B0503020204020204" pitchFamily="34" charset="-122"/>
              </a:rPr>
              <a:t>鸟4</a:t>
            </a:r>
            <a:endParaRPr sz="14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993642" y="2240280"/>
            <a:ext cx="530352" cy="530352"/>
          </a:xfrm>
          <a:prstGeom prst="ellipse">
            <a:avLst/>
          </a:prstGeom>
          <a:solidFill>
            <a:srgbClr val="EAF3FB"/>
          </a:solidFill>
          <a:ln>
            <a:solidFill>
              <a:srgbClr val="2B7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93642" y="2319719"/>
            <a:ext cx="530352" cy="2800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buClrTx/>
              <a:buSzTx/>
              <a:buFontTx/>
            </a:pPr>
            <a:r>
              <a:rPr sz="1400" b="1">
                <a:solidFill>
                  <a:srgbClr val="2B75B8"/>
                </a:solidFill>
                <a:latin typeface="微软雅黑" panose="020B0503020204020204" pitchFamily="34" charset="-122"/>
              </a:rPr>
              <a:t>鸟5</a:t>
            </a:r>
            <a:endParaRPr sz="14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1515" y="3154680"/>
            <a:ext cx="82296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B75B8"/>
                </a:solidFill>
                <a:latin typeface="微软雅黑" panose="020B0503020204020204" pitchFamily="34" charset="-122"/>
              </a:rPr>
              <a:t>训练集</a:t>
            </a:r>
            <a:endParaRPr sz="20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6042" y="3170555"/>
            <a:ext cx="3520440" cy="3448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>
                <a:solidFill>
                  <a:srgbClr val="1F1F1F"/>
                </a:solidFill>
                <a:latin typeface="微软雅黑" panose="020B0503020204020204" pitchFamily="34" charset="-122"/>
              </a:rPr>
              <a:t>鸟1  鸟2  鸟3  鸟4 的一部分窗口</a:t>
            </a:r>
            <a:endParaRPr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1515" y="3794760"/>
            <a:ext cx="82296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28C28"/>
                </a:solidFill>
                <a:latin typeface="微软雅黑" panose="020B0503020204020204" pitchFamily="34" charset="-122"/>
              </a:rPr>
              <a:t>测试集</a:t>
            </a:r>
            <a:endParaRPr sz="2000" b="1">
              <a:solidFill>
                <a:srgbClr val="F28C2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16075" y="3810635"/>
            <a:ext cx="4119245" cy="3448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>
                <a:solidFill>
                  <a:srgbClr val="1F1F1F"/>
                </a:solidFill>
                <a:latin typeface="微软雅黑" panose="020B0503020204020204" pitchFamily="34" charset="-122"/>
              </a:rPr>
              <a:t>鸟1  鸟2  鸟3  鸟4 的另一部分窗口</a:t>
            </a:r>
            <a:endParaRPr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1660" y="4709160"/>
            <a:ext cx="494665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1">
                <a:solidFill>
                  <a:srgbClr val="C00000"/>
                </a:solidFill>
                <a:latin typeface="微软雅黑" panose="020B0503020204020204" pitchFamily="34" charset="-122"/>
              </a:rPr>
              <a:t>可能</a:t>
            </a:r>
            <a:r>
              <a:rPr lang="zh-CN" b="1">
                <a:solidFill>
                  <a:srgbClr val="C00000"/>
                </a:solidFill>
                <a:latin typeface="微软雅黑" panose="020B0503020204020204" pitchFamily="34" charset="-122"/>
              </a:rPr>
              <a:t>只是</a:t>
            </a:r>
            <a:r>
              <a:rPr sz="2000" b="1">
                <a:solidFill>
                  <a:srgbClr val="C00000"/>
                </a:solidFill>
                <a:latin typeface="微软雅黑" panose="020B0503020204020204" pitchFamily="34" charset="-122"/>
              </a:rPr>
              <a:t>“认出了鸟”，</a:t>
            </a:r>
            <a:r>
              <a:rPr b="1">
                <a:solidFill>
                  <a:srgbClr val="C00000"/>
                </a:solidFill>
                <a:latin typeface="微软雅黑" panose="020B0503020204020204" pitchFamily="34" charset="-122"/>
              </a:rPr>
              <a:t>而</a:t>
            </a:r>
            <a:r>
              <a:rPr lang="zh-CN" b="1">
                <a:solidFill>
                  <a:srgbClr val="C00000"/>
                </a:solidFill>
                <a:latin typeface="微软雅黑" panose="020B0503020204020204" pitchFamily="34" charset="-122"/>
              </a:rPr>
              <a:t>非</a:t>
            </a:r>
            <a:r>
              <a:rPr b="1">
                <a:solidFill>
                  <a:srgbClr val="C00000"/>
                </a:solidFill>
                <a:latin typeface="微软雅黑" panose="020B0503020204020204" pitchFamily="34" charset="-122"/>
              </a:rPr>
              <a:t>“认出了行为”</a:t>
            </a:r>
            <a:r>
              <a:rPr lang="zh-CN" b="1">
                <a:solidFill>
                  <a:srgbClr val="C00000"/>
                </a:solidFill>
                <a:latin typeface="微软雅黑" panose="020B0503020204020204" pitchFamily="34" charset="-122"/>
              </a:rPr>
              <a:t>。</a:t>
            </a:r>
            <a:endParaRPr lang="zh-CN"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715000" y="1691640"/>
            <a:ext cx="18288" cy="397763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3650" y="1664208"/>
            <a:ext cx="4572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E8B57"/>
                </a:solidFill>
                <a:latin typeface="微软雅黑" panose="020B0503020204020204" pitchFamily="34" charset="-122"/>
              </a:rPr>
              <a:t>LOIO-CV：按个体留出</a:t>
            </a:r>
            <a:endParaRPr sz="1900"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572250" y="2240280"/>
            <a:ext cx="530352" cy="530352"/>
          </a:xfrm>
          <a:prstGeom prst="ellipse">
            <a:avLst/>
          </a:prstGeom>
          <a:solidFill>
            <a:srgbClr val="ECF7F0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2250" y="2319719"/>
            <a:ext cx="530352" cy="2800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buClrTx/>
              <a:buSzTx/>
              <a:buFontTx/>
            </a:pPr>
            <a:r>
              <a:rPr sz="1400" b="1">
                <a:solidFill>
                  <a:srgbClr val="2E8B57"/>
                </a:solidFill>
                <a:latin typeface="微软雅黑" panose="020B0503020204020204" pitchFamily="34" charset="-122"/>
              </a:rPr>
              <a:t>鸟1</a:t>
            </a:r>
            <a:endParaRPr sz="1400"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322058" y="2240280"/>
            <a:ext cx="530352" cy="530352"/>
          </a:xfrm>
          <a:prstGeom prst="ellipse">
            <a:avLst/>
          </a:prstGeom>
          <a:solidFill>
            <a:srgbClr val="ECF7F0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22058" y="2319719"/>
            <a:ext cx="530352" cy="2800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buClrTx/>
              <a:buSzTx/>
              <a:buFontTx/>
            </a:pPr>
            <a:r>
              <a:rPr sz="1400" b="1">
                <a:solidFill>
                  <a:srgbClr val="2E8B57"/>
                </a:solidFill>
                <a:latin typeface="微软雅黑" panose="020B0503020204020204" pitchFamily="34" charset="-122"/>
              </a:rPr>
              <a:t>鸟2</a:t>
            </a:r>
            <a:endParaRPr sz="1400"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8071866" y="2240280"/>
            <a:ext cx="530352" cy="530352"/>
          </a:xfrm>
          <a:prstGeom prst="ellipse">
            <a:avLst/>
          </a:prstGeom>
          <a:solidFill>
            <a:srgbClr val="ECF7F0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1866" y="2319719"/>
            <a:ext cx="530352" cy="2800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buClrTx/>
              <a:buSzTx/>
              <a:buFontTx/>
            </a:pPr>
            <a:r>
              <a:rPr sz="1400" b="1">
                <a:solidFill>
                  <a:srgbClr val="2E8B57"/>
                </a:solidFill>
                <a:latin typeface="微软雅黑" panose="020B0503020204020204" pitchFamily="34" charset="-122"/>
              </a:rPr>
              <a:t>鸟3</a:t>
            </a:r>
            <a:endParaRPr sz="1400"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821674" y="2240280"/>
            <a:ext cx="530352" cy="530352"/>
          </a:xfrm>
          <a:prstGeom prst="ellipse">
            <a:avLst/>
          </a:prstGeom>
          <a:solidFill>
            <a:srgbClr val="ECF7F0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1674" y="2319719"/>
            <a:ext cx="530352" cy="2800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E8B57"/>
                </a:solidFill>
                <a:latin typeface="微软雅黑" panose="020B0503020204020204" pitchFamily="34" charset="-122"/>
              </a:rPr>
              <a:t>鸟4</a:t>
            </a:r>
            <a:endParaRPr sz="1400"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571482" y="2240280"/>
            <a:ext cx="530352" cy="530352"/>
          </a:xfrm>
          <a:prstGeom prst="ellipse">
            <a:avLst/>
          </a:prstGeom>
          <a:solidFill>
            <a:srgbClr val="FFF5E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1482" y="2319719"/>
            <a:ext cx="530352" cy="2800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28C28"/>
                </a:solidFill>
                <a:latin typeface="微软雅黑" panose="020B0503020204020204" pitchFamily="34" charset="-122"/>
              </a:rPr>
              <a:t>鸟5</a:t>
            </a:r>
            <a:endParaRPr sz="1400" b="1">
              <a:solidFill>
                <a:srgbClr val="F28C2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26505" y="3154680"/>
            <a:ext cx="82296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E8B57"/>
                </a:solidFill>
                <a:latin typeface="微软雅黑" panose="020B0503020204020204" pitchFamily="34" charset="-122"/>
              </a:rPr>
              <a:t>训练集</a:t>
            </a:r>
            <a:endParaRPr sz="2000"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61377" y="3170555"/>
            <a:ext cx="3291840" cy="3448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>
                <a:solidFill>
                  <a:srgbClr val="1F1F1F"/>
                </a:solidFill>
                <a:latin typeface="微软雅黑" panose="020B0503020204020204" pitchFamily="34" charset="-122"/>
              </a:rPr>
              <a:t>鸟1–鸟4：全部窗口</a:t>
            </a:r>
            <a:endParaRPr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26505" y="3794760"/>
            <a:ext cx="82296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28C28"/>
                </a:solidFill>
                <a:latin typeface="微软雅黑" panose="020B0503020204020204" pitchFamily="34" charset="-122"/>
              </a:rPr>
              <a:t>测试集</a:t>
            </a:r>
            <a:endParaRPr sz="2000" b="1">
              <a:solidFill>
                <a:srgbClr val="F28C2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46772" y="3810635"/>
            <a:ext cx="3611880" cy="3448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>
                <a:solidFill>
                  <a:srgbClr val="1F1F1F"/>
                </a:solidFill>
                <a:latin typeface="微软雅黑" panose="020B0503020204020204" pitchFamily="34" charset="-122"/>
              </a:rPr>
              <a:t>鸟5：全部窗口（真正没见过）</a:t>
            </a:r>
            <a:endParaRPr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44768" y="4709160"/>
            <a:ext cx="457200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E8B57"/>
                </a:solidFill>
                <a:latin typeface="微软雅黑" panose="020B0503020204020204" pitchFamily="34" charset="-122"/>
              </a:rPr>
              <a:t>检验的是“能不能泛化到新个体”</a:t>
            </a:r>
            <a:endParaRPr sz="2000"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2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3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44" name="TextBox 26"/>
          <p:cNvSpPr txBox="1"/>
          <p:nvPr/>
        </p:nvSpPr>
        <p:spPr>
          <a:xfrm>
            <a:off x="680085" y="5909945"/>
            <a:ext cx="10469880" cy="44132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2400" b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sym typeface="+mn-ea"/>
              </a:rPr>
              <a:t>避免了数据泄露，且泛化能力</a:t>
            </a:r>
            <a:r>
              <a:rPr lang="zh-CN" altLang="en-US" sz="2400" b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sym typeface="+mn-ea"/>
              </a:rPr>
              <a:t>强。</a:t>
            </a:r>
            <a:endParaRPr lang="zh-CN" altLang="en-US" sz="2400" b="1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等腰三角形 48"/>
          <p:cNvSpPr/>
          <p:nvPr/>
        </p:nvSpPr>
        <p:spPr>
          <a:xfrm rot="16200000">
            <a:off x="11021695" y="3008630"/>
            <a:ext cx="1499235" cy="840105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3883660" y="2971800"/>
            <a:ext cx="499935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5400" spc="300" dirty="0">
                <a:latin typeface="字魂35号-经典雅黑" panose="00000500000000000000" charset="-122"/>
                <a:ea typeface="字魂35号-经典雅黑" panose="00000500000000000000" charset="-122"/>
                <a:cs typeface="+mn-ea"/>
                <a:sym typeface="+mn-ea"/>
              </a:rPr>
              <a:t>模型与方法</a:t>
            </a:r>
            <a:endParaRPr lang="zh-CN" altLang="en-US" sz="5400" spc="300" dirty="0">
              <a:latin typeface="字魂35号-经典雅黑" panose="00000500000000000000" charset="-122"/>
              <a:ea typeface="字魂35号-经典雅黑" panose="00000500000000000000" charset="-122"/>
              <a:cs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54655" y="4079240"/>
            <a:ext cx="7490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latin typeface="字魂119号-天真儿风体" panose="00000500000000000000" charset="-122"/>
                <a:ea typeface="字魂119号-天真儿风体" panose="00000500000000000000" charset="-122"/>
                <a:cs typeface="Lucida Calligraphy" panose="03010101010101010101" charset="0"/>
                <a:sym typeface="+mn-ea"/>
              </a:rPr>
              <a:t>点击这里，输入合适的内容。点击这里，输入合适的内容。点击这里，输入合适的内容。</a:t>
            </a:r>
            <a:r>
              <a:rPr lang="en-US" sz="1400" dirty="0">
                <a:latin typeface="字魂119号-天真儿风体" panose="00000500000000000000" charset="-122"/>
                <a:ea typeface="字魂119号-天真儿风体" panose="00000500000000000000" charset="-122"/>
                <a:cs typeface="Lucida Calligraphy" panose="03010101010101010101" charset="0"/>
                <a:sym typeface="+mn-ea"/>
              </a:rPr>
              <a:t>.</a:t>
            </a:r>
            <a:endParaRPr lang="en-US" sz="1400" dirty="0">
              <a:latin typeface="字魂119号-天真儿风体" panose="00000500000000000000" charset="-122"/>
              <a:ea typeface="字魂119号-天真儿风体" panose="00000500000000000000" charset="-122"/>
              <a:cs typeface="Lucida Calligraphy" panose="03010101010101010101" charset="0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901055" y="1647190"/>
            <a:ext cx="1049655" cy="1049655"/>
            <a:chOff x="8078" y="1403"/>
            <a:chExt cx="2610" cy="2610"/>
          </a:xfrm>
        </p:grpSpPr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8493" y="2088"/>
              <a:ext cx="1781" cy="1240"/>
            </a:xfrm>
            <a:custGeom>
              <a:avLst/>
              <a:gdLst>
                <a:gd name="T0" fmla="*/ 245 w 589"/>
                <a:gd name="T1" fmla="*/ 311 h 334"/>
                <a:gd name="T2" fmla="*/ 243 w 589"/>
                <a:gd name="T3" fmla="*/ 244 h 334"/>
                <a:gd name="T4" fmla="*/ 236 w 589"/>
                <a:gd name="T5" fmla="*/ 238 h 334"/>
                <a:gd name="T6" fmla="*/ 223 w 589"/>
                <a:gd name="T7" fmla="*/ 240 h 334"/>
                <a:gd name="T8" fmla="*/ 218 w 589"/>
                <a:gd name="T9" fmla="*/ 239 h 334"/>
                <a:gd name="T10" fmla="*/ 156 w 589"/>
                <a:gd name="T11" fmla="*/ 211 h 334"/>
                <a:gd name="T12" fmla="*/ 148 w 589"/>
                <a:gd name="T13" fmla="*/ 216 h 334"/>
                <a:gd name="T14" fmla="*/ 151 w 589"/>
                <a:gd name="T15" fmla="*/ 252 h 334"/>
                <a:gd name="T16" fmla="*/ 153 w 589"/>
                <a:gd name="T17" fmla="*/ 254 h 334"/>
                <a:gd name="T18" fmla="*/ 199 w 589"/>
                <a:gd name="T19" fmla="*/ 296 h 334"/>
                <a:gd name="T20" fmla="*/ 237 w 589"/>
                <a:gd name="T21" fmla="*/ 317 h 334"/>
                <a:gd name="T22" fmla="*/ 245 w 589"/>
                <a:gd name="T23" fmla="*/ 311 h 334"/>
                <a:gd name="T24" fmla="*/ 521 w 589"/>
                <a:gd name="T25" fmla="*/ 220 h 334"/>
                <a:gd name="T26" fmla="*/ 524 w 589"/>
                <a:gd name="T27" fmla="*/ 223 h 334"/>
                <a:gd name="T28" fmla="*/ 534 w 589"/>
                <a:gd name="T29" fmla="*/ 235 h 334"/>
                <a:gd name="T30" fmla="*/ 536 w 589"/>
                <a:gd name="T31" fmla="*/ 238 h 334"/>
                <a:gd name="T32" fmla="*/ 552 w 589"/>
                <a:gd name="T33" fmla="*/ 262 h 334"/>
                <a:gd name="T34" fmla="*/ 527 w 589"/>
                <a:gd name="T35" fmla="*/ 320 h 334"/>
                <a:gd name="T36" fmla="*/ 520 w 589"/>
                <a:gd name="T37" fmla="*/ 313 h 334"/>
                <a:gd name="T38" fmla="*/ 501 w 589"/>
                <a:gd name="T39" fmla="*/ 268 h 334"/>
                <a:gd name="T40" fmla="*/ 506 w 589"/>
                <a:gd name="T41" fmla="*/ 244 h 334"/>
                <a:gd name="T42" fmla="*/ 506 w 589"/>
                <a:gd name="T43" fmla="*/ 241 h 334"/>
                <a:gd name="T44" fmla="*/ 505 w 589"/>
                <a:gd name="T45" fmla="*/ 235 h 334"/>
                <a:gd name="T46" fmla="*/ 510 w 589"/>
                <a:gd name="T47" fmla="*/ 226 h 334"/>
                <a:gd name="T48" fmla="*/ 511 w 589"/>
                <a:gd name="T49" fmla="*/ 222 h 334"/>
                <a:gd name="T50" fmla="*/ 495 w 589"/>
                <a:gd name="T51" fmla="*/ 174 h 334"/>
                <a:gd name="T52" fmla="*/ 491 w 589"/>
                <a:gd name="T53" fmla="*/ 173 h 334"/>
                <a:gd name="T54" fmla="*/ 224 w 589"/>
                <a:gd name="T55" fmla="*/ 227 h 334"/>
                <a:gd name="T56" fmla="*/ 221 w 589"/>
                <a:gd name="T57" fmla="*/ 227 h 334"/>
                <a:gd name="T58" fmla="*/ 95 w 589"/>
                <a:gd name="T59" fmla="*/ 162 h 334"/>
                <a:gd name="T60" fmla="*/ 5 w 589"/>
                <a:gd name="T61" fmla="*/ 81 h 334"/>
                <a:gd name="T62" fmla="*/ 9 w 589"/>
                <a:gd name="T63" fmla="*/ 72 h 334"/>
                <a:gd name="T64" fmla="*/ 194 w 589"/>
                <a:gd name="T65" fmla="*/ 51 h 334"/>
                <a:gd name="T66" fmla="*/ 372 w 589"/>
                <a:gd name="T67" fmla="*/ 0 h 334"/>
                <a:gd name="T68" fmla="*/ 378 w 589"/>
                <a:gd name="T69" fmla="*/ 2 h 334"/>
                <a:gd name="T70" fmla="*/ 484 w 589"/>
                <a:gd name="T71" fmla="*/ 84 h 334"/>
                <a:gd name="T72" fmla="*/ 581 w 589"/>
                <a:gd name="T73" fmla="*/ 132 h 334"/>
                <a:gd name="T74" fmla="*/ 581 w 589"/>
                <a:gd name="T75" fmla="*/ 143 h 334"/>
                <a:gd name="T76" fmla="*/ 507 w 589"/>
                <a:gd name="T77" fmla="*/ 167 h 334"/>
                <a:gd name="T78" fmla="*/ 505 w 589"/>
                <a:gd name="T79" fmla="*/ 172 h 334"/>
                <a:gd name="T80" fmla="*/ 521 w 589"/>
                <a:gd name="T81" fmla="*/ 220 h 334"/>
                <a:gd name="T82" fmla="*/ 452 w 589"/>
                <a:gd name="T83" fmla="*/ 197 h 334"/>
                <a:gd name="T84" fmla="*/ 458 w 589"/>
                <a:gd name="T85" fmla="*/ 209 h 334"/>
                <a:gd name="T86" fmla="*/ 456 w 589"/>
                <a:gd name="T87" fmla="*/ 234 h 334"/>
                <a:gd name="T88" fmla="*/ 451 w 589"/>
                <a:gd name="T89" fmla="*/ 258 h 334"/>
                <a:gd name="T90" fmla="*/ 448 w 589"/>
                <a:gd name="T91" fmla="*/ 262 h 334"/>
                <a:gd name="T92" fmla="*/ 355 w 589"/>
                <a:gd name="T93" fmla="*/ 298 h 334"/>
                <a:gd name="T94" fmla="*/ 264 w 589"/>
                <a:gd name="T95" fmla="*/ 321 h 334"/>
                <a:gd name="T96" fmla="*/ 258 w 589"/>
                <a:gd name="T97" fmla="*/ 316 h 334"/>
                <a:gd name="T98" fmla="*/ 255 w 589"/>
                <a:gd name="T99" fmla="*/ 241 h 334"/>
                <a:gd name="T100" fmla="*/ 260 w 589"/>
                <a:gd name="T101" fmla="*/ 235 h 334"/>
                <a:gd name="T102" fmla="*/ 452 w 589"/>
                <a:gd name="T103" fmla="*/ 19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89" h="334">
                  <a:moveTo>
                    <a:pt x="245" y="311"/>
                  </a:moveTo>
                  <a:cubicBezTo>
                    <a:pt x="244" y="289"/>
                    <a:pt x="243" y="266"/>
                    <a:pt x="243" y="244"/>
                  </a:cubicBezTo>
                  <a:cubicBezTo>
                    <a:pt x="242" y="241"/>
                    <a:pt x="239" y="238"/>
                    <a:pt x="236" y="238"/>
                  </a:cubicBezTo>
                  <a:cubicBezTo>
                    <a:pt x="232" y="239"/>
                    <a:pt x="228" y="239"/>
                    <a:pt x="223" y="240"/>
                  </a:cubicBezTo>
                  <a:cubicBezTo>
                    <a:pt x="221" y="240"/>
                    <a:pt x="220" y="240"/>
                    <a:pt x="218" y="239"/>
                  </a:cubicBezTo>
                  <a:cubicBezTo>
                    <a:pt x="194" y="229"/>
                    <a:pt x="173" y="219"/>
                    <a:pt x="156" y="211"/>
                  </a:cubicBezTo>
                  <a:cubicBezTo>
                    <a:pt x="152" y="209"/>
                    <a:pt x="147" y="212"/>
                    <a:pt x="148" y="216"/>
                  </a:cubicBezTo>
                  <a:cubicBezTo>
                    <a:pt x="148" y="228"/>
                    <a:pt x="149" y="241"/>
                    <a:pt x="151" y="252"/>
                  </a:cubicBezTo>
                  <a:cubicBezTo>
                    <a:pt x="152" y="253"/>
                    <a:pt x="152" y="254"/>
                    <a:pt x="153" y="254"/>
                  </a:cubicBezTo>
                  <a:cubicBezTo>
                    <a:pt x="167" y="270"/>
                    <a:pt x="183" y="284"/>
                    <a:pt x="199" y="296"/>
                  </a:cubicBezTo>
                  <a:cubicBezTo>
                    <a:pt x="211" y="304"/>
                    <a:pt x="224" y="311"/>
                    <a:pt x="237" y="317"/>
                  </a:cubicBezTo>
                  <a:cubicBezTo>
                    <a:pt x="241" y="318"/>
                    <a:pt x="245" y="316"/>
                    <a:pt x="245" y="311"/>
                  </a:cubicBezTo>
                  <a:close/>
                  <a:moveTo>
                    <a:pt x="521" y="220"/>
                  </a:moveTo>
                  <a:cubicBezTo>
                    <a:pt x="522" y="222"/>
                    <a:pt x="522" y="222"/>
                    <a:pt x="524" y="223"/>
                  </a:cubicBezTo>
                  <a:cubicBezTo>
                    <a:pt x="530" y="224"/>
                    <a:pt x="534" y="229"/>
                    <a:pt x="534" y="235"/>
                  </a:cubicBezTo>
                  <a:cubicBezTo>
                    <a:pt x="534" y="237"/>
                    <a:pt x="534" y="237"/>
                    <a:pt x="536" y="238"/>
                  </a:cubicBezTo>
                  <a:cubicBezTo>
                    <a:pt x="545" y="241"/>
                    <a:pt x="551" y="249"/>
                    <a:pt x="552" y="262"/>
                  </a:cubicBezTo>
                  <a:cubicBezTo>
                    <a:pt x="553" y="279"/>
                    <a:pt x="539" y="308"/>
                    <a:pt x="527" y="320"/>
                  </a:cubicBezTo>
                  <a:cubicBezTo>
                    <a:pt x="512" y="334"/>
                    <a:pt x="515" y="327"/>
                    <a:pt x="520" y="313"/>
                  </a:cubicBezTo>
                  <a:cubicBezTo>
                    <a:pt x="524" y="300"/>
                    <a:pt x="504" y="290"/>
                    <a:pt x="501" y="268"/>
                  </a:cubicBezTo>
                  <a:cubicBezTo>
                    <a:pt x="500" y="257"/>
                    <a:pt x="501" y="249"/>
                    <a:pt x="506" y="244"/>
                  </a:cubicBezTo>
                  <a:cubicBezTo>
                    <a:pt x="507" y="243"/>
                    <a:pt x="507" y="242"/>
                    <a:pt x="506" y="241"/>
                  </a:cubicBezTo>
                  <a:cubicBezTo>
                    <a:pt x="506" y="239"/>
                    <a:pt x="505" y="237"/>
                    <a:pt x="505" y="235"/>
                  </a:cubicBezTo>
                  <a:cubicBezTo>
                    <a:pt x="505" y="232"/>
                    <a:pt x="507" y="228"/>
                    <a:pt x="510" y="226"/>
                  </a:cubicBezTo>
                  <a:cubicBezTo>
                    <a:pt x="511" y="224"/>
                    <a:pt x="511" y="224"/>
                    <a:pt x="511" y="222"/>
                  </a:cubicBezTo>
                  <a:cubicBezTo>
                    <a:pt x="505" y="202"/>
                    <a:pt x="500" y="187"/>
                    <a:pt x="495" y="174"/>
                  </a:cubicBezTo>
                  <a:cubicBezTo>
                    <a:pt x="495" y="173"/>
                    <a:pt x="493" y="172"/>
                    <a:pt x="491" y="173"/>
                  </a:cubicBezTo>
                  <a:cubicBezTo>
                    <a:pt x="405" y="199"/>
                    <a:pt x="327" y="215"/>
                    <a:pt x="224" y="227"/>
                  </a:cubicBezTo>
                  <a:cubicBezTo>
                    <a:pt x="223" y="227"/>
                    <a:pt x="222" y="227"/>
                    <a:pt x="221" y="227"/>
                  </a:cubicBezTo>
                  <a:cubicBezTo>
                    <a:pt x="162" y="201"/>
                    <a:pt x="127" y="184"/>
                    <a:pt x="95" y="162"/>
                  </a:cubicBezTo>
                  <a:cubicBezTo>
                    <a:pt x="67" y="142"/>
                    <a:pt x="42" y="118"/>
                    <a:pt x="5" y="81"/>
                  </a:cubicBezTo>
                  <a:cubicBezTo>
                    <a:pt x="2" y="78"/>
                    <a:pt x="0" y="72"/>
                    <a:pt x="9" y="72"/>
                  </a:cubicBezTo>
                  <a:cubicBezTo>
                    <a:pt x="86" y="67"/>
                    <a:pt x="142" y="61"/>
                    <a:pt x="194" y="51"/>
                  </a:cubicBezTo>
                  <a:cubicBezTo>
                    <a:pt x="250" y="40"/>
                    <a:pt x="302" y="25"/>
                    <a:pt x="372" y="0"/>
                  </a:cubicBezTo>
                  <a:cubicBezTo>
                    <a:pt x="374" y="0"/>
                    <a:pt x="376" y="0"/>
                    <a:pt x="378" y="2"/>
                  </a:cubicBezTo>
                  <a:cubicBezTo>
                    <a:pt x="416" y="37"/>
                    <a:pt x="449" y="63"/>
                    <a:pt x="484" y="84"/>
                  </a:cubicBezTo>
                  <a:cubicBezTo>
                    <a:pt x="514" y="102"/>
                    <a:pt x="545" y="117"/>
                    <a:pt x="581" y="132"/>
                  </a:cubicBezTo>
                  <a:cubicBezTo>
                    <a:pt x="589" y="135"/>
                    <a:pt x="589" y="140"/>
                    <a:pt x="581" y="143"/>
                  </a:cubicBezTo>
                  <a:cubicBezTo>
                    <a:pt x="555" y="152"/>
                    <a:pt x="531" y="160"/>
                    <a:pt x="507" y="167"/>
                  </a:cubicBezTo>
                  <a:cubicBezTo>
                    <a:pt x="505" y="168"/>
                    <a:pt x="504" y="170"/>
                    <a:pt x="505" y="172"/>
                  </a:cubicBezTo>
                  <a:cubicBezTo>
                    <a:pt x="509" y="184"/>
                    <a:pt x="514" y="199"/>
                    <a:pt x="521" y="220"/>
                  </a:cubicBezTo>
                  <a:close/>
                  <a:moveTo>
                    <a:pt x="452" y="197"/>
                  </a:moveTo>
                  <a:cubicBezTo>
                    <a:pt x="460" y="195"/>
                    <a:pt x="459" y="205"/>
                    <a:pt x="458" y="209"/>
                  </a:cubicBezTo>
                  <a:cubicBezTo>
                    <a:pt x="457" y="218"/>
                    <a:pt x="457" y="226"/>
                    <a:pt x="456" y="234"/>
                  </a:cubicBezTo>
                  <a:cubicBezTo>
                    <a:pt x="454" y="242"/>
                    <a:pt x="453" y="250"/>
                    <a:pt x="451" y="258"/>
                  </a:cubicBezTo>
                  <a:cubicBezTo>
                    <a:pt x="451" y="260"/>
                    <a:pt x="450" y="261"/>
                    <a:pt x="448" y="262"/>
                  </a:cubicBezTo>
                  <a:cubicBezTo>
                    <a:pt x="418" y="276"/>
                    <a:pt x="387" y="288"/>
                    <a:pt x="355" y="298"/>
                  </a:cubicBezTo>
                  <a:cubicBezTo>
                    <a:pt x="326" y="307"/>
                    <a:pt x="295" y="315"/>
                    <a:pt x="264" y="321"/>
                  </a:cubicBezTo>
                  <a:cubicBezTo>
                    <a:pt x="261" y="321"/>
                    <a:pt x="258" y="319"/>
                    <a:pt x="258" y="316"/>
                  </a:cubicBezTo>
                  <a:cubicBezTo>
                    <a:pt x="257" y="291"/>
                    <a:pt x="256" y="266"/>
                    <a:pt x="255" y="241"/>
                  </a:cubicBezTo>
                  <a:cubicBezTo>
                    <a:pt x="255" y="238"/>
                    <a:pt x="257" y="236"/>
                    <a:pt x="260" y="235"/>
                  </a:cubicBezTo>
                  <a:cubicBezTo>
                    <a:pt x="325" y="227"/>
                    <a:pt x="389" y="214"/>
                    <a:pt x="452" y="197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8078" y="1403"/>
              <a:ext cx="2610" cy="2610"/>
            </a:xfrm>
            <a:prstGeom prst="ellipse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八边形 8"/>
          <p:cNvSpPr/>
          <p:nvPr/>
        </p:nvSpPr>
        <p:spPr>
          <a:xfrm>
            <a:off x="5604510" y="4949825"/>
            <a:ext cx="1643380" cy="445770"/>
          </a:xfrm>
          <a:prstGeom prst="octagon">
            <a:avLst>
              <a:gd name="adj" fmla="val 2753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556250" y="4973320"/>
            <a:ext cx="1625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en-US" altLang="zh-CN" sz="20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  <a:sym typeface="+mn-ea"/>
              </a:rPr>
              <a:t> PART 01</a:t>
            </a:r>
            <a:endParaRPr lang="en-US" altLang="zh-CN" sz="2000" b="1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  <a:sym typeface="+mn-ea"/>
            </a:endParaRPr>
          </a:p>
        </p:txBody>
      </p:sp>
      <p:grpSp>
        <p:nvGrpSpPr>
          <p:cNvPr id="58" name="组合 57"/>
          <p:cNvGrpSpPr/>
          <p:nvPr/>
        </p:nvGrpSpPr>
        <p:grpSpPr>
          <a:xfrm rot="16200000">
            <a:off x="-845185" y="1463675"/>
            <a:ext cx="3479800" cy="1250950"/>
            <a:chOff x="169" y="209"/>
            <a:chExt cx="5480" cy="1970"/>
          </a:xfrm>
        </p:grpSpPr>
        <p:grpSp>
          <p:nvGrpSpPr>
            <p:cNvPr id="2" name="组合 1"/>
            <p:cNvGrpSpPr/>
            <p:nvPr/>
          </p:nvGrpSpPr>
          <p:grpSpPr>
            <a:xfrm flipH="1">
              <a:off x="169" y="209"/>
              <a:ext cx="5481" cy="1970"/>
              <a:chOff x="13719" y="55"/>
              <a:chExt cx="5481" cy="1970"/>
            </a:xfrm>
          </p:grpSpPr>
          <p:grpSp>
            <p:nvGrpSpPr>
              <p:cNvPr id="10" name="Group 4"/>
              <p:cNvGrpSpPr/>
              <p:nvPr userDrawn="1"/>
            </p:nvGrpSpPr>
            <p:grpSpPr>
              <a:xfrm rot="10800000">
                <a:off x="14586" y="777"/>
                <a:ext cx="4614" cy="1248"/>
                <a:chOff x="6492014" y="1638308"/>
                <a:chExt cx="938947" cy="25399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17" name="Diamond 5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18" name="Diamond 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" name="Diamond 7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grpSp>
            <p:nvGrpSpPr>
              <p:cNvPr id="11" name="Group 12"/>
              <p:cNvGrpSpPr/>
              <p:nvPr userDrawn="1"/>
            </p:nvGrpSpPr>
            <p:grpSpPr>
              <a:xfrm rot="10800000">
                <a:off x="13719" y="55"/>
                <a:ext cx="4614" cy="1248"/>
                <a:chOff x="6492014" y="1638308"/>
                <a:chExt cx="938947" cy="253992"/>
              </a:xfrm>
              <a:solidFill>
                <a:srgbClr val="C00000"/>
              </a:solidFill>
            </p:grpSpPr>
            <p:sp>
              <p:nvSpPr>
                <p:cNvPr id="15" name="Diamond 1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16" name="Diamond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1" name="Diamond 1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4" name="椭圆 53"/>
            <p:cNvSpPr/>
            <p:nvPr/>
          </p:nvSpPr>
          <p:spPr>
            <a:xfrm>
              <a:off x="583" y="1346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3116" y="624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 rot="5400000" flipH="1">
            <a:off x="95250" y="4151630"/>
            <a:ext cx="3479800" cy="1250950"/>
            <a:chOff x="169" y="209"/>
            <a:chExt cx="5480" cy="1970"/>
          </a:xfrm>
        </p:grpSpPr>
        <p:grpSp>
          <p:nvGrpSpPr>
            <p:cNvPr id="23" name="组合 22"/>
            <p:cNvGrpSpPr/>
            <p:nvPr/>
          </p:nvGrpSpPr>
          <p:grpSpPr>
            <a:xfrm flipH="1">
              <a:off x="169" y="209"/>
              <a:ext cx="5481" cy="1970"/>
              <a:chOff x="13719" y="55"/>
              <a:chExt cx="5481" cy="1970"/>
            </a:xfrm>
          </p:grpSpPr>
          <p:grpSp>
            <p:nvGrpSpPr>
              <p:cNvPr id="24" name="Group 4"/>
              <p:cNvGrpSpPr/>
              <p:nvPr userDrawn="1"/>
            </p:nvGrpSpPr>
            <p:grpSpPr>
              <a:xfrm rot="10800000">
                <a:off x="14586" y="777"/>
                <a:ext cx="4614" cy="1248"/>
                <a:chOff x="6492014" y="1638308"/>
                <a:chExt cx="938947" cy="25399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25" name="Diamond 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6" name="Diamond 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7" name="Diamond 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grpSp>
            <p:nvGrpSpPr>
              <p:cNvPr id="28" name="Group 12"/>
              <p:cNvGrpSpPr/>
              <p:nvPr userDrawn="1"/>
            </p:nvGrpSpPr>
            <p:grpSpPr>
              <a:xfrm rot="10800000">
                <a:off x="13719" y="55"/>
                <a:ext cx="4614" cy="1248"/>
                <a:chOff x="6492014" y="1638308"/>
                <a:chExt cx="938947" cy="253992"/>
              </a:xfrm>
              <a:solidFill>
                <a:srgbClr val="C00000"/>
              </a:solidFill>
            </p:grpSpPr>
            <p:sp>
              <p:nvSpPr>
                <p:cNvPr id="30" name="Diamond 13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1" name="Diamond 14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2" name="Diamond 15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3" name="椭圆 32"/>
            <p:cNvSpPr/>
            <p:nvPr/>
          </p:nvSpPr>
          <p:spPr>
            <a:xfrm>
              <a:off x="583" y="1346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3116" y="624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等腰三角形 47"/>
          <p:cNvSpPr/>
          <p:nvPr/>
        </p:nvSpPr>
        <p:spPr>
          <a:xfrm rot="16200000">
            <a:off x="11189970" y="3176270"/>
            <a:ext cx="1499235" cy="50482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/>
          <p:nvPr/>
        </p:nvCxnSpPr>
        <p:spPr>
          <a:xfrm flipH="1" flipV="1">
            <a:off x="293370" y="3190240"/>
            <a:ext cx="594360" cy="6388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 flipV="1">
            <a:off x="2197100" y="5085715"/>
            <a:ext cx="605155" cy="59880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925830" y="425450"/>
            <a:ext cx="594360" cy="6388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14:prism isContent="1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34" grpId="0"/>
      <p:bldP spid="34" grpId="1"/>
      <p:bldP spid="8" grpId="0"/>
      <p:bldP spid="8" grpId="1"/>
      <p:bldP spid="9" grpId="0" animBg="1"/>
      <p:bldP spid="9" grpId="1" animBg="1"/>
      <p:bldP spid="29" grpId="0"/>
      <p:bldP spid="29" grpId="1"/>
      <p:bldP spid="48" grpId="0" animBg="1"/>
      <p:bldP spid="48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210312" cy="21031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804672"/>
            <a:ext cx="1060704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07899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两条路线：人工总结 vs. 模型自己学习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28570" y="5355590"/>
            <a:ext cx="7134860" cy="716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457200" fontAlgn="auto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两条路线都是</a:t>
            </a: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根据2秒加速度窗口判断海鸟行为；</a:t>
            </a:r>
            <a:endParaRPr 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457200" fontAlgn="auto"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</a:t>
            </a: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在于“谁来找有用信息”。</a:t>
            </a:r>
            <a:endParaRPr 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078992" y="2084832"/>
            <a:ext cx="4709160" cy="2724912"/>
          </a:xfrm>
          <a:prstGeom prst="roundRect">
            <a:avLst>
              <a:gd name="adj" fmla="val 2685"/>
            </a:avLst>
          </a:prstGeom>
          <a:solidFill>
            <a:srgbClr val="FFF5E8"/>
          </a:solidFill>
          <a:ln w="13970">
            <a:solidFill>
              <a:srgbClr val="F8C68B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261872" y="2304288"/>
            <a:ext cx="4389120" cy="3108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07A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传统机器学习路线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261745" y="2999105"/>
            <a:ext cx="4601210" cy="11430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20000"/>
          </a:bodyPr>
          <a:lstStyle/>
          <a:p>
            <a:pPr indent="0" fontAlgn="auto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先由人把曲线翻译成“</a:t>
            </a:r>
            <a:r>
              <a:rPr lang="en-US" sz="17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动作指标</a:t>
            </a: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”：</a:t>
            </a:r>
            <a:endParaRPr lang="en-US" sz="1700" dirty="0"/>
          </a:p>
          <a:p>
            <a:pPr indent="0" fontAlgn="auto">
              <a:lnSpc>
                <a:spcPct val="130000"/>
              </a:lnSpc>
              <a:buNone/>
            </a:pPr>
            <a:r>
              <a:rPr lang="zh-CN" alt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</a:t>
            </a: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平均值、波动大小、姿态角、频率等。</a:t>
            </a:r>
            <a:endParaRPr lang="en-US" sz="1700" dirty="0"/>
          </a:p>
          <a:p>
            <a:pPr indent="0" fontAlgn="auto">
              <a:lnSpc>
                <a:spcPct val="130000"/>
              </a:lnSpc>
              <a:buNone/>
            </a:pPr>
            <a:endParaRPr lang="en-US" sz="1700" dirty="0"/>
          </a:p>
          <a:p>
            <a:pPr indent="0" fontAlgn="auto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再把这些数字交给 XGBoost 等模型</a:t>
            </a:r>
            <a:r>
              <a:rPr lang="zh-CN" alt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</a:t>
            </a: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判断。</a:t>
            </a:r>
            <a:endParaRPr lang="en-US" sz="17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261872" y="4370832"/>
            <a:ext cx="41148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关键词：特征工程</a:t>
            </a:r>
            <a:endParaRPr lang="en-US" sz="155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6400800" y="2084832"/>
            <a:ext cx="4709160" cy="2724912"/>
          </a:xfrm>
          <a:prstGeom prst="roundRect">
            <a:avLst>
              <a:gd name="adj" fmla="val 2685"/>
            </a:avLst>
          </a:prstGeom>
          <a:solidFill>
            <a:srgbClr val="EAF4FF"/>
          </a:solidFill>
          <a:ln w="13970">
            <a:solidFill>
              <a:srgbClr val="B9D9F5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6583680" y="2304288"/>
            <a:ext cx="4389120" cy="3108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6F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深度学习路线</a:t>
            </a:r>
            <a:endParaRPr lang="en-US" sz="18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6583680" y="2999232"/>
            <a:ext cx="4251960" cy="11430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lnSpcReduction="20000"/>
          </a:bodyPr>
          <a:lstStyle/>
          <a:p>
            <a:pPr indent="0" fontAlgn="auto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直接把原始加速度窗口交给神经网络。</a:t>
            </a:r>
            <a:endParaRPr lang="en-US" sz="1700" dirty="0"/>
          </a:p>
          <a:p>
            <a:pPr indent="0" fontAlgn="auto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模型自己从曲线里逐层寻找有用模式。</a:t>
            </a:r>
            <a:endParaRPr lang="en-US" sz="1700" dirty="0"/>
          </a:p>
          <a:p>
            <a:pPr indent="0" fontAlgn="auto">
              <a:lnSpc>
                <a:spcPct val="130000"/>
              </a:lnSpc>
              <a:buNone/>
            </a:pPr>
            <a:endParaRPr lang="en-US" sz="1700" dirty="0"/>
          </a:p>
          <a:p>
            <a:pPr indent="0" fontAlgn="auto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如局部波形、时间顺序、关键片段。</a:t>
            </a:r>
            <a:endParaRPr lang="en-US" sz="17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6583680" y="4370832"/>
            <a:ext cx="41148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关键词：自动特征学习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什么是机器学习？</a:t>
            </a:r>
            <a:endParaRPr lang="en-US" sz="2800" dirty="0"/>
          </a:p>
        </p:txBody>
      </p:sp>
      <p:grpSp>
        <p:nvGrpSpPr>
          <p:cNvPr id="36" name="组合 35"/>
          <p:cNvGrpSpPr/>
          <p:nvPr/>
        </p:nvGrpSpPr>
        <p:grpSpPr>
          <a:xfrm>
            <a:off x="5497195" y="2967355"/>
            <a:ext cx="7433310" cy="923290"/>
            <a:chOff x="7580" y="5552"/>
            <a:chExt cx="11706" cy="1454"/>
          </a:xfrm>
        </p:grpSpPr>
        <p:sp>
          <p:nvSpPr>
            <p:cNvPr id="35" name="圆角矩形 34"/>
            <p:cNvSpPr/>
            <p:nvPr/>
          </p:nvSpPr>
          <p:spPr>
            <a:xfrm>
              <a:off x="8095" y="5552"/>
              <a:ext cx="7288" cy="145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7580" y="5683"/>
              <a:ext cx="11706" cy="1126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/>
            <a:lstStyle/>
            <a:p>
              <a:pPr indent="457200" fontAlgn="auto">
                <a:buNone/>
              </a:pPr>
              <a:r>
                <a:rPr lang="zh-CN" alt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就像是我们做带答案的</a:t>
              </a:r>
              <a:r>
                <a:rPr lang="en-US" sz="2000" dirty="0">
                  <a:solidFill>
                    <a:srgbClr val="5B657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“例题”</a:t>
              </a: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，</a:t>
              </a:r>
              <a:endPara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  <a:p>
              <a:pPr indent="457200" fontAlgn="auto">
                <a:buNone/>
              </a:pPr>
              <a:r>
                <a:rPr lang="zh-CN" alt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掌握题目的规律</a:t>
              </a: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以后</a:t>
              </a:r>
              <a:r>
                <a:rPr lang="zh-CN" alt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，能够参加考试</a:t>
              </a:r>
              <a:r>
                <a:rPr lang="en-US" sz="20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。</a:t>
              </a:r>
              <a:endPara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18" name="Text 16"/>
          <p:cNvSpPr/>
          <p:nvPr/>
        </p:nvSpPr>
        <p:spPr>
          <a:xfrm>
            <a:off x="5331143" y="1749425"/>
            <a:ext cx="5394960" cy="7315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indent="457200" fontAlgn="auto">
              <a:buNone/>
            </a:pPr>
            <a:r>
              <a:rPr 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机器学习不是</a:t>
            </a: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给定一个</a:t>
            </a:r>
            <a:r>
              <a:rPr 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规则，而是让</a:t>
            </a:r>
            <a:r>
              <a:rPr lang="zh-CN" alt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机器</a:t>
            </a:r>
            <a:r>
              <a:rPr lang="en-US" sz="2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从已有例子中总结规则。</a:t>
            </a:r>
            <a:endParaRPr lang="en-US" sz="24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5910580" y="4407535"/>
            <a:ext cx="4345940" cy="1508760"/>
            <a:chOff x="7993" y="5400"/>
            <a:chExt cx="8568" cy="2376"/>
          </a:xfrm>
        </p:grpSpPr>
        <p:sp>
          <p:nvSpPr>
            <p:cNvPr id="19" name="Shape 17"/>
            <p:cNvSpPr/>
            <p:nvPr/>
          </p:nvSpPr>
          <p:spPr>
            <a:xfrm>
              <a:off x="7993" y="5400"/>
              <a:ext cx="8568" cy="2376"/>
            </a:xfrm>
            <a:prstGeom prst="roundRect">
              <a:avLst>
                <a:gd name="adj" fmla="val 4848"/>
              </a:avLst>
            </a:prstGeom>
            <a:solidFill>
              <a:srgbClr val="EAF3FB"/>
            </a:solidFill>
            <a:ln w="12700">
              <a:solidFill>
                <a:srgbClr val="EAF3FB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8252" y="5616"/>
              <a:ext cx="8050" cy="46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>
                <a:buNone/>
              </a:pPr>
              <a:r>
                <a:rPr lang="zh-CN" altLang="en-US" sz="20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具体到我们</a:t>
              </a:r>
              <a:r>
                <a:rPr lang="en-US" sz="20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项目中的输入/输出</a:t>
              </a:r>
              <a:endParaRPr lang="en-US" sz="20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8252" y="6235"/>
              <a:ext cx="8050" cy="1397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输入：一段 2 秒的三轴加速度窗口</a:t>
              </a:r>
              <a:endParaRPr lang="en-US" dirty="0"/>
            </a:p>
            <a:p>
              <a:pPr marL="0" indent="0">
                <a:buNone/>
              </a:pPr>
              <a:r>
                <a:rPr lang="en-US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输出：六类海鸟行为之一</a:t>
              </a:r>
              <a:endParaRPr 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23" name="Shape 4"/>
          <p:cNvSpPr/>
          <p:nvPr>
            <p:custDataLst>
              <p:tags r:id="rId1"/>
            </p:custDataLst>
          </p:nvPr>
        </p:nvSpPr>
        <p:spPr>
          <a:xfrm>
            <a:off x="655320" y="2002790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EAF4FF"/>
          </a:solidFill>
          <a:ln w="13970">
            <a:solidFill>
              <a:srgbClr val="B9D9F5"/>
            </a:solidFill>
            <a:prstDash val="solid"/>
          </a:ln>
        </p:spPr>
      </p:sp>
      <p:sp>
        <p:nvSpPr>
          <p:cNvPr id="24" name="Text 5"/>
          <p:cNvSpPr/>
          <p:nvPr>
            <p:custDataLst>
              <p:tags r:id="rId2"/>
            </p:custDataLst>
          </p:nvPr>
        </p:nvSpPr>
        <p:spPr>
          <a:xfrm>
            <a:off x="838200" y="2158238"/>
            <a:ext cx="3474720" cy="22860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6F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训练样本</a:t>
            </a:r>
            <a:endParaRPr lang="en-US" b="1" dirty="0">
              <a:solidFill>
                <a:srgbClr val="1F6F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6"/>
          <p:cNvSpPr/>
          <p:nvPr>
            <p:custDataLst>
              <p:tags r:id="rId3"/>
            </p:custDataLst>
          </p:nvPr>
        </p:nvSpPr>
        <p:spPr>
          <a:xfrm>
            <a:off x="838200" y="2523998"/>
            <a:ext cx="34747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2秒加速度曲线  +  正确行为标签</a:t>
            </a:r>
            <a:endParaRPr lang="en-US" sz="14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7"/>
          <p:cNvSpPr/>
          <p:nvPr>
            <p:custDataLst>
              <p:tags r:id="rId4"/>
            </p:custDataLst>
          </p:nvPr>
        </p:nvSpPr>
        <p:spPr>
          <a:xfrm>
            <a:off x="2575560" y="2889758"/>
            <a:ext cx="0" cy="301752"/>
          </a:xfrm>
          <a:prstGeom prst="line">
            <a:avLst/>
          </a:prstGeom>
          <a:noFill/>
          <a:ln w="17780">
            <a:solidFill>
              <a:srgbClr val="1F6FBF"/>
            </a:solidFill>
            <a:prstDash val="solid"/>
            <a:headEnd type="none"/>
            <a:tailEnd type="triangle"/>
          </a:ln>
        </p:spPr>
      </p:sp>
      <p:sp>
        <p:nvSpPr>
          <p:cNvPr id="27" name="Shape 8"/>
          <p:cNvSpPr/>
          <p:nvPr>
            <p:custDataLst>
              <p:tags r:id="rId5"/>
            </p:custDataLst>
          </p:nvPr>
        </p:nvSpPr>
        <p:spPr>
          <a:xfrm>
            <a:off x="655320" y="3237230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EAF4FF"/>
          </a:solidFill>
          <a:ln w="13970">
            <a:solidFill>
              <a:srgbClr val="B9D9F5"/>
            </a:solidFill>
            <a:prstDash val="solid"/>
          </a:ln>
        </p:spPr>
      </p:sp>
      <p:sp>
        <p:nvSpPr>
          <p:cNvPr id="28" name="Text 9"/>
          <p:cNvSpPr/>
          <p:nvPr>
            <p:custDataLst>
              <p:tags r:id="rId6"/>
            </p:custDataLst>
          </p:nvPr>
        </p:nvSpPr>
        <p:spPr>
          <a:xfrm>
            <a:off x="838200" y="3392678"/>
            <a:ext cx="3474720" cy="22860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6F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学习规律</a:t>
            </a:r>
            <a:endParaRPr lang="en-US" b="1" dirty="0">
              <a:solidFill>
                <a:srgbClr val="1F6F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Text 10"/>
          <p:cNvSpPr/>
          <p:nvPr>
            <p:custDataLst>
              <p:tags r:id="rId7"/>
            </p:custDataLst>
          </p:nvPr>
        </p:nvSpPr>
        <p:spPr>
          <a:xfrm>
            <a:off x="838200" y="3749294"/>
            <a:ext cx="34747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哪些曲线形状对应哪些行为？</a:t>
            </a:r>
            <a:endParaRPr lang="en-US" sz="14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Shape 11"/>
          <p:cNvSpPr/>
          <p:nvPr>
            <p:custDataLst>
              <p:tags r:id="rId8"/>
            </p:custDataLst>
          </p:nvPr>
        </p:nvSpPr>
        <p:spPr>
          <a:xfrm>
            <a:off x="2575560" y="4124198"/>
            <a:ext cx="0" cy="283464"/>
          </a:xfrm>
          <a:prstGeom prst="line">
            <a:avLst/>
          </a:prstGeom>
          <a:noFill/>
          <a:ln w="17780">
            <a:solidFill>
              <a:srgbClr val="1F6FBF"/>
            </a:solidFill>
            <a:prstDash val="solid"/>
            <a:headEnd type="none"/>
            <a:tailEnd type="triangle"/>
          </a:ln>
        </p:spPr>
      </p:sp>
      <p:sp>
        <p:nvSpPr>
          <p:cNvPr id="31" name="Shape 12"/>
          <p:cNvSpPr/>
          <p:nvPr>
            <p:custDataLst>
              <p:tags r:id="rId9"/>
            </p:custDataLst>
          </p:nvPr>
        </p:nvSpPr>
        <p:spPr>
          <a:xfrm>
            <a:off x="655320" y="4471670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EAF4FF"/>
          </a:solidFill>
          <a:ln w="13970">
            <a:solidFill>
              <a:srgbClr val="B9D9F5"/>
            </a:solidFill>
            <a:prstDash val="solid"/>
          </a:ln>
        </p:spPr>
      </p:sp>
      <p:sp>
        <p:nvSpPr>
          <p:cNvPr id="32" name="Text 13"/>
          <p:cNvSpPr/>
          <p:nvPr>
            <p:custDataLst>
              <p:tags r:id="rId10"/>
            </p:custDataLst>
          </p:nvPr>
        </p:nvSpPr>
        <p:spPr>
          <a:xfrm>
            <a:off x="838200" y="4627118"/>
            <a:ext cx="3474720" cy="22860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6F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预测新窗口</a:t>
            </a:r>
            <a:endParaRPr lang="en-US" b="1" dirty="0">
              <a:solidFill>
                <a:srgbClr val="1F6F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Text 14"/>
          <p:cNvSpPr/>
          <p:nvPr>
            <p:custDataLst>
              <p:tags r:id="rId11"/>
            </p:custDataLst>
          </p:nvPr>
        </p:nvSpPr>
        <p:spPr>
          <a:xfrm>
            <a:off x="838200" y="4956302"/>
            <a:ext cx="34747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看到一段没标注的曲线，输出最可能的行为</a:t>
            </a:r>
            <a:endParaRPr lang="en-US" sz="14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210312" cy="21031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804672"/>
            <a:ext cx="1060704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07899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什么是特征工程？</a:t>
            </a:r>
            <a:endParaRPr lang="en-US" sz="2800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828800" y="1607185"/>
            <a:ext cx="8994140" cy="2831465"/>
            <a:chOff x="2880" y="3023"/>
            <a:chExt cx="14164" cy="4459"/>
          </a:xfrm>
        </p:grpSpPr>
        <p:sp>
          <p:nvSpPr>
            <p:cNvPr id="6" name="Text 4"/>
            <p:cNvSpPr/>
            <p:nvPr/>
          </p:nvSpPr>
          <p:spPr>
            <a:xfrm>
              <a:off x="2880" y="3427"/>
              <a:ext cx="3744" cy="490"/>
            </a:xfrm>
            <a:prstGeom prst="rect">
              <a:avLst/>
            </a:prstGeom>
            <a:noFill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一段 2 秒的曲线</a:t>
              </a:r>
              <a:endParaRPr lang="en-US" sz="18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883" y="5371"/>
              <a:ext cx="1066" cy="0"/>
            </a:xfrm>
            <a:prstGeom prst="line">
              <a:avLst/>
            </a:prstGeom>
            <a:noFill/>
            <a:ln w="17780">
              <a:solidFill>
                <a:srgbClr val="666666"/>
              </a:solidFill>
              <a:prstDash val="solid"/>
              <a:headEnd type="none"/>
              <a:tailEnd type="triangle"/>
            </a:ln>
          </p:spPr>
        </p:sp>
        <p:sp>
          <p:nvSpPr>
            <p:cNvPr id="10" name="Shape 8"/>
            <p:cNvSpPr/>
            <p:nvPr/>
          </p:nvSpPr>
          <p:spPr>
            <a:xfrm>
              <a:off x="8764" y="3023"/>
              <a:ext cx="8280" cy="4459"/>
            </a:xfrm>
            <a:prstGeom prst="roundRect">
              <a:avLst>
                <a:gd name="adj" fmla="val 2857"/>
              </a:avLst>
            </a:prstGeom>
            <a:solidFill>
              <a:srgbClr val="FFF5E8"/>
            </a:solidFill>
            <a:ln w="13970">
              <a:solidFill>
                <a:srgbClr val="F8C68B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9052" y="3368"/>
              <a:ext cx="7488" cy="490"/>
            </a:xfrm>
            <a:prstGeom prst="rect">
              <a:avLst/>
            </a:prstGeom>
            <a:noFill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07A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119 个动作指标</a:t>
              </a:r>
              <a:endParaRPr lang="en-US" sz="2400" b="1" dirty="0">
                <a:solidFill>
                  <a:srgbClr val="F07A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9284" y="4057"/>
              <a:ext cx="7488" cy="3243"/>
            </a:xfrm>
            <a:prstGeom prst="rect">
              <a:avLst/>
            </a:prstGeom>
            <a:noFill/>
          </p:spPr>
          <p:txBody>
            <a:bodyPr wrap="square" lIns="508" tIns="508" rIns="508" bIns="508" rtlCol="0" anchor="ctr">
              <a:noAutofit/>
            </a:bodyPr>
            <a:lstStyle/>
            <a:p>
              <a:pPr indent="0" algn="ctr" fontAlgn="auto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这 2 秒晃得剧烈吗？</a:t>
              </a:r>
              <a:endParaRPr lang="en-US" dirty="0"/>
            </a:p>
            <a:p>
              <a:pPr indent="0" algn="ctr" fontAlgn="auto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身体角度有没有变化？</a:t>
              </a:r>
              <a:endParaRPr lang="en-US" dirty="0"/>
            </a:p>
            <a:p>
              <a:pPr indent="0" algn="ctr" fontAlgn="auto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有没有周期性振动？</a:t>
              </a:r>
              <a:endParaRPr lang="en-US" dirty="0"/>
            </a:p>
            <a:p>
              <a:pPr indent="0" algn="ctr" fontAlgn="auto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Z 轴最大值是多少？</a:t>
              </a:r>
              <a:endParaRPr lang="en-US" dirty="0"/>
            </a:p>
            <a:p>
              <a:pPr indent="0" algn="ctr" fontAlgn="auto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三个轴是不是一起变化？</a:t>
              </a:r>
              <a:endParaRPr 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  <a:p>
              <a:pPr indent="0" algn="ctr" fontAlgn="auto">
                <a:lnSpc>
                  <a:spcPct val="130000"/>
                </a:lnSpc>
                <a:buNone/>
              </a:pPr>
              <a:r>
                <a:rPr lang="en-US" altLang="zh-CN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......</a:t>
              </a:r>
              <a:endParaRPr lang="en-US" altLang="zh-CN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13" name="Text 11"/>
          <p:cNvSpPr/>
          <p:nvPr/>
        </p:nvSpPr>
        <p:spPr>
          <a:xfrm>
            <a:off x="3877310" y="1107059"/>
            <a:ext cx="95097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就是把原始曲线翻译成模型更容易理解的“动作描述”。</a:t>
            </a:r>
            <a:endParaRPr lang="en-US" sz="1800" dirty="0"/>
          </a:p>
        </p:txBody>
      </p:sp>
      <p:graphicFrame>
        <p:nvGraphicFramePr>
          <p:cNvPr id="16" name="表格 15"/>
          <p:cNvGraphicFramePr/>
          <p:nvPr/>
        </p:nvGraphicFramePr>
        <p:xfrm>
          <a:off x="941070" y="2430780"/>
          <a:ext cx="3265170" cy="15240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970325"/>
                <a:gridCol w="1147423"/>
                <a:gridCol w="1147422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ym typeface="+mn-ea"/>
                        </a:rPr>
                        <a:t>静态分量</a:t>
                      </a:r>
                      <a:endParaRPr lang="zh-CN" altLang="en-US" sz="1400"/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ym typeface="+mn-ea"/>
                        </a:rPr>
                        <a:t>动态分量</a:t>
                      </a:r>
                      <a:endParaRPr lang="zh-CN" altLang="en-US" sz="1400"/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姿态/强度指标</a:t>
                      </a:r>
                      <a:endParaRPr lang="zh-CN" altLang="en-US" sz="1400"/>
                    </a:p>
                  </a:txBody>
                  <a:tcPr marL="0" marR="0" marT="0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ym typeface="+mn-ea"/>
                        </a:rPr>
                        <a:t>acc_x_st</a:t>
                      </a:r>
                      <a:endParaRPr lang="zh-CN" altLang="en-US" sz="1400"/>
                    </a:p>
                  </a:txBody>
                  <a:tcPr marL="0" marR="0" marT="0" marB="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ym typeface="+mn-ea"/>
                        </a:rPr>
                        <a:t>acc_x_dy</a:t>
                      </a:r>
                      <a:endParaRPr lang="en-US" altLang="zh-CN" sz="1400"/>
                    </a:p>
                  </a:txBody>
                  <a:tcPr marL="0" marR="0" marT="0" marB="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pitch</a:t>
                      </a:r>
                      <a:endParaRPr lang="en-US" altLang="zh-CN" sz="1400"/>
                    </a:p>
                  </a:txBody>
                  <a:tcPr marL="0" marR="0" marT="0" marB="0" anchor="ctr"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ym typeface="+mn-ea"/>
                        </a:rPr>
                        <a:t>acc_y_st </a:t>
                      </a:r>
                      <a:endParaRPr lang="zh-CN" altLang="en-US" sz="1400"/>
                    </a:p>
                  </a:txBody>
                  <a:tcPr marL="0" marR="0" marT="0" marB="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acc_y_</a:t>
                      </a:r>
                      <a:r>
                        <a:rPr lang="en-US" altLang="zh-CN" sz="1400">
                          <a:sym typeface="+mn-ea"/>
                        </a:rPr>
                        <a:t>dy</a:t>
                      </a:r>
                      <a:r>
                        <a:rPr lang="en-US" altLang="zh-CN" sz="1400"/>
                        <a:t> </a:t>
                      </a:r>
                      <a:endParaRPr lang="en-US" altLang="zh-CN" sz="1400"/>
                    </a:p>
                  </a:txBody>
                  <a:tcPr marL="0" marR="0" marT="0" marB="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roll</a:t>
                      </a:r>
                      <a:endParaRPr lang="en-US" altLang="zh-CN" sz="1400"/>
                    </a:p>
                  </a:txBody>
                  <a:tcPr marL="0" marR="0" marT="0" marB="0" anchor="ctr"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acc_z_st </a:t>
                      </a:r>
                      <a:endParaRPr lang="zh-CN" altLang="en-US" sz="1400"/>
                    </a:p>
                  </a:txBody>
                  <a:tcPr marL="0" marR="0" marT="0" marB="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acc_z_</a:t>
                      </a:r>
                      <a:r>
                        <a:rPr lang="en-US" altLang="zh-CN" sz="1400">
                          <a:sym typeface="+mn-ea"/>
                        </a:rPr>
                        <a:t>dy</a:t>
                      </a:r>
                      <a:endParaRPr lang="en-US" altLang="zh-CN" sz="1400"/>
                    </a:p>
                  </a:txBody>
                  <a:tcPr marL="0" marR="0" marT="0" marB="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VeDBA     </a:t>
                      </a:r>
                      <a:endParaRPr lang="en-US" altLang="zh-CN" sz="1400"/>
                    </a:p>
                  </a:txBody>
                  <a:tcPr marL="0" marR="0" marT="0" marB="0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7" name="Text 3"/>
          <p:cNvSpPr/>
          <p:nvPr/>
        </p:nvSpPr>
        <p:spPr>
          <a:xfrm>
            <a:off x="429578" y="456184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</a:t>
            </a:r>
            <a:r>
              <a:rPr lang="en-US" sz="2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不需要逐个记</a:t>
            </a:r>
            <a:r>
              <a:rPr lang="en-US" sz="2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119个特征</a:t>
            </a:r>
            <a:r>
              <a:rPr lang="en-US" sz="2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，只要知道</a:t>
            </a:r>
            <a:r>
              <a:rPr lang="zh-CN" altLang="en-US" sz="2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类别：</a:t>
            </a:r>
            <a:endParaRPr lang="zh-CN" altLang="en-US" sz="20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603250" y="5188585"/>
            <a:ext cx="2541270" cy="1234440"/>
            <a:chOff x="734" y="8315"/>
            <a:chExt cx="4002" cy="1944"/>
          </a:xfrm>
        </p:grpSpPr>
        <p:sp>
          <p:nvSpPr>
            <p:cNvPr id="30" name="Shape 5"/>
            <p:cNvSpPr/>
            <p:nvPr>
              <p:custDataLst>
                <p:tags r:id="rId2"/>
              </p:custDataLst>
            </p:nvPr>
          </p:nvSpPr>
          <p:spPr>
            <a:xfrm>
              <a:off x="734" y="8315"/>
              <a:ext cx="4002" cy="1944"/>
            </a:xfrm>
            <a:prstGeom prst="roundRect">
              <a:avLst>
                <a:gd name="adj" fmla="val 5926"/>
              </a:avLst>
            </a:prstGeom>
            <a:solidFill>
              <a:srgbClr val="FFF3F3"/>
            </a:solidFill>
            <a:ln w="12700">
              <a:solidFill>
                <a:srgbClr val="E0E0E0"/>
              </a:solidFill>
              <a:prstDash val="solid"/>
            </a:ln>
          </p:spPr>
        </p:sp>
        <p:sp>
          <p:nvSpPr>
            <p:cNvPr id="31" name="Text 6"/>
            <p:cNvSpPr/>
            <p:nvPr>
              <p:custDataLst>
                <p:tags r:id="rId3"/>
              </p:custDataLst>
            </p:nvPr>
          </p:nvSpPr>
          <p:spPr>
            <a:xfrm>
              <a:off x="993" y="8531"/>
              <a:ext cx="3743" cy="46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运动强度</a:t>
              </a:r>
              <a:r>
                <a:rPr lang="zh-CN" altLang="en-US" sz="17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（含</a:t>
              </a:r>
              <a:r>
                <a:rPr lang="en-US" altLang="zh-CN" sz="17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28</a:t>
              </a:r>
              <a:r>
                <a:rPr lang="zh-CN" altLang="en-US" sz="17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个</a:t>
              </a:r>
              <a:r>
                <a:rPr lang="zh-CN" altLang="en-US" sz="17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特征）</a:t>
              </a:r>
              <a:endParaRPr lang="zh-CN" altLang="en-US" sz="1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2" name="Text 7"/>
            <p:cNvSpPr/>
            <p:nvPr>
              <p:custDataLst>
                <p:tags r:id="rId4"/>
              </p:custDataLst>
            </p:nvPr>
          </p:nvSpPr>
          <p:spPr>
            <a:xfrm>
              <a:off x="993" y="9150"/>
              <a:ext cx="3743" cy="965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VeDBA、ODBA、动态加速度</a:t>
              </a:r>
              <a:endParaRPr lang="en-US" sz="1350" dirty="0"/>
            </a:p>
            <a:p>
              <a:pPr marL="0" indent="0">
                <a:buNone/>
              </a:pPr>
              <a:r>
                <a:rPr lang="en-US" sz="135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描述晃动有多强</a:t>
              </a:r>
              <a:endParaRPr lang="en-US" sz="1350" dirty="0"/>
            </a:p>
          </p:txBody>
        </p:sp>
      </p:grpSp>
      <p:grpSp>
        <p:nvGrpSpPr>
          <p:cNvPr id="43" name="组合 42"/>
          <p:cNvGrpSpPr/>
          <p:nvPr>
            <p:custDataLst>
              <p:tags r:id="rId5"/>
            </p:custDataLst>
          </p:nvPr>
        </p:nvGrpSpPr>
        <p:grpSpPr>
          <a:xfrm>
            <a:off x="3447415" y="5188585"/>
            <a:ext cx="2541270" cy="1234440"/>
            <a:chOff x="5359" y="8171"/>
            <a:chExt cx="4002" cy="1944"/>
          </a:xfrm>
        </p:grpSpPr>
        <p:sp>
          <p:nvSpPr>
            <p:cNvPr id="33" name="Shape 8"/>
            <p:cNvSpPr/>
            <p:nvPr>
              <p:custDataLst>
                <p:tags r:id="rId6"/>
              </p:custDataLst>
            </p:nvPr>
          </p:nvSpPr>
          <p:spPr>
            <a:xfrm>
              <a:off x="5359" y="8171"/>
              <a:ext cx="4002" cy="1944"/>
            </a:xfrm>
            <a:prstGeom prst="roundRect">
              <a:avLst>
                <a:gd name="adj" fmla="val 5926"/>
              </a:avLst>
            </a:prstGeom>
            <a:solidFill>
              <a:srgbClr val="EAF3FB"/>
            </a:solidFill>
            <a:ln w="12700">
              <a:solidFill>
                <a:srgbClr val="E0E0E0"/>
              </a:solidFill>
              <a:prstDash val="solid"/>
            </a:ln>
          </p:spPr>
        </p:sp>
        <p:sp>
          <p:nvSpPr>
            <p:cNvPr id="34" name="Text 9"/>
            <p:cNvSpPr/>
            <p:nvPr>
              <p:custDataLst>
                <p:tags r:id="rId7"/>
              </p:custDataLst>
            </p:nvPr>
          </p:nvSpPr>
          <p:spPr>
            <a:xfrm>
              <a:off x="5618" y="8387"/>
              <a:ext cx="3743" cy="46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姿态变化</a:t>
              </a:r>
              <a:r>
                <a:rPr lang="zh-CN" altLang="en-US" sz="17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（含</a:t>
              </a:r>
              <a:r>
                <a:rPr lang="en-US" altLang="zh-CN" sz="17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10</a:t>
              </a:r>
              <a:r>
                <a:rPr lang="zh-CN" altLang="en-US" sz="17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个</a:t>
              </a:r>
              <a:r>
                <a:rPr lang="zh-CN" altLang="en-US" sz="17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特征）</a:t>
              </a:r>
              <a:endParaRPr lang="zh-CN" altLang="en-US" sz="17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5" name="Text 10"/>
            <p:cNvSpPr/>
            <p:nvPr>
              <p:custDataLst>
                <p:tags r:id="rId8"/>
              </p:custDataLst>
            </p:nvPr>
          </p:nvSpPr>
          <p:spPr>
            <a:xfrm>
              <a:off x="5618" y="9006"/>
              <a:ext cx="3743" cy="965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Pitch、Roll</a:t>
              </a:r>
              <a:endParaRPr lang="en-US" sz="1350" dirty="0"/>
            </a:p>
            <a:p>
              <a:pPr marL="0" indent="0">
                <a:buNone/>
              </a:pPr>
              <a:r>
                <a:rPr lang="en-US" sz="135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描述身体角度变化</a:t>
              </a:r>
              <a:endParaRPr lang="en-US" sz="1350" dirty="0"/>
            </a:p>
          </p:txBody>
        </p:sp>
      </p:grpSp>
      <p:grpSp>
        <p:nvGrpSpPr>
          <p:cNvPr id="44" name="组合 43"/>
          <p:cNvGrpSpPr/>
          <p:nvPr>
            <p:custDataLst>
              <p:tags r:id="rId9"/>
            </p:custDataLst>
          </p:nvPr>
        </p:nvGrpSpPr>
        <p:grpSpPr>
          <a:xfrm>
            <a:off x="6291580" y="5188585"/>
            <a:ext cx="2541270" cy="1234440"/>
            <a:chOff x="9513" y="8171"/>
            <a:chExt cx="4002" cy="1944"/>
          </a:xfrm>
        </p:grpSpPr>
        <p:sp>
          <p:nvSpPr>
            <p:cNvPr id="36" name="Shape 11"/>
            <p:cNvSpPr/>
            <p:nvPr>
              <p:custDataLst>
                <p:tags r:id="rId10"/>
              </p:custDataLst>
            </p:nvPr>
          </p:nvSpPr>
          <p:spPr>
            <a:xfrm>
              <a:off x="9513" y="8171"/>
              <a:ext cx="4002" cy="1944"/>
            </a:xfrm>
            <a:prstGeom prst="roundRect">
              <a:avLst>
                <a:gd name="adj" fmla="val 5926"/>
              </a:avLst>
            </a:prstGeom>
            <a:solidFill>
              <a:srgbClr val="FFF3F3"/>
            </a:solidFill>
            <a:ln w="12700">
              <a:solidFill>
                <a:srgbClr val="E0E0E0"/>
              </a:solidFill>
              <a:prstDash val="solid"/>
            </a:ln>
          </p:spPr>
        </p:sp>
        <p:sp>
          <p:nvSpPr>
            <p:cNvPr id="37" name="Text 12"/>
            <p:cNvSpPr/>
            <p:nvPr>
              <p:custDataLst>
                <p:tags r:id="rId11"/>
              </p:custDataLst>
            </p:nvPr>
          </p:nvSpPr>
          <p:spPr>
            <a:xfrm>
              <a:off x="9772" y="8387"/>
              <a:ext cx="3743" cy="46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三轴统计</a:t>
              </a:r>
              <a:r>
                <a:rPr lang="zh-CN" altLang="en-US" sz="17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（含</a:t>
              </a:r>
              <a:r>
                <a:rPr lang="en-US" altLang="zh-CN" sz="17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63</a:t>
              </a:r>
              <a:r>
                <a:rPr lang="zh-CN" altLang="en-US" sz="17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个</a:t>
              </a:r>
              <a:r>
                <a:rPr lang="zh-CN" altLang="en-US" sz="17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特征）</a:t>
              </a:r>
              <a:endParaRPr lang="zh-CN" altLang="en-US" sz="1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38" name="Text 13"/>
            <p:cNvSpPr/>
            <p:nvPr>
              <p:custDataLst>
                <p:tags r:id="rId12"/>
              </p:custDataLst>
            </p:nvPr>
          </p:nvSpPr>
          <p:spPr>
            <a:xfrm>
              <a:off x="9772" y="9006"/>
              <a:ext cx="3743" cy="965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均值、最大值、方差</a:t>
              </a:r>
              <a:endParaRPr lang="en-US" sz="1350" dirty="0"/>
            </a:p>
            <a:p>
              <a:pPr marL="0" indent="0">
                <a:buNone/>
              </a:pPr>
              <a:r>
                <a:rPr lang="en-US" sz="135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描述曲线整体形状</a:t>
              </a:r>
              <a:endParaRPr lang="en-US" sz="1350" dirty="0"/>
            </a:p>
          </p:txBody>
        </p:sp>
      </p:grpSp>
      <p:grpSp>
        <p:nvGrpSpPr>
          <p:cNvPr id="45" name="组合 44"/>
          <p:cNvGrpSpPr/>
          <p:nvPr>
            <p:custDataLst>
              <p:tags r:id="rId13"/>
            </p:custDataLst>
          </p:nvPr>
        </p:nvGrpSpPr>
        <p:grpSpPr>
          <a:xfrm>
            <a:off x="9135745" y="5188585"/>
            <a:ext cx="2541270" cy="1234440"/>
            <a:chOff x="14171" y="8027"/>
            <a:chExt cx="4002" cy="1944"/>
          </a:xfrm>
        </p:grpSpPr>
        <p:sp>
          <p:nvSpPr>
            <p:cNvPr id="39" name="Shape 14"/>
            <p:cNvSpPr/>
            <p:nvPr>
              <p:custDataLst>
                <p:tags r:id="rId14"/>
              </p:custDataLst>
            </p:nvPr>
          </p:nvSpPr>
          <p:spPr>
            <a:xfrm>
              <a:off x="14171" y="8027"/>
              <a:ext cx="4002" cy="1944"/>
            </a:xfrm>
            <a:prstGeom prst="roundRect">
              <a:avLst>
                <a:gd name="adj" fmla="val 5926"/>
              </a:avLst>
            </a:prstGeom>
            <a:solidFill>
              <a:srgbClr val="EAF3FB"/>
            </a:solidFill>
            <a:ln w="12700">
              <a:solidFill>
                <a:srgbClr val="E0E0E0"/>
              </a:solidFill>
              <a:prstDash val="solid"/>
            </a:ln>
          </p:spPr>
        </p:sp>
        <p:sp>
          <p:nvSpPr>
            <p:cNvPr id="40" name="Text 15"/>
            <p:cNvSpPr/>
            <p:nvPr>
              <p:custDataLst>
                <p:tags r:id="rId15"/>
              </p:custDataLst>
            </p:nvPr>
          </p:nvSpPr>
          <p:spPr>
            <a:xfrm>
              <a:off x="14430" y="8243"/>
              <a:ext cx="3743" cy="46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频率信息</a:t>
              </a:r>
              <a:r>
                <a:rPr lang="zh-CN" altLang="en-US" sz="17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（含</a:t>
              </a:r>
              <a:r>
                <a:rPr lang="en-US" altLang="zh-CN" sz="17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18</a:t>
              </a:r>
              <a:r>
                <a:rPr lang="zh-CN" altLang="en-US" sz="17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个</a:t>
              </a:r>
              <a:r>
                <a:rPr lang="zh-CN" altLang="en-US" sz="1700" b="1" dirty="0">
                  <a:solidFill>
                    <a:srgbClr val="2B75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特征）</a:t>
              </a:r>
              <a:endParaRPr lang="zh-CN" altLang="en-US" sz="17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1" name="Text 16"/>
            <p:cNvSpPr/>
            <p:nvPr>
              <p:custDataLst>
                <p:tags r:id="rId16"/>
              </p:custDataLst>
            </p:nvPr>
          </p:nvSpPr>
          <p:spPr>
            <a:xfrm>
              <a:off x="14430" y="8862"/>
              <a:ext cx="3743" cy="965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主频、功率谱密度</a:t>
              </a:r>
              <a:endParaRPr lang="en-US" sz="1350" dirty="0"/>
            </a:p>
            <a:p>
              <a:pPr marL="0" indent="0">
                <a:buNone/>
              </a:pPr>
              <a:r>
                <a:rPr lang="en-US" sz="135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描述是否有周期性振动</a:t>
              </a:r>
              <a:endParaRPr lang="en-US" sz="13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XGBoost</a:t>
            </a:r>
            <a:r>
              <a:rPr lang="zh-CN" alt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模型的运行原理是什么</a:t>
            </a: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84570" y="868680"/>
            <a:ext cx="5342890" cy="61468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indent="457200" fontAlgn="auto"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简单来说，就是大家做前一个人的错题集来纠正错误，给出自己的</a:t>
            </a: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，综合得到最终结果</a:t>
            </a: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823595" y="1828800"/>
            <a:ext cx="3108960" cy="1653540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987870" y="1965960"/>
            <a:ext cx="277977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</a:t>
            </a:r>
            <a:r>
              <a:rPr lang="en-US" sz="20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一棵判断树</a:t>
            </a:r>
            <a:r>
              <a:rPr lang="zh-CN" altLang="en-US" sz="20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发言</a:t>
            </a:r>
            <a:endParaRPr lang="zh-CN" altLang="en-US" sz="2000" b="1" dirty="0">
              <a:solidFill>
                <a:srgbClr val="2B75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988060" y="2359025"/>
            <a:ext cx="2780030" cy="10083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如果运动强度很高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并且Z轴变化明显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那么可能是飞行/潜水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4435475" y="1828800"/>
            <a:ext cx="3108960" cy="1653540"/>
          </a:xfrm>
          <a:prstGeom prst="roundRect">
            <a:avLst>
              <a:gd name="adj" fmla="val 2500"/>
            </a:avLst>
          </a:prstGeom>
          <a:solidFill>
            <a:srgbClr val="FFF7E8"/>
          </a:solidFill>
          <a:ln w="12700">
            <a:solidFill>
              <a:srgbClr val="F3D3A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4599750" y="1965960"/>
            <a:ext cx="277977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很多棵树</a:t>
            </a:r>
            <a:r>
              <a:rPr lang="zh-CN" altLang="en-US" sz="20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发言</a:t>
            </a:r>
            <a:endParaRPr lang="zh-CN" altLang="en-US" sz="2000" b="1" dirty="0">
              <a:solidFill>
                <a:srgbClr val="F28C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599940" y="2359025"/>
            <a:ext cx="2780030" cy="10083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每棵树从不同角度判断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逐步</a:t>
            </a:r>
            <a:r>
              <a:rPr lang="en-US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纠正前一轮错误</a:t>
            </a:r>
            <a:endParaRPr lang="en-US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8047355" y="1828800"/>
            <a:ext cx="3108960" cy="1653540"/>
          </a:xfrm>
          <a:prstGeom prst="roundRect">
            <a:avLst>
              <a:gd name="adj" fmla="val 2500"/>
            </a:avLst>
          </a:prstGeom>
          <a:solidFill>
            <a:srgbClr val="EEF7EE"/>
          </a:solidFill>
          <a:ln w="12700">
            <a:solidFill>
              <a:srgbClr val="CFE8D0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8211630" y="1965960"/>
            <a:ext cx="277977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8B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最终结果</a:t>
            </a:r>
            <a:endParaRPr lang="en-US" sz="2000" b="1" dirty="0">
              <a:solidFill>
                <a:srgbClr val="2E8B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8211820" y="2359025"/>
            <a:ext cx="2780030" cy="10090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综合投票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输出六类行为概率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622300" y="3776345"/>
            <a:ext cx="10259695" cy="42989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</a:t>
            </a:r>
            <a:r>
              <a:rPr lang="zh-CN" altLang="en-US" sz="19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</a:t>
            </a:r>
            <a:r>
              <a:rPr lang="en-US" sz="19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：后一棵树专门修正前一轮错误</a:t>
            </a:r>
            <a:r>
              <a:rPr lang="zh-CN" altLang="en-US" sz="19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，这是有别于其他树模型的关键</a:t>
            </a:r>
            <a:endParaRPr lang="zh-CN" altLang="en-US" sz="1900" b="1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622110" y="4280662"/>
            <a:ext cx="10881360" cy="2121408"/>
          </a:xfrm>
          <a:prstGeom prst="roundRect">
            <a:avLst>
              <a:gd name="adj" fmla="val 1724"/>
            </a:avLst>
          </a:prstGeom>
          <a:solidFill>
            <a:srgbClr val="FAFBFC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36" name="Shape 16"/>
          <p:cNvSpPr/>
          <p:nvPr>
            <p:custDataLst>
              <p:tags r:id="rId10"/>
            </p:custDataLst>
          </p:nvPr>
        </p:nvSpPr>
        <p:spPr>
          <a:xfrm>
            <a:off x="2194878" y="5121910"/>
            <a:ext cx="365760" cy="0"/>
          </a:xfrm>
          <a:prstGeom prst="line">
            <a:avLst/>
          </a:prstGeom>
          <a:noFill/>
          <a:ln w="27940">
            <a:solidFill>
              <a:srgbClr val="BFC8D0"/>
            </a:solidFill>
            <a:prstDash val="solid"/>
            <a:tailEnd type="triangle"/>
          </a:ln>
        </p:spPr>
      </p:sp>
      <p:sp>
        <p:nvSpPr>
          <p:cNvPr id="37" name="Shape 17"/>
          <p:cNvSpPr/>
          <p:nvPr>
            <p:custDataLst>
              <p:tags r:id="rId11"/>
            </p:custDataLst>
          </p:nvPr>
        </p:nvSpPr>
        <p:spPr>
          <a:xfrm>
            <a:off x="3886518" y="5121910"/>
            <a:ext cx="411480" cy="0"/>
          </a:xfrm>
          <a:prstGeom prst="line">
            <a:avLst/>
          </a:prstGeom>
          <a:noFill/>
          <a:ln w="27940">
            <a:solidFill>
              <a:srgbClr val="BFC8D0"/>
            </a:solidFill>
            <a:prstDash val="solid"/>
            <a:tailEnd type="triangle"/>
          </a:ln>
        </p:spPr>
      </p:sp>
      <p:sp>
        <p:nvSpPr>
          <p:cNvPr id="38" name="Shape 18"/>
          <p:cNvSpPr/>
          <p:nvPr>
            <p:custDataLst>
              <p:tags r:id="rId12"/>
            </p:custDataLst>
          </p:nvPr>
        </p:nvSpPr>
        <p:spPr>
          <a:xfrm>
            <a:off x="5806758" y="5121910"/>
            <a:ext cx="411480" cy="0"/>
          </a:xfrm>
          <a:prstGeom prst="line">
            <a:avLst/>
          </a:prstGeom>
          <a:noFill/>
          <a:ln w="27940">
            <a:solidFill>
              <a:srgbClr val="BFC8D0"/>
            </a:solidFill>
            <a:prstDash val="solid"/>
            <a:tailEnd type="triangle"/>
          </a:ln>
        </p:spPr>
      </p:sp>
      <p:sp>
        <p:nvSpPr>
          <p:cNvPr id="39" name="Shape 19"/>
          <p:cNvSpPr/>
          <p:nvPr>
            <p:custDataLst>
              <p:tags r:id="rId13"/>
            </p:custDataLst>
          </p:nvPr>
        </p:nvSpPr>
        <p:spPr>
          <a:xfrm>
            <a:off x="7818438" y="5121910"/>
            <a:ext cx="411480" cy="0"/>
          </a:xfrm>
          <a:prstGeom prst="line">
            <a:avLst/>
          </a:prstGeom>
          <a:noFill/>
          <a:ln w="27940">
            <a:solidFill>
              <a:srgbClr val="BFC8D0"/>
            </a:solidFill>
            <a:prstDash val="solid"/>
            <a:tailEnd type="triangle"/>
          </a:ln>
        </p:spPr>
      </p:sp>
      <p:sp>
        <p:nvSpPr>
          <p:cNvPr id="40" name="Shape 20"/>
          <p:cNvSpPr/>
          <p:nvPr>
            <p:custDataLst>
              <p:tags r:id="rId14"/>
            </p:custDataLst>
          </p:nvPr>
        </p:nvSpPr>
        <p:spPr>
          <a:xfrm>
            <a:off x="9464358" y="5121910"/>
            <a:ext cx="384048" cy="0"/>
          </a:xfrm>
          <a:prstGeom prst="line">
            <a:avLst/>
          </a:prstGeom>
          <a:noFill/>
          <a:ln w="27940">
            <a:solidFill>
              <a:srgbClr val="BFC8D0"/>
            </a:solidFill>
            <a:prstDash val="solid"/>
            <a:tailEnd type="triangle"/>
          </a:ln>
        </p:spPr>
      </p:sp>
      <p:sp>
        <p:nvSpPr>
          <p:cNvPr id="41" name="Text 21"/>
          <p:cNvSpPr/>
          <p:nvPr/>
        </p:nvSpPr>
        <p:spPr>
          <a:xfrm>
            <a:off x="3703638" y="4500118"/>
            <a:ext cx="4526280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每一轮都在问：上一轮哪里错了？</a:t>
            </a:r>
            <a:endParaRPr lang="en-US" sz="1400" dirty="0">
              <a:solidFill>
                <a:srgbClr val="606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2" name="Shape 22"/>
          <p:cNvSpPr/>
          <p:nvPr>
            <p:custDataLst>
              <p:tags r:id="rId15"/>
            </p:custDataLst>
          </p:nvPr>
        </p:nvSpPr>
        <p:spPr>
          <a:xfrm>
            <a:off x="868998" y="4811014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EAF4FF"/>
          </a:solidFill>
          <a:ln w="15240">
            <a:solidFill>
              <a:srgbClr val="BBD7F2"/>
            </a:solidFill>
            <a:prstDash val="solid"/>
          </a:ln>
        </p:spPr>
      </p:sp>
      <p:sp>
        <p:nvSpPr>
          <p:cNvPr id="43" name="Text 23"/>
          <p:cNvSpPr/>
          <p:nvPr>
            <p:custDataLst>
              <p:tags r:id="rId16"/>
            </p:custDataLst>
          </p:nvPr>
        </p:nvSpPr>
        <p:spPr>
          <a:xfrm>
            <a:off x="905574" y="4875022"/>
            <a:ext cx="1252728" cy="5303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C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数据特征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C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</a:t>
            </a:r>
            <a:endParaRPr lang="en-US" sz="1180" dirty="0"/>
          </a:p>
        </p:txBody>
      </p:sp>
      <p:sp>
        <p:nvSpPr>
          <p:cNvPr id="44" name="Shape 24"/>
          <p:cNvSpPr/>
          <p:nvPr>
            <p:custDataLst>
              <p:tags r:id="rId17"/>
            </p:custDataLst>
          </p:nvPr>
        </p:nvSpPr>
        <p:spPr>
          <a:xfrm>
            <a:off x="2560638" y="4811014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FFF1DC"/>
          </a:solidFill>
          <a:ln w="15240">
            <a:solidFill>
              <a:srgbClr val="F5C88E"/>
            </a:solidFill>
            <a:prstDash val="solid"/>
          </a:ln>
        </p:spPr>
      </p:sp>
      <p:sp>
        <p:nvSpPr>
          <p:cNvPr id="45" name="Text 25"/>
          <p:cNvSpPr/>
          <p:nvPr>
            <p:custDataLst>
              <p:tags r:id="rId18"/>
            </p:custDataLst>
          </p:nvPr>
        </p:nvSpPr>
        <p:spPr>
          <a:xfrm>
            <a:off x="2597214" y="4875022"/>
            <a:ext cx="1252728" cy="5303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 1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先判断</a:t>
            </a:r>
            <a:endParaRPr lang="en-US" sz="1180" dirty="0"/>
          </a:p>
        </p:txBody>
      </p:sp>
      <p:sp>
        <p:nvSpPr>
          <p:cNvPr id="46" name="Shape 26"/>
          <p:cNvSpPr/>
          <p:nvPr>
            <p:custDataLst>
              <p:tags r:id="rId19"/>
            </p:custDataLst>
          </p:nvPr>
        </p:nvSpPr>
        <p:spPr>
          <a:xfrm>
            <a:off x="4297998" y="4811014"/>
            <a:ext cx="1508760" cy="658368"/>
          </a:xfrm>
          <a:prstGeom prst="roundRect">
            <a:avLst>
              <a:gd name="adj" fmla="val 5556"/>
            </a:avLst>
          </a:prstGeom>
          <a:solidFill>
            <a:srgbClr val="FCEAEA"/>
          </a:solidFill>
          <a:ln w="15240">
            <a:solidFill>
              <a:srgbClr val="E4B8B8"/>
            </a:solidFill>
            <a:prstDash val="solid"/>
          </a:ln>
        </p:spPr>
      </p:sp>
      <p:sp>
        <p:nvSpPr>
          <p:cNvPr id="47" name="Text 27"/>
          <p:cNvSpPr/>
          <p:nvPr>
            <p:custDataLst>
              <p:tags r:id="rId20"/>
            </p:custDataLst>
          </p:nvPr>
        </p:nvSpPr>
        <p:spPr>
          <a:xfrm>
            <a:off x="4334574" y="4875022"/>
            <a:ext cx="1435608" cy="5303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残差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哪里没猜对</a:t>
            </a:r>
            <a:endParaRPr lang="en-US" sz="1180" dirty="0"/>
          </a:p>
        </p:txBody>
      </p:sp>
      <p:sp>
        <p:nvSpPr>
          <p:cNvPr id="48" name="Shape 28"/>
          <p:cNvSpPr/>
          <p:nvPr>
            <p:custDataLst>
              <p:tags r:id="rId21"/>
            </p:custDataLst>
          </p:nvPr>
        </p:nvSpPr>
        <p:spPr>
          <a:xfrm>
            <a:off x="6218238" y="4811014"/>
            <a:ext cx="1600200" cy="658368"/>
          </a:xfrm>
          <a:prstGeom prst="roundRect">
            <a:avLst>
              <a:gd name="adj" fmla="val 5556"/>
            </a:avLst>
          </a:prstGeom>
          <a:solidFill>
            <a:srgbClr val="FFF1DC"/>
          </a:solidFill>
          <a:ln w="15240">
            <a:solidFill>
              <a:srgbClr val="F5C88E"/>
            </a:solidFill>
            <a:prstDash val="solid"/>
          </a:ln>
        </p:spPr>
      </p:sp>
      <p:sp>
        <p:nvSpPr>
          <p:cNvPr id="49" name="Text 29"/>
          <p:cNvSpPr/>
          <p:nvPr>
            <p:custDataLst>
              <p:tags r:id="rId22"/>
            </p:custDataLst>
          </p:nvPr>
        </p:nvSpPr>
        <p:spPr>
          <a:xfrm>
            <a:off x="6254814" y="4875022"/>
            <a:ext cx="1527048" cy="5303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 2、树 3…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继续纠错</a:t>
            </a:r>
            <a:endParaRPr lang="en-US" sz="1180" dirty="0"/>
          </a:p>
        </p:txBody>
      </p:sp>
      <p:sp>
        <p:nvSpPr>
          <p:cNvPr id="50" name="Shape 30"/>
          <p:cNvSpPr/>
          <p:nvPr>
            <p:custDataLst>
              <p:tags r:id="rId23"/>
            </p:custDataLst>
          </p:nvPr>
        </p:nvSpPr>
        <p:spPr>
          <a:xfrm>
            <a:off x="8229918" y="4811014"/>
            <a:ext cx="1234440" cy="658368"/>
          </a:xfrm>
          <a:prstGeom prst="roundRect">
            <a:avLst>
              <a:gd name="adj" fmla="val 5556"/>
            </a:avLst>
          </a:prstGeom>
          <a:solidFill>
            <a:srgbClr val="EFFAF0"/>
          </a:solidFill>
          <a:ln w="15240">
            <a:solidFill>
              <a:srgbClr val="BFE2C6"/>
            </a:solidFill>
            <a:prstDash val="solid"/>
          </a:ln>
        </p:spPr>
      </p:sp>
      <p:sp>
        <p:nvSpPr>
          <p:cNvPr id="51" name="Text 31"/>
          <p:cNvSpPr/>
          <p:nvPr>
            <p:custDataLst>
              <p:tags r:id="rId24"/>
            </p:custDataLst>
          </p:nvPr>
        </p:nvSpPr>
        <p:spPr>
          <a:xfrm>
            <a:off x="8266494" y="4875022"/>
            <a:ext cx="1161288" cy="5303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B7F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加权累加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1B7F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降低损失</a:t>
            </a:r>
            <a:endParaRPr lang="en-US" sz="1180" dirty="0"/>
          </a:p>
        </p:txBody>
      </p:sp>
      <p:sp>
        <p:nvSpPr>
          <p:cNvPr id="52" name="Shape 32"/>
          <p:cNvSpPr/>
          <p:nvPr>
            <p:custDataLst>
              <p:tags r:id="rId25"/>
            </p:custDataLst>
          </p:nvPr>
        </p:nvSpPr>
        <p:spPr>
          <a:xfrm>
            <a:off x="9857550" y="4811014"/>
            <a:ext cx="1353312" cy="658368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15240">
            <a:solidFill>
              <a:srgbClr val="C8D1F3"/>
            </a:solidFill>
            <a:prstDash val="solid"/>
          </a:ln>
        </p:spPr>
      </p:sp>
      <p:sp>
        <p:nvSpPr>
          <p:cNvPr id="53" name="Text 33"/>
          <p:cNvSpPr/>
          <p:nvPr>
            <p:custDataLst>
              <p:tags r:id="rId26"/>
            </p:custDataLst>
          </p:nvPr>
        </p:nvSpPr>
        <p:spPr>
          <a:xfrm>
            <a:off x="9894126" y="4875022"/>
            <a:ext cx="1280160" cy="5303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71A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类别概率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071A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最终输出</a:t>
            </a:r>
            <a:endParaRPr lang="en-US" sz="1180" dirty="0"/>
          </a:p>
        </p:txBody>
      </p:sp>
      <p:sp>
        <p:nvSpPr>
          <p:cNvPr id="54" name="Shape 34"/>
          <p:cNvSpPr/>
          <p:nvPr/>
        </p:nvSpPr>
        <p:spPr>
          <a:xfrm>
            <a:off x="1051878" y="5780278"/>
            <a:ext cx="98298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55" name="Text 35"/>
          <p:cNvSpPr/>
          <p:nvPr/>
        </p:nvSpPr>
        <p:spPr>
          <a:xfrm>
            <a:off x="1207326" y="5880862"/>
            <a:ext cx="9555480" cy="2194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最终模型 = 第一棵树的判断 + 学习率 × 后续树的纠错；同时用正则化限制树的复杂度，减少过拟合。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38912"/>
            <a:ext cx="210312" cy="21031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804672"/>
            <a:ext cx="1060704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07899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什么是深度学习？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23105" y="1293495"/>
            <a:ext cx="68897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5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让模型自己从原始曲线中寻找有用模式</a:t>
            </a:r>
            <a:r>
              <a:rPr lang="zh-CN" altLang="en-US" sz="2400" dirty="0">
                <a:solidFill>
                  <a:srgbClr val="5B65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的学习方法</a:t>
            </a:r>
            <a:r>
              <a:rPr lang="en-US" sz="2400" dirty="0">
                <a:solidFill>
                  <a:srgbClr val="5B65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>
              <a:solidFill>
                <a:srgbClr val="5B65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8992" y="2057400"/>
            <a:ext cx="4709160" cy="2606040"/>
          </a:xfrm>
          <a:prstGeom prst="roundRect">
            <a:avLst>
              <a:gd name="adj" fmla="val 2807"/>
            </a:avLst>
          </a:prstGeom>
          <a:solidFill>
            <a:srgbClr val="FFF5E8"/>
          </a:solidFill>
          <a:ln w="13970">
            <a:solidFill>
              <a:srgbClr val="F8C6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267712"/>
            <a:ext cx="4389120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07A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传统机器学习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3063240"/>
            <a:ext cx="4297680" cy="9144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人先总结特征：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平均值、方差、频率、姿态角……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模型根据这些特征分类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2057400"/>
            <a:ext cx="4709160" cy="2606040"/>
          </a:xfrm>
          <a:prstGeom prst="roundRect">
            <a:avLst>
              <a:gd name="adj" fmla="val 2807"/>
            </a:avLst>
          </a:prstGeom>
          <a:solidFill>
            <a:srgbClr val="EAF4FF"/>
          </a:solidFill>
          <a:ln w="13970">
            <a:solidFill>
              <a:srgbClr val="B9D9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267712"/>
            <a:ext cx="4389120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6F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深度学习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3063240"/>
            <a:ext cx="4297680" cy="8686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直接输入原始曲线。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模型自己逐层学习：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局部波形 → 时间顺序 → 关键片段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5449824"/>
            <a:ext cx="8046720" cy="329184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相比于之前的机器学习，</a:t>
            </a:r>
            <a:r>
              <a:rPr 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深度学习把“找特征”这一步也交给模型。</a:t>
            </a:r>
            <a:endParaRPr 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74320"/>
            <a:ext cx="219456" cy="21945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686" y="557784"/>
            <a:ext cx="11045952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686" y="82296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DCL-SA：深度学习模型</a:t>
            </a:r>
            <a:endParaRPr lang="en-US" sz="29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658495" y="1388110"/>
            <a:ext cx="5229860" cy="1089660"/>
            <a:chOff x="1037" y="2402"/>
            <a:chExt cx="8236" cy="1716"/>
          </a:xfrm>
        </p:grpSpPr>
        <p:sp>
          <p:nvSpPr>
            <p:cNvPr id="6" name="Shape 4"/>
            <p:cNvSpPr/>
            <p:nvPr>
              <p:custDataLst>
                <p:tags r:id="rId1"/>
              </p:custDataLst>
            </p:nvPr>
          </p:nvSpPr>
          <p:spPr>
            <a:xfrm>
              <a:off x="1037" y="2402"/>
              <a:ext cx="8237" cy="1716"/>
            </a:xfrm>
            <a:prstGeom prst="roundRect">
              <a:avLst/>
            </a:prstGeom>
            <a:solidFill>
              <a:srgbClr val="FDEEEF"/>
            </a:solidFill>
            <a:ln w="12700">
              <a:solidFill>
                <a:srgbClr val="FDEEEF">
                  <a:alpha val="0"/>
                </a:srgbClr>
              </a:solidFill>
              <a:prstDash val="solid"/>
            </a:ln>
          </p:spPr>
        </p:sp>
        <p:sp>
          <p:nvSpPr>
            <p:cNvPr id="7" name="Text 5"/>
            <p:cNvSpPr/>
            <p:nvPr>
              <p:custDataLst>
                <p:tags r:id="rId2"/>
              </p:custDataLst>
            </p:nvPr>
          </p:nvSpPr>
          <p:spPr>
            <a:xfrm>
              <a:off x="1397" y="2507"/>
              <a:ext cx="7517" cy="7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CNN</a:t>
              </a:r>
              <a:endPara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  <a:p>
              <a:pPr marL="0" indent="0">
                <a:buNone/>
              </a:pPr>
              <a:r>
                <a:rPr 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(</a:t>
              </a:r>
              <a:r>
                <a:rPr lang="en-US" altLang="zh-CN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Convolutional Neural Network,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卷积神经网络）</a:t>
              </a:r>
              <a:endPara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8" name="Text 6"/>
            <p:cNvSpPr/>
            <p:nvPr>
              <p:custDataLst>
                <p:tags r:id="rId3"/>
              </p:custDataLst>
            </p:nvPr>
          </p:nvSpPr>
          <p:spPr>
            <a:xfrm>
              <a:off x="1397" y="3355"/>
              <a:ext cx="7589" cy="720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像用放大镜看局部特征。擅长发现短时间内的明显模式，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例如突然加速、周期振动。</a:t>
              </a:r>
              <a:endPara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3273870" y="2539492"/>
            <a:ext cx="0" cy="137160"/>
          </a:xfrm>
          <a:prstGeom prst="line">
            <a:avLst/>
          </a:prstGeom>
          <a:noFill/>
          <a:ln w="2921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658495" y="2766695"/>
            <a:ext cx="5230495" cy="1085215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887095" y="2809875"/>
            <a:ext cx="4773295" cy="463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65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LSTM</a:t>
            </a:r>
            <a:endParaRPr lang="en-US" sz="1600" b="1" dirty="0">
              <a:solidFill>
                <a:srgbClr val="1D65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1D65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1600" b="1" dirty="0">
                <a:solidFill>
                  <a:srgbClr val="1D65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Long Short-Term Memory,</a:t>
            </a:r>
            <a:r>
              <a:rPr lang="zh-CN" altLang="en-US" sz="1600" b="1" dirty="0">
                <a:solidFill>
                  <a:srgbClr val="1D65B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即长短期记忆网络）</a:t>
            </a:r>
            <a:endParaRPr lang="zh-CN" altLang="en-US" sz="1600" b="1" dirty="0">
              <a:solidFill>
                <a:srgbClr val="1D65B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887286" y="3319272"/>
            <a:ext cx="4818888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像按时间把前后内容串起来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擅长理解动作的先后顺序，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例如从静止到起飞的变化过程。</a:t>
            </a:r>
            <a:endParaRPr 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3273870" y="3895852"/>
            <a:ext cx="0" cy="137160"/>
          </a:xfrm>
          <a:prstGeom prst="line">
            <a:avLst/>
          </a:prstGeom>
          <a:noFill/>
          <a:ln w="2921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658686" y="4096512"/>
            <a:ext cx="5230368" cy="896112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EAF7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887286" y="4206240"/>
            <a:ext cx="47731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>
              <a:buNone/>
            </a:pPr>
            <a:r>
              <a:rPr lang="en-US" sz="1830" b="1" dirty="0">
                <a:solidFill>
                  <a:srgbClr val="1E7E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Self-Attention</a:t>
            </a:r>
            <a:r>
              <a:rPr lang="zh-CN" altLang="en-US" sz="1830" b="1" dirty="0">
                <a:solidFill>
                  <a:srgbClr val="1E7E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（自注意</a:t>
            </a:r>
            <a:r>
              <a:rPr lang="zh-CN" altLang="en-US" sz="1830" b="1" dirty="0">
                <a:solidFill>
                  <a:srgbClr val="1E7E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机制）</a:t>
            </a:r>
            <a:endParaRPr lang="zh-CN" altLang="en-US" sz="1830" b="1" dirty="0">
              <a:solidFill>
                <a:srgbClr val="1E7E3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887286" y="4507992"/>
            <a:ext cx="4818888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像做阅读理解时先画重点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自动给更关键的时间片段更高权重，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不是每一时刻都同样重要。</a:t>
            </a:r>
            <a:endParaRPr 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3273870" y="5056632"/>
            <a:ext cx="0" cy="137160"/>
          </a:xfrm>
          <a:prstGeom prst="line">
            <a:avLst/>
          </a:prstGeom>
          <a:noFill/>
          <a:ln w="2921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8495" y="5285105"/>
            <a:ext cx="5230495" cy="1024890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286" y="5394960"/>
            <a:ext cx="47731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B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六分类</a:t>
            </a:r>
            <a:endParaRPr lang="en-US" sz="1600" b="1" dirty="0">
              <a:solidFill>
                <a:srgbClr val="E86B1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7286" y="5696712"/>
            <a:ext cx="4818888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把前面提取到的信息综合起来，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输出最可能的海鸟行为类别。</a:t>
            </a:r>
            <a:endParaRPr 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236335" y="3273425"/>
            <a:ext cx="5229860" cy="2194560"/>
            <a:chOff x="9821" y="4464"/>
            <a:chExt cx="8236" cy="3456"/>
          </a:xfrm>
        </p:grpSpPr>
        <p:sp>
          <p:nvSpPr>
            <p:cNvPr id="21" name="Shape 19"/>
            <p:cNvSpPr/>
            <p:nvPr/>
          </p:nvSpPr>
          <p:spPr>
            <a:xfrm>
              <a:off x="9821" y="4622"/>
              <a:ext cx="8237" cy="3130"/>
            </a:xfrm>
            <a:prstGeom prst="roundRect">
              <a:avLst/>
            </a:prstGeom>
            <a:solidFill>
              <a:srgbClr val="F2F3F5"/>
            </a:solidFill>
            <a:ln w="12700">
              <a:solidFill>
                <a:srgbClr val="F2F3F5">
                  <a:alpha val="0"/>
                </a:srgbClr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10369" y="4464"/>
              <a:ext cx="7142" cy="34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80" dirty="0">
                  <a:solidFill>
                    <a:srgbClr val="1111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DCL-SA 是在 DeepConvLSTM 的基础上，加入了自注意力机制</a:t>
              </a:r>
              <a:r>
                <a:rPr lang="zh-CN" altLang="en-US" sz="1680" dirty="0">
                  <a:solidFill>
                    <a:srgbClr val="1111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的综合模型</a:t>
              </a:r>
              <a:r>
                <a:rPr lang="en-US" sz="1680" dirty="0">
                  <a:solidFill>
                    <a:srgbClr val="1111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。</a:t>
              </a:r>
              <a:endParaRPr lang="en-US" sz="1680" dirty="0"/>
            </a:p>
            <a:p>
              <a:pPr marL="0" indent="0">
                <a:buNone/>
              </a:pPr>
              <a:endParaRPr lang="en-US" sz="1680" dirty="0"/>
            </a:p>
            <a:p>
              <a:pPr marL="0" indent="0">
                <a:buNone/>
              </a:pPr>
              <a:r>
                <a:rPr lang="en-US" sz="1680" dirty="0">
                  <a:solidFill>
                    <a:srgbClr val="1111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它先识别局部波形，再理解时间顺序，最后把注意力放在最有区分力的片段上，从而更好地完成六分类任务。</a:t>
              </a:r>
              <a:endParaRPr lang="en-US" sz="168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6698615" y="1843405"/>
            <a:ext cx="4592320" cy="923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先看细节（CNN）</a:t>
            </a:r>
            <a:endParaRPr lang="en-US" sz="1400" b="1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再看过程（LSTM）</a:t>
            </a:r>
            <a:endParaRPr lang="en-US" sz="1400" b="1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→最后抓重点（Self-Attention）。</a:t>
            </a:r>
            <a:endParaRPr lang="en-US" sz="1400" b="1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3"/>
          <p:cNvSpPr/>
          <p:nvPr/>
        </p:nvSpPr>
        <p:spPr>
          <a:xfrm>
            <a:off x="6472555" y="1454785"/>
            <a:ext cx="556133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我们可以简单理解为</a:t>
            </a: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“看局部 + 看顺序 + 找重点”。</a:t>
            </a:r>
            <a:endParaRPr 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等腰三角形 48"/>
          <p:cNvSpPr/>
          <p:nvPr/>
        </p:nvSpPr>
        <p:spPr>
          <a:xfrm rot="16200000">
            <a:off x="11021695" y="3008630"/>
            <a:ext cx="1499235" cy="840105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374515" y="2971800"/>
            <a:ext cx="432689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5400" spc="300" dirty="0">
                <a:latin typeface="字魂35号-经典雅黑" panose="00000500000000000000" charset="-122"/>
                <a:ea typeface="字魂35号-经典雅黑" panose="00000500000000000000" charset="-122"/>
                <a:cs typeface="+mn-ea"/>
                <a:sym typeface="+mn-ea"/>
              </a:rPr>
              <a:t>模型</a:t>
            </a:r>
            <a:r>
              <a:rPr lang="zh-CN" altLang="en-US" sz="5400" spc="300" dirty="0">
                <a:latin typeface="字魂35号-经典雅黑" panose="00000500000000000000" charset="-122"/>
                <a:ea typeface="字魂35号-经典雅黑" panose="00000500000000000000" charset="-122"/>
                <a:cs typeface="+mn-ea"/>
                <a:sym typeface="+mn-ea"/>
              </a:rPr>
              <a:t>评估</a:t>
            </a:r>
            <a:endParaRPr lang="zh-CN" altLang="en-US" sz="5400" spc="300" dirty="0">
              <a:latin typeface="字魂35号-经典雅黑" panose="00000500000000000000" charset="-122"/>
              <a:ea typeface="字魂35号-经典雅黑" panose="00000500000000000000" charset="-122"/>
              <a:cs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54655" y="4079240"/>
            <a:ext cx="7490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latin typeface="字魂119号-天真儿风体" panose="00000500000000000000" charset="-122"/>
                <a:ea typeface="字魂119号-天真儿风体" panose="00000500000000000000" charset="-122"/>
                <a:cs typeface="Lucida Calligraphy" panose="03010101010101010101" charset="0"/>
                <a:sym typeface="+mn-ea"/>
              </a:rPr>
              <a:t>点击这里，输入合适的内容。点击这里，输入合适的内容。点击这里，输入合适的内容。</a:t>
            </a:r>
            <a:r>
              <a:rPr lang="en-US" sz="1400" dirty="0">
                <a:latin typeface="字魂119号-天真儿风体" panose="00000500000000000000" charset="-122"/>
                <a:ea typeface="字魂119号-天真儿风体" panose="00000500000000000000" charset="-122"/>
                <a:cs typeface="Lucida Calligraphy" panose="03010101010101010101" charset="0"/>
                <a:sym typeface="+mn-ea"/>
              </a:rPr>
              <a:t>.</a:t>
            </a:r>
            <a:endParaRPr lang="en-US" sz="1400" dirty="0">
              <a:latin typeface="字魂119号-天真儿风体" panose="00000500000000000000" charset="-122"/>
              <a:ea typeface="字魂119号-天真儿风体" panose="00000500000000000000" charset="-122"/>
              <a:cs typeface="Lucida Calligraphy" panose="03010101010101010101" charset="0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901055" y="1647190"/>
            <a:ext cx="1049655" cy="1049655"/>
            <a:chOff x="8078" y="1403"/>
            <a:chExt cx="2610" cy="2610"/>
          </a:xfrm>
        </p:grpSpPr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8493" y="2088"/>
              <a:ext cx="1781" cy="1240"/>
            </a:xfrm>
            <a:custGeom>
              <a:avLst/>
              <a:gdLst>
                <a:gd name="T0" fmla="*/ 245 w 589"/>
                <a:gd name="T1" fmla="*/ 311 h 334"/>
                <a:gd name="T2" fmla="*/ 243 w 589"/>
                <a:gd name="T3" fmla="*/ 244 h 334"/>
                <a:gd name="T4" fmla="*/ 236 w 589"/>
                <a:gd name="T5" fmla="*/ 238 h 334"/>
                <a:gd name="T6" fmla="*/ 223 w 589"/>
                <a:gd name="T7" fmla="*/ 240 h 334"/>
                <a:gd name="T8" fmla="*/ 218 w 589"/>
                <a:gd name="T9" fmla="*/ 239 h 334"/>
                <a:gd name="T10" fmla="*/ 156 w 589"/>
                <a:gd name="T11" fmla="*/ 211 h 334"/>
                <a:gd name="T12" fmla="*/ 148 w 589"/>
                <a:gd name="T13" fmla="*/ 216 h 334"/>
                <a:gd name="T14" fmla="*/ 151 w 589"/>
                <a:gd name="T15" fmla="*/ 252 h 334"/>
                <a:gd name="T16" fmla="*/ 153 w 589"/>
                <a:gd name="T17" fmla="*/ 254 h 334"/>
                <a:gd name="T18" fmla="*/ 199 w 589"/>
                <a:gd name="T19" fmla="*/ 296 h 334"/>
                <a:gd name="T20" fmla="*/ 237 w 589"/>
                <a:gd name="T21" fmla="*/ 317 h 334"/>
                <a:gd name="T22" fmla="*/ 245 w 589"/>
                <a:gd name="T23" fmla="*/ 311 h 334"/>
                <a:gd name="T24" fmla="*/ 521 w 589"/>
                <a:gd name="T25" fmla="*/ 220 h 334"/>
                <a:gd name="T26" fmla="*/ 524 w 589"/>
                <a:gd name="T27" fmla="*/ 223 h 334"/>
                <a:gd name="T28" fmla="*/ 534 w 589"/>
                <a:gd name="T29" fmla="*/ 235 h 334"/>
                <a:gd name="T30" fmla="*/ 536 w 589"/>
                <a:gd name="T31" fmla="*/ 238 h 334"/>
                <a:gd name="T32" fmla="*/ 552 w 589"/>
                <a:gd name="T33" fmla="*/ 262 h 334"/>
                <a:gd name="T34" fmla="*/ 527 w 589"/>
                <a:gd name="T35" fmla="*/ 320 h 334"/>
                <a:gd name="T36" fmla="*/ 520 w 589"/>
                <a:gd name="T37" fmla="*/ 313 h 334"/>
                <a:gd name="T38" fmla="*/ 501 w 589"/>
                <a:gd name="T39" fmla="*/ 268 h 334"/>
                <a:gd name="T40" fmla="*/ 506 w 589"/>
                <a:gd name="T41" fmla="*/ 244 h 334"/>
                <a:gd name="T42" fmla="*/ 506 w 589"/>
                <a:gd name="T43" fmla="*/ 241 h 334"/>
                <a:gd name="T44" fmla="*/ 505 w 589"/>
                <a:gd name="T45" fmla="*/ 235 h 334"/>
                <a:gd name="T46" fmla="*/ 510 w 589"/>
                <a:gd name="T47" fmla="*/ 226 h 334"/>
                <a:gd name="T48" fmla="*/ 511 w 589"/>
                <a:gd name="T49" fmla="*/ 222 h 334"/>
                <a:gd name="T50" fmla="*/ 495 w 589"/>
                <a:gd name="T51" fmla="*/ 174 h 334"/>
                <a:gd name="T52" fmla="*/ 491 w 589"/>
                <a:gd name="T53" fmla="*/ 173 h 334"/>
                <a:gd name="T54" fmla="*/ 224 w 589"/>
                <a:gd name="T55" fmla="*/ 227 h 334"/>
                <a:gd name="T56" fmla="*/ 221 w 589"/>
                <a:gd name="T57" fmla="*/ 227 h 334"/>
                <a:gd name="T58" fmla="*/ 95 w 589"/>
                <a:gd name="T59" fmla="*/ 162 h 334"/>
                <a:gd name="T60" fmla="*/ 5 w 589"/>
                <a:gd name="T61" fmla="*/ 81 h 334"/>
                <a:gd name="T62" fmla="*/ 9 w 589"/>
                <a:gd name="T63" fmla="*/ 72 h 334"/>
                <a:gd name="T64" fmla="*/ 194 w 589"/>
                <a:gd name="T65" fmla="*/ 51 h 334"/>
                <a:gd name="T66" fmla="*/ 372 w 589"/>
                <a:gd name="T67" fmla="*/ 0 h 334"/>
                <a:gd name="T68" fmla="*/ 378 w 589"/>
                <a:gd name="T69" fmla="*/ 2 h 334"/>
                <a:gd name="T70" fmla="*/ 484 w 589"/>
                <a:gd name="T71" fmla="*/ 84 h 334"/>
                <a:gd name="T72" fmla="*/ 581 w 589"/>
                <a:gd name="T73" fmla="*/ 132 h 334"/>
                <a:gd name="T74" fmla="*/ 581 w 589"/>
                <a:gd name="T75" fmla="*/ 143 h 334"/>
                <a:gd name="T76" fmla="*/ 507 w 589"/>
                <a:gd name="T77" fmla="*/ 167 h 334"/>
                <a:gd name="T78" fmla="*/ 505 w 589"/>
                <a:gd name="T79" fmla="*/ 172 h 334"/>
                <a:gd name="T80" fmla="*/ 521 w 589"/>
                <a:gd name="T81" fmla="*/ 220 h 334"/>
                <a:gd name="T82" fmla="*/ 452 w 589"/>
                <a:gd name="T83" fmla="*/ 197 h 334"/>
                <a:gd name="T84" fmla="*/ 458 w 589"/>
                <a:gd name="T85" fmla="*/ 209 h 334"/>
                <a:gd name="T86" fmla="*/ 456 w 589"/>
                <a:gd name="T87" fmla="*/ 234 h 334"/>
                <a:gd name="T88" fmla="*/ 451 w 589"/>
                <a:gd name="T89" fmla="*/ 258 h 334"/>
                <a:gd name="T90" fmla="*/ 448 w 589"/>
                <a:gd name="T91" fmla="*/ 262 h 334"/>
                <a:gd name="T92" fmla="*/ 355 w 589"/>
                <a:gd name="T93" fmla="*/ 298 h 334"/>
                <a:gd name="T94" fmla="*/ 264 w 589"/>
                <a:gd name="T95" fmla="*/ 321 h 334"/>
                <a:gd name="T96" fmla="*/ 258 w 589"/>
                <a:gd name="T97" fmla="*/ 316 h 334"/>
                <a:gd name="T98" fmla="*/ 255 w 589"/>
                <a:gd name="T99" fmla="*/ 241 h 334"/>
                <a:gd name="T100" fmla="*/ 260 w 589"/>
                <a:gd name="T101" fmla="*/ 235 h 334"/>
                <a:gd name="T102" fmla="*/ 452 w 589"/>
                <a:gd name="T103" fmla="*/ 19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89" h="334">
                  <a:moveTo>
                    <a:pt x="245" y="311"/>
                  </a:moveTo>
                  <a:cubicBezTo>
                    <a:pt x="244" y="289"/>
                    <a:pt x="243" y="266"/>
                    <a:pt x="243" y="244"/>
                  </a:cubicBezTo>
                  <a:cubicBezTo>
                    <a:pt x="242" y="241"/>
                    <a:pt x="239" y="238"/>
                    <a:pt x="236" y="238"/>
                  </a:cubicBezTo>
                  <a:cubicBezTo>
                    <a:pt x="232" y="239"/>
                    <a:pt x="228" y="239"/>
                    <a:pt x="223" y="240"/>
                  </a:cubicBezTo>
                  <a:cubicBezTo>
                    <a:pt x="221" y="240"/>
                    <a:pt x="220" y="240"/>
                    <a:pt x="218" y="239"/>
                  </a:cubicBezTo>
                  <a:cubicBezTo>
                    <a:pt x="194" y="229"/>
                    <a:pt x="173" y="219"/>
                    <a:pt x="156" y="211"/>
                  </a:cubicBezTo>
                  <a:cubicBezTo>
                    <a:pt x="152" y="209"/>
                    <a:pt x="147" y="212"/>
                    <a:pt x="148" y="216"/>
                  </a:cubicBezTo>
                  <a:cubicBezTo>
                    <a:pt x="148" y="228"/>
                    <a:pt x="149" y="241"/>
                    <a:pt x="151" y="252"/>
                  </a:cubicBezTo>
                  <a:cubicBezTo>
                    <a:pt x="152" y="253"/>
                    <a:pt x="152" y="254"/>
                    <a:pt x="153" y="254"/>
                  </a:cubicBezTo>
                  <a:cubicBezTo>
                    <a:pt x="167" y="270"/>
                    <a:pt x="183" y="284"/>
                    <a:pt x="199" y="296"/>
                  </a:cubicBezTo>
                  <a:cubicBezTo>
                    <a:pt x="211" y="304"/>
                    <a:pt x="224" y="311"/>
                    <a:pt x="237" y="317"/>
                  </a:cubicBezTo>
                  <a:cubicBezTo>
                    <a:pt x="241" y="318"/>
                    <a:pt x="245" y="316"/>
                    <a:pt x="245" y="311"/>
                  </a:cubicBezTo>
                  <a:close/>
                  <a:moveTo>
                    <a:pt x="521" y="220"/>
                  </a:moveTo>
                  <a:cubicBezTo>
                    <a:pt x="522" y="222"/>
                    <a:pt x="522" y="222"/>
                    <a:pt x="524" y="223"/>
                  </a:cubicBezTo>
                  <a:cubicBezTo>
                    <a:pt x="530" y="224"/>
                    <a:pt x="534" y="229"/>
                    <a:pt x="534" y="235"/>
                  </a:cubicBezTo>
                  <a:cubicBezTo>
                    <a:pt x="534" y="237"/>
                    <a:pt x="534" y="237"/>
                    <a:pt x="536" y="238"/>
                  </a:cubicBezTo>
                  <a:cubicBezTo>
                    <a:pt x="545" y="241"/>
                    <a:pt x="551" y="249"/>
                    <a:pt x="552" y="262"/>
                  </a:cubicBezTo>
                  <a:cubicBezTo>
                    <a:pt x="553" y="279"/>
                    <a:pt x="539" y="308"/>
                    <a:pt x="527" y="320"/>
                  </a:cubicBezTo>
                  <a:cubicBezTo>
                    <a:pt x="512" y="334"/>
                    <a:pt x="515" y="327"/>
                    <a:pt x="520" y="313"/>
                  </a:cubicBezTo>
                  <a:cubicBezTo>
                    <a:pt x="524" y="300"/>
                    <a:pt x="504" y="290"/>
                    <a:pt x="501" y="268"/>
                  </a:cubicBezTo>
                  <a:cubicBezTo>
                    <a:pt x="500" y="257"/>
                    <a:pt x="501" y="249"/>
                    <a:pt x="506" y="244"/>
                  </a:cubicBezTo>
                  <a:cubicBezTo>
                    <a:pt x="507" y="243"/>
                    <a:pt x="507" y="242"/>
                    <a:pt x="506" y="241"/>
                  </a:cubicBezTo>
                  <a:cubicBezTo>
                    <a:pt x="506" y="239"/>
                    <a:pt x="505" y="237"/>
                    <a:pt x="505" y="235"/>
                  </a:cubicBezTo>
                  <a:cubicBezTo>
                    <a:pt x="505" y="232"/>
                    <a:pt x="507" y="228"/>
                    <a:pt x="510" y="226"/>
                  </a:cubicBezTo>
                  <a:cubicBezTo>
                    <a:pt x="511" y="224"/>
                    <a:pt x="511" y="224"/>
                    <a:pt x="511" y="222"/>
                  </a:cubicBezTo>
                  <a:cubicBezTo>
                    <a:pt x="505" y="202"/>
                    <a:pt x="500" y="187"/>
                    <a:pt x="495" y="174"/>
                  </a:cubicBezTo>
                  <a:cubicBezTo>
                    <a:pt x="495" y="173"/>
                    <a:pt x="493" y="172"/>
                    <a:pt x="491" y="173"/>
                  </a:cubicBezTo>
                  <a:cubicBezTo>
                    <a:pt x="405" y="199"/>
                    <a:pt x="327" y="215"/>
                    <a:pt x="224" y="227"/>
                  </a:cubicBezTo>
                  <a:cubicBezTo>
                    <a:pt x="223" y="227"/>
                    <a:pt x="222" y="227"/>
                    <a:pt x="221" y="227"/>
                  </a:cubicBezTo>
                  <a:cubicBezTo>
                    <a:pt x="162" y="201"/>
                    <a:pt x="127" y="184"/>
                    <a:pt x="95" y="162"/>
                  </a:cubicBezTo>
                  <a:cubicBezTo>
                    <a:pt x="67" y="142"/>
                    <a:pt x="42" y="118"/>
                    <a:pt x="5" y="81"/>
                  </a:cubicBezTo>
                  <a:cubicBezTo>
                    <a:pt x="2" y="78"/>
                    <a:pt x="0" y="72"/>
                    <a:pt x="9" y="72"/>
                  </a:cubicBezTo>
                  <a:cubicBezTo>
                    <a:pt x="86" y="67"/>
                    <a:pt x="142" y="61"/>
                    <a:pt x="194" y="51"/>
                  </a:cubicBezTo>
                  <a:cubicBezTo>
                    <a:pt x="250" y="40"/>
                    <a:pt x="302" y="25"/>
                    <a:pt x="372" y="0"/>
                  </a:cubicBezTo>
                  <a:cubicBezTo>
                    <a:pt x="374" y="0"/>
                    <a:pt x="376" y="0"/>
                    <a:pt x="378" y="2"/>
                  </a:cubicBezTo>
                  <a:cubicBezTo>
                    <a:pt x="416" y="37"/>
                    <a:pt x="449" y="63"/>
                    <a:pt x="484" y="84"/>
                  </a:cubicBezTo>
                  <a:cubicBezTo>
                    <a:pt x="514" y="102"/>
                    <a:pt x="545" y="117"/>
                    <a:pt x="581" y="132"/>
                  </a:cubicBezTo>
                  <a:cubicBezTo>
                    <a:pt x="589" y="135"/>
                    <a:pt x="589" y="140"/>
                    <a:pt x="581" y="143"/>
                  </a:cubicBezTo>
                  <a:cubicBezTo>
                    <a:pt x="555" y="152"/>
                    <a:pt x="531" y="160"/>
                    <a:pt x="507" y="167"/>
                  </a:cubicBezTo>
                  <a:cubicBezTo>
                    <a:pt x="505" y="168"/>
                    <a:pt x="504" y="170"/>
                    <a:pt x="505" y="172"/>
                  </a:cubicBezTo>
                  <a:cubicBezTo>
                    <a:pt x="509" y="184"/>
                    <a:pt x="514" y="199"/>
                    <a:pt x="521" y="220"/>
                  </a:cubicBezTo>
                  <a:close/>
                  <a:moveTo>
                    <a:pt x="452" y="197"/>
                  </a:moveTo>
                  <a:cubicBezTo>
                    <a:pt x="460" y="195"/>
                    <a:pt x="459" y="205"/>
                    <a:pt x="458" y="209"/>
                  </a:cubicBezTo>
                  <a:cubicBezTo>
                    <a:pt x="457" y="218"/>
                    <a:pt x="457" y="226"/>
                    <a:pt x="456" y="234"/>
                  </a:cubicBezTo>
                  <a:cubicBezTo>
                    <a:pt x="454" y="242"/>
                    <a:pt x="453" y="250"/>
                    <a:pt x="451" y="258"/>
                  </a:cubicBezTo>
                  <a:cubicBezTo>
                    <a:pt x="451" y="260"/>
                    <a:pt x="450" y="261"/>
                    <a:pt x="448" y="262"/>
                  </a:cubicBezTo>
                  <a:cubicBezTo>
                    <a:pt x="418" y="276"/>
                    <a:pt x="387" y="288"/>
                    <a:pt x="355" y="298"/>
                  </a:cubicBezTo>
                  <a:cubicBezTo>
                    <a:pt x="326" y="307"/>
                    <a:pt x="295" y="315"/>
                    <a:pt x="264" y="321"/>
                  </a:cubicBezTo>
                  <a:cubicBezTo>
                    <a:pt x="261" y="321"/>
                    <a:pt x="258" y="319"/>
                    <a:pt x="258" y="316"/>
                  </a:cubicBezTo>
                  <a:cubicBezTo>
                    <a:pt x="257" y="291"/>
                    <a:pt x="256" y="266"/>
                    <a:pt x="255" y="241"/>
                  </a:cubicBezTo>
                  <a:cubicBezTo>
                    <a:pt x="255" y="238"/>
                    <a:pt x="257" y="236"/>
                    <a:pt x="260" y="235"/>
                  </a:cubicBezTo>
                  <a:cubicBezTo>
                    <a:pt x="325" y="227"/>
                    <a:pt x="389" y="214"/>
                    <a:pt x="452" y="197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8078" y="1403"/>
              <a:ext cx="2610" cy="2610"/>
            </a:xfrm>
            <a:prstGeom prst="ellipse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八边形 8"/>
          <p:cNvSpPr/>
          <p:nvPr/>
        </p:nvSpPr>
        <p:spPr>
          <a:xfrm>
            <a:off x="5604510" y="4949825"/>
            <a:ext cx="1643380" cy="445770"/>
          </a:xfrm>
          <a:prstGeom prst="octagon">
            <a:avLst>
              <a:gd name="adj" fmla="val 2753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556250" y="4973320"/>
            <a:ext cx="1625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en-US" altLang="zh-CN" sz="20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  <a:sym typeface="+mn-ea"/>
              </a:rPr>
              <a:t> PART 02</a:t>
            </a:r>
            <a:endParaRPr lang="en-US" altLang="zh-CN" sz="2000" b="1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  <a:sym typeface="+mn-ea"/>
            </a:endParaRPr>
          </a:p>
        </p:txBody>
      </p:sp>
      <p:grpSp>
        <p:nvGrpSpPr>
          <p:cNvPr id="58" name="组合 57"/>
          <p:cNvGrpSpPr/>
          <p:nvPr/>
        </p:nvGrpSpPr>
        <p:grpSpPr>
          <a:xfrm rot="16200000">
            <a:off x="-845185" y="1463675"/>
            <a:ext cx="3479800" cy="1250950"/>
            <a:chOff x="169" y="209"/>
            <a:chExt cx="5480" cy="1970"/>
          </a:xfrm>
        </p:grpSpPr>
        <p:grpSp>
          <p:nvGrpSpPr>
            <p:cNvPr id="2" name="组合 1"/>
            <p:cNvGrpSpPr/>
            <p:nvPr/>
          </p:nvGrpSpPr>
          <p:grpSpPr>
            <a:xfrm flipH="1">
              <a:off x="169" y="209"/>
              <a:ext cx="5481" cy="1970"/>
              <a:chOff x="13719" y="55"/>
              <a:chExt cx="5481" cy="1970"/>
            </a:xfrm>
          </p:grpSpPr>
          <p:grpSp>
            <p:nvGrpSpPr>
              <p:cNvPr id="10" name="Group 4"/>
              <p:cNvGrpSpPr/>
              <p:nvPr userDrawn="1"/>
            </p:nvGrpSpPr>
            <p:grpSpPr>
              <a:xfrm rot="10800000">
                <a:off x="14586" y="777"/>
                <a:ext cx="4614" cy="1248"/>
                <a:chOff x="6492014" y="1638308"/>
                <a:chExt cx="938947" cy="25399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17" name="Diamond 5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18" name="Diamond 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" name="Diamond 7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grpSp>
            <p:nvGrpSpPr>
              <p:cNvPr id="11" name="Group 12"/>
              <p:cNvGrpSpPr/>
              <p:nvPr userDrawn="1"/>
            </p:nvGrpSpPr>
            <p:grpSpPr>
              <a:xfrm rot="10800000">
                <a:off x="13719" y="55"/>
                <a:ext cx="4614" cy="1248"/>
                <a:chOff x="6492014" y="1638308"/>
                <a:chExt cx="938947" cy="253992"/>
              </a:xfrm>
              <a:solidFill>
                <a:srgbClr val="C00000"/>
              </a:solidFill>
            </p:grpSpPr>
            <p:sp>
              <p:nvSpPr>
                <p:cNvPr id="15" name="Diamond 1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16" name="Diamond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1" name="Diamond 1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4" name="椭圆 53"/>
            <p:cNvSpPr/>
            <p:nvPr/>
          </p:nvSpPr>
          <p:spPr>
            <a:xfrm>
              <a:off x="583" y="1346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3116" y="624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 rot="5400000" flipH="1">
            <a:off x="95250" y="4151630"/>
            <a:ext cx="3479800" cy="1250950"/>
            <a:chOff x="169" y="209"/>
            <a:chExt cx="5480" cy="1970"/>
          </a:xfrm>
        </p:grpSpPr>
        <p:grpSp>
          <p:nvGrpSpPr>
            <p:cNvPr id="23" name="组合 22"/>
            <p:cNvGrpSpPr/>
            <p:nvPr/>
          </p:nvGrpSpPr>
          <p:grpSpPr>
            <a:xfrm flipH="1">
              <a:off x="169" y="209"/>
              <a:ext cx="5481" cy="1970"/>
              <a:chOff x="13719" y="55"/>
              <a:chExt cx="5481" cy="1970"/>
            </a:xfrm>
          </p:grpSpPr>
          <p:grpSp>
            <p:nvGrpSpPr>
              <p:cNvPr id="24" name="Group 4"/>
              <p:cNvGrpSpPr/>
              <p:nvPr userDrawn="1"/>
            </p:nvGrpSpPr>
            <p:grpSpPr>
              <a:xfrm rot="10800000">
                <a:off x="14586" y="777"/>
                <a:ext cx="4614" cy="1248"/>
                <a:chOff x="6492014" y="1638308"/>
                <a:chExt cx="938947" cy="25399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25" name="Diamond 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6" name="Diamond 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7" name="Diamond 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grpSp>
            <p:nvGrpSpPr>
              <p:cNvPr id="28" name="Group 12"/>
              <p:cNvGrpSpPr/>
              <p:nvPr userDrawn="1"/>
            </p:nvGrpSpPr>
            <p:grpSpPr>
              <a:xfrm rot="10800000">
                <a:off x="13719" y="55"/>
                <a:ext cx="4614" cy="1248"/>
                <a:chOff x="6492014" y="1638308"/>
                <a:chExt cx="938947" cy="253992"/>
              </a:xfrm>
              <a:solidFill>
                <a:srgbClr val="C00000"/>
              </a:solidFill>
            </p:grpSpPr>
            <p:sp>
              <p:nvSpPr>
                <p:cNvPr id="30" name="Diamond 13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1" name="Diamond 14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2" name="Diamond 15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3" name="椭圆 32"/>
            <p:cNvSpPr/>
            <p:nvPr/>
          </p:nvSpPr>
          <p:spPr>
            <a:xfrm>
              <a:off x="583" y="1346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3116" y="624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等腰三角形 47"/>
          <p:cNvSpPr/>
          <p:nvPr/>
        </p:nvSpPr>
        <p:spPr>
          <a:xfrm rot="16200000">
            <a:off x="11189970" y="3176270"/>
            <a:ext cx="1499235" cy="50482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/>
          <p:nvPr/>
        </p:nvCxnSpPr>
        <p:spPr>
          <a:xfrm flipH="1" flipV="1">
            <a:off x="293370" y="3190240"/>
            <a:ext cx="594360" cy="6388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 flipV="1">
            <a:off x="2197100" y="5085715"/>
            <a:ext cx="605155" cy="59880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925830" y="425450"/>
            <a:ext cx="594360" cy="6388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14:prism isContent="1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ldLvl="0" animBg="1"/>
      <p:bldP spid="49" grpId="1" animBg="1"/>
      <p:bldP spid="34" grpId="0"/>
      <p:bldP spid="34" grpId="1"/>
      <p:bldP spid="8" grpId="0"/>
      <p:bldP spid="8" grpId="1"/>
      <p:bldP spid="9" grpId="0" bldLvl="0" animBg="1"/>
      <p:bldP spid="9" grpId="1" animBg="1"/>
      <p:bldP spid="29" grpId="0"/>
      <p:bldP spid="29" grpId="1"/>
      <p:bldP spid="48" grpId="0" bldLvl="0" animBg="1"/>
      <p:bldP spid="48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018" y="3819525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三个通俗指标</a:t>
            </a:r>
            <a:r>
              <a:rPr lang="zh-CN" alt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</a:t>
            </a:r>
            <a:r>
              <a:rPr lang="zh-CN" alt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理解？</a:t>
            </a:r>
            <a:endParaRPr lang="zh-CN" altLang="en-US" sz="28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178" y="4459605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769" y="4596765"/>
            <a:ext cx="277977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Accuracy 准确率</a:t>
            </a:r>
            <a:endParaRPr lang="en-US" sz="2000" b="1" dirty="0">
              <a:solidFill>
                <a:srgbClr val="2B75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769" y="4989957"/>
            <a:ext cx="2779776" cy="1572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总体有多少判断对了？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优点：直观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风险：多数类太多时会虚高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61498" y="4459605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FFF7E8"/>
          </a:solidFill>
          <a:ln w="12700">
            <a:solidFill>
              <a:srgbClr val="F3D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090" y="4596765"/>
            <a:ext cx="277977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F1综合分数</a:t>
            </a:r>
            <a:endParaRPr lang="en-US" sz="2000" b="1" dirty="0">
              <a:solidFill>
                <a:srgbClr val="F28C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26090" y="4989957"/>
            <a:ext cx="2779776" cy="1572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同时考虑：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猜得准不准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漏得多不多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更适合类别不平衡数据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839710" y="4459605"/>
            <a:ext cx="3562985" cy="2194560"/>
          </a:xfrm>
          <a:prstGeom prst="roundRect">
            <a:avLst>
              <a:gd name="adj" fmla="val 3333"/>
            </a:avLst>
          </a:prstGeom>
          <a:solidFill>
            <a:srgbClr val="EEF7EE"/>
          </a:solidFill>
          <a:ln w="12700">
            <a:solidFill>
              <a:srgbClr val="CFE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4945" y="4569460"/>
            <a:ext cx="277977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8B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混淆矩阵</a:t>
            </a:r>
            <a:endParaRPr lang="en-US" sz="2000" b="1" dirty="0">
              <a:solidFill>
                <a:srgbClr val="2E8B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32115" y="4986655"/>
            <a:ext cx="3370580" cy="157289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</a:t>
            </a: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模型的“错题本”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</a:t>
            </a: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哪个真实行为被误判成了什么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9" name="Text 3"/>
          <p:cNvSpPr/>
          <p:nvPr/>
        </p:nvSpPr>
        <p:spPr>
          <a:xfrm>
            <a:off x="686435" y="868680"/>
            <a:ext cx="2447925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如何公平评估？</a:t>
            </a:r>
            <a:endParaRPr lang="en-US" sz="2800" dirty="0"/>
          </a:p>
        </p:txBody>
      </p:sp>
      <p:sp>
        <p:nvSpPr>
          <p:cNvPr id="40" name="Text 4"/>
          <p:cNvSpPr/>
          <p:nvPr/>
        </p:nvSpPr>
        <p:spPr>
          <a:xfrm>
            <a:off x="3134360" y="982980"/>
            <a:ext cx="9959975" cy="274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LOIO-CV</a:t>
            </a:r>
            <a:r>
              <a:rPr lang="zh-CN" altLang="en-US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：</a:t>
            </a:r>
            <a:r>
              <a:rPr lang="en-US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Leave-One-Individual-Out,</a:t>
            </a:r>
            <a:r>
              <a:rPr lang="zh-CN" altLang="en-US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其实就是</a:t>
            </a:r>
            <a:r>
              <a:rPr lang="en-US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轮流留一只海鸟当考试对象。</a:t>
            </a:r>
            <a:endParaRPr lang="en-US" b="1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823595" y="1633855"/>
            <a:ext cx="3291840" cy="1852930"/>
          </a:xfrm>
          <a:prstGeom prst="roundRect">
            <a:avLst>
              <a:gd name="adj" fmla="val 2667"/>
            </a:avLst>
          </a:prstGeom>
          <a:solidFill>
            <a:srgbClr val="FFF3F3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42" name="Text 6"/>
          <p:cNvSpPr/>
          <p:nvPr/>
        </p:nvSpPr>
        <p:spPr>
          <a:xfrm>
            <a:off x="987870" y="1771015"/>
            <a:ext cx="296265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普通随机划分的问题</a:t>
            </a:r>
            <a:endParaRPr 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3" name="Text 7"/>
          <p:cNvSpPr/>
          <p:nvPr/>
        </p:nvSpPr>
        <p:spPr>
          <a:xfrm>
            <a:off x="988060" y="1976120"/>
            <a:ext cx="2962910" cy="152527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同一只鸟的数据可能同时出现在训练集和测试集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模型可能学到“个体特征”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Text 8"/>
          <p:cNvSpPr/>
          <p:nvPr/>
        </p:nvSpPr>
        <p:spPr>
          <a:xfrm>
            <a:off x="4297998" y="2353310"/>
            <a:ext cx="365760" cy="365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66666"/>
                </a:solidFill>
              </a:rPr>
              <a:t>→</a:t>
            </a:r>
            <a:endParaRPr lang="en-US" sz="3200" dirty="0"/>
          </a:p>
        </p:txBody>
      </p:sp>
      <p:grpSp>
        <p:nvGrpSpPr>
          <p:cNvPr id="48" name="组合 47"/>
          <p:cNvGrpSpPr/>
          <p:nvPr/>
        </p:nvGrpSpPr>
        <p:grpSpPr>
          <a:xfrm>
            <a:off x="4846955" y="1626235"/>
            <a:ext cx="5852160" cy="1880235"/>
            <a:chOff x="7633" y="2926"/>
            <a:chExt cx="9216" cy="2961"/>
          </a:xfrm>
        </p:grpSpPr>
        <p:sp>
          <p:nvSpPr>
            <p:cNvPr id="45" name="Shape 9"/>
            <p:cNvSpPr/>
            <p:nvPr/>
          </p:nvSpPr>
          <p:spPr>
            <a:xfrm>
              <a:off x="7633" y="2926"/>
              <a:ext cx="9216" cy="2961"/>
            </a:xfrm>
            <a:prstGeom prst="roundRect">
              <a:avLst>
                <a:gd name="adj" fmla="val 2667"/>
              </a:avLst>
            </a:prstGeom>
            <a:solidFill>
              <a:srgbClr val="EEF7EE"/>
            </a:solidFill>
            <a:ln w="12700">
              <a:solidFill>
                <a:srgbClr val="CFE8D0"/>
              </a:solidFill>
              <a:prstDash val="solid"/>
            </a:ln>
          </p:spPr>
        </p:sp>
        <p:sp>
          <p:nvSpPr>
            <p:cNvPr id="46" name="Text 10"/>
            <p:cNvSpPr/>
            <p:nvPr/>
          </p:nvSpPr>
          <p:spPr>
            <a:xfrm>
              <a:off x="7892" y="3096"/>
              <a:ext cx="8698" cy="461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E8B5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LOIO-CV的做法</a:t>
              </a:r>
              <a:endParaRPr lang="en-US" sz="2000" b="1" dirty="0">
                <a:solidFill>
                  <a:srgbClr val="2E8B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47" name="Text 11"/>
            <p:cNvSpPr/>
            <p:nvPr/>
          </p:nvSpPr>
          <p:spPr>
            <a:xfrm>
              <a:off x="7892" y="3557"/>
              <a:ext cx="8698" cy="2022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每一折：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1只鸟 = 测试集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其余27只鸟 = 训练/验证</a:t>
              </a:r>
              <a:endParaRPr lang="en-US" sz="1600" dirty="0"/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轮流28次，检验模型能否识别没见过的新个体。</a:t>
              </a:r>
              <a:endPara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7305675" y="1771015"/>
            <a:ext cx="3509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C00000"/>
                </a:solidFill>
              </a:rPr>
              <a:t>有效解决之前所说的个体化差异问题！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核心评价指标怎么读？</a:t>
            </a:r>
            <a:endParaRPr lang="zh-CN" altLang="en-US" sz="28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3278" y="150876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869" y="1645920"/>
            <a:ext cx="277977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Macro F1：宏平均 F1</a:t>
            </a:r>
            <a:endParaRPr lang="en-US" sz="2000" b="1" dirty="0">
              <a:solidFill>
                <a:srgbClr val="2B75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7869" y="2039112"/>
            <a:ext cx="2779776" cy="1572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457200" fontAlgn="auto">
              <a:buNone/>
            </a:pP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先</a:t>
            </a:r>
            <a:r>
              <a:rPr 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分别计算</a:t>
            </a: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每一类的F1，再</a:t>
            </a:r>
            <a:r>
              <a:rPr 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简单平均</a:t>
            </a: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；每个类别权重相同，因此更能暴露少数类表现差的问题。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26598" y="150876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FFF7E8"/>
          </a:solidFill>
          <a:ln w="12700">
            <a:solidFill>
              <a:srgbClr val="F3D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1190" y="1645920"/>
            <a:ext cx="277977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Weighted F1：加权 F1</a:t>
            </a:r>
            <a:endParaRPr lang="en-US" sz="2000" b="1" dirty="0">
              <a:solidFill>
                <a:srgbClr val="F28C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91190" y="2039112"/>
            <a:ext cx="2779776" cy="1572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457200" fontAlgn="auto">
              <a:buNone/>
            </a:pP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先算每一类的 F1，再按该类样本数量</a:t>
            </a:r>
            <a:r>
              <a:rPr 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加权平均</a:t>
            </a: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；样本多的大类影响更大，结果通常更接近总体准确率。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04810" y="1508760"/>
            <a:ext cx="3562985" cy="2194560"/>
          </a:xfrm>
          <a:prstGeom prst="roundRect">
            <a:avLst>
              <a:gd name="adj" fmla="val 3333"/>
            </a:avLst>
          </a:prstGeom>
          <a:solidFill>
            <a:srgbClr val="EEF7EE"/>
          </a:solidFill>
          <a:ln w="12700">
            <a:solidFill>
              <a:srgbClr val="CFE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0235" y="1618615"/>
            <a:ext cx="3346450" cy="29273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8B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Macro IoU：宏平均交并比</a:t>
            </a:r>
            <a:endParaRPr lang="en-US" sz="2000" b="1" dirty="0">
              <a:solidFill>
                <a:srgbClr val="2E8B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97215" y="2035810"/>
            <a:ext cx="3370580" cy="157289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457200" fontAlgn="auto">
              <a:buNone/>
            </a:pP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IoU = TP / (TP + FP + FN)，衡量预测与真实的重叠程度；每类 IoU 简单平均，对少数类同样敏感。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5"/>
          <p:cNvSpPr/>
          <p:nvPr>
            <p:custDataLst>
              <p:tags r:id="rId1"/>
            </p:custDataLst>
          </p:nvPr>
        </p:nvSpPr>
        <p:spPr>
          <a:xfrm>
            <a:off x="870903" y="4424045"/>
            <a:ext cx="23774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6"/>
          <p:cNvSpPr/>
          <p:nvPr>
            <p:custDataLst>
              <p:tags r:id="rId2"/>
            </p:custDataLst>
          </p:nvPr>
        </p:nvSpPr>
        <p:spPr>
          <a:xfrm>
            <a:off x="870903" y="4588637"/>
            <a:ext cx="237744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95.54%</a:t>
            </a:r>
            <a:endParaRPr lang="en-US" sz="2800" dirty="0"/>
          </a:p>
        </p:txBody>
      </p:sp>
      <p:sp>
        <p:nvSpPr>
          <p:cNvPr id="20" name="Text 7"/>
          <p:cNvSpPr/>
          <p:nvPr>
            <p:custDataLst>
              <p:tags r:id="rId3"/>
            </p:custDataLst>
          </p:nvPr>
        </p:nvSpPr>
        <p:spPr>
          <a:xfrm>
            <a:off x="916623" y="5201285"/>
            <a:ext cx="228600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Accuracy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8"/>
          <p:cNvSpPr/>
          <p:nvPr>
            <p:custDataLst>
              <p:tags r:id="rId4"/>
            </p:custDataLst>
          </p:nvPr>
        </p:nvSpPr>
        <p:spPr>
          <a:xfrm>
            <a:off x="3568383" y="4424045"/>
            <a:ext cx="23774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9"/>
          <p:cNvSpPr/>
          <p:nvPr>
            <p:custDataLst>
              <p:tags r:id="rId5"/>
            </p:custDataLst>
          </p:nvPr>
        </p:nvSpPr>
        <p:spPr>
          <a:xfrm>
            <a:off x="3568383" y="4588637"/>
            <a:ext cx="237744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69.46%</a:t>
            </a:r>
            <a:endParaRPr lang="en-US" sz="2800" dirty="0"/>
          </a:p>
        </p:txBody>
      </p:sp>
      <p:sp>
        <p:nvSpPr>
          <p:cNvPr id="23" name="Text 10"/>
          <p:cNvSpPr/>
          <p:nvPr>
            <p:custDataLst>
              <p:tags r:id="rId6"/>
            </p:custDataLst>
          </p:nvPr>
        </p:nvSpPr>
        <p:spPr>
          <a:xfrm>
            <a:off x="3614103" y="5201285"/>
            <a:ext cx="228600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Macro F1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11"/>
          <p:cNvSpPr/>
          <p:nvPr>
            <p:custDataLst>
              <p:tags r:id="rId7"/>
            </p:custDataLst>
          </p:nvPr>
        </p:nvSpPr>
        <p:spPr>
          <a:xfrm>
            <a:off x="6265863" y="4424045"/>
            <a:ext cx="23774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12"/>
          <p:cNvSpPr/>
          <p:nvPr>
            <p:custDataLst>
              <p:tags r:id="rId8"/>
            </p:custDataLst>
          </p:nvPr>
        </p:nvSpPr>
        <p:spPr>
          <a:xfrm>
            <a:off x="6265863" y="4588637"/>
            <a:ext cx="237744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95.46%</a:t>
            </a:r>
            <a:endParaRPr lang="en-US" sz="2800" dirty="0"/>
          </a:p>
        </p:txBody>
      </p:sp>
      <p:sp>
        <p:nvSpPr>
          <p:cNvPr id="26" name="Text 13"/>
          <p:cNvSpPr/>
          <p:nvPr>
            <p:custDataLst>
              <p:tags r:id="rId9"/>
            </p:custDataLst>
          </p:nvPr>
        </p:nvSpPr>
        <p:spPr>
          <a:xfrm>
            <a:off x="6311583" y="5201285"/>
            <a:ext cx="228600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Weighted F1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14"/>
          <p:cNvSpPr/>
          <p:nvPr>
            <p:custDataLst>
              <p:tags r:id="rId10"/>
            </p:custDataLst>
          </p:nvPr>
        </p:nvSpPr>
        <p:spPr>
          <a:xfrm>
            <a:off x="8963343" y="4424045"/>
            <a:ext cx="23774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15"/>
          <p:cNvSpPr/>
          <p:nvPr>
            <p:custDataLst>
              <p:tags r:id="rId11"/>
            </p:custDataLst>
          </p:nvPr>
        </p:nvSpPr>
        <p:spPr>
          <a:xfrm>
            <a:off x="8963343" y="4588637"/>
            <a:ext cx="237744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59.66%</a:t>
            </a:r>
            <a:endParaRPr lang="en-US" sz="2800" dirty="0"/>
          </a:p>
        </p:txBody>
      </p:sp>
      <p:sp>
        <p:nvSpPr>
          <p:cNvPr id="29" name="Text 16"/>
          <p:cNvSpPr/>
          <p:nvPr>
            <p:custDataLst>
              <p:tags r:id="rId12"/>
            </p:custDataLst>
          </p:nvPr>
        </p:nvSpPr>
        <p:spPr>
          <a:xfrm>
            <a:off x="9009063" y="5201285"/>
            <a:ext cx="228600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Macro IoU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988060" y="6071235"/>
            <a:ext cx="11203305" cy="567055"/>
            <a:chOff x="1556" y="9198"/>
            <a:chExt cx="17643" cy="893"/>
          </a:xfrm>
        </p:grpSpPr>
        <p:sp>
          <p:nvSpPr>
            <p:cNvPr id="30" name="Shape 17"/>
            <p:cNvSpPr/>
            <p:nvPr/>
          </p:nvSpPr>
          <p:spPr>
            <a:xfrm>
              <a:off x="1556" y="9198"/>
              <a:ext cx="16793" cy="893"/>
            </a:xfrm>
            <a:prstGeom prst="roundRect">
              <a:avLst>
                <a:gd name="adj" fmla="val 6667"/>
              </a:avLst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31" name="Text 19"/>
            <p:cNvSpPr/>
            <p:nvPr/>
          </p:nvSpPr>
          <p:spPr>
            <a:xfrm>
              <a:off x="1815" y="9282"/>
              <a:ext cx="17384" cy="749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F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总体准确率很高，但Macro F1明显低于Weighted F1，说明多数类表现好，少数类仍然困难。</a:t>
              </a:r>
              <a:endParaRPr lang="en-US" sz="20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33" name="Text 3"/>
          <p:cNvSpPr/>
          <p:nvPr/>
        </p:nvSpPr>
        <p:spPr>
          <a:xfrm>
            <a:off x="686435" y="3811905"/>
            <a:ext cx="10419715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altLang="zh-CN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XGBoost</a:t>
            </a:r>
            <a:r>
              <a:rPr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在我们的项目上的</a:t>
            </a: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总体表现</a:t>
            </a:r>
            <a:endParaRPr lang="en-US" sz="2000" b="1" dirty="0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confusion_matrix_xgboost_om_feats_119_smote_true_see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85" y="1563370"/>
            <a:ext cx="5240020" cy="462788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XGBoost错在哪里？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46838" y="1828800"/>
            <a:ext cx="4754880" cy="2286000"/>
          </a:xfrm>
          <a:prstGeom prst="roundRect">
            <a:avLst>
              <a:gd name="adj" fmla="val 3200"/>
            </a:avLst>
          </a:prstGeom>
          <a:solidFill>
            <a:srgbClr val="FFF3F3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11430" y="1965960"/>
            <a:ext cx="442569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左侧为混淆矩阵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611430" y="2359152"/>
            <a:ext cx="4425696" cy="1664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0" fontAlgn="auto">
              <a:lnSpc>
                <a:spcPct val="130000"/>
              </a:lnSpc>
              <a:buNone/>
            </a:pPr>
            <a:r>
              <a: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可以看到，</a:t>
            </a: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Stationary 和 Cruising Flight 最稳定。</a:t>
            </a:r>
            <a:endParaRPr lang="en-US" sz="1600" dirty="0"/>
          </a:p>
          <a:p>
            <a:pPr indent="0" fontAlgn="auto">
              <a:lnSpc>
                <a:spcPct val="130000"/>
              </a:lnSpc>
              <a:buNone/>
            </a:pPr>
            <a:endParaRPr lang="en-US" sz="1600" dirty="0"/>
          </a:p>
          <a:p>
            <a:pPr indent="0" fontAlgn="auto">
              <a:lnSpc>
                <a:spcPct val="1300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Dipping只有96个窗口识别正确，376个被误判为Stationary</a:t>
            </a:r>
            <a:r>
              <a: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1600">
                <a:sym typeface="+mn-ea"/>
              </a:rPr>
              <a:t>是当前模型的</a:t>
            </a:r>
            <a:r>
              <a:rPr lang="zh-CN" altLang="en-US" b="1">
                <a:sym typeface="+mn-ea"/>
              </a:rPr>
              <a:t>主要性能瓶颈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/>
          </a:p>
          <a:p>
            <a:pPr indent="0" fontAlgn="auto">
              <a:lnSpc>
                <a:spcPct val="130000"/>
              </a:lnSpc>
              <a:buNone/>
            </a:pPr>
            <a:endParaRPr lang="zh-CN" alt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47155" y="4389120"/>
            <a:ext cx="4855210" cy="120269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1430" y="4526280"/>
            <a:ext cx="442569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zh-CN" altLang="en-US" b="1" dirty="0"/>
              <a:t>简单来说</a:t>
            </a:r>
            <a:endParaRPr lang="zh-CN" altLang="en-US" b="1" dirty="0"/>
          </a:p>
        </p:txBody>
      </p:sp>
      <p:sp>
        <p:nvSpPr>
          <p:cNvPr id="13" name="Text 10"/>
          <p:cNvSpPr/>
          <p:nvPr/>
        </p:nvSpPr>
        <p:spPr>
          <a:xfrm>
            <a:off x="6610985" y="4819015"/>
            <a:ext cx="4519295" cy="643255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indent="457200" fontAlgn="auto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模型容易把短暂点水</a:t>
            </a: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动作</a:t>
            </a:r>
            <a:r>
              <a: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Dipping</a:t>
            </a:r>
            <a:r>
              <a: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看成相对静止</a:t>
            </a:r>
            <a:r>
              <a: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动作（</a:t>
            </a:r>
            <a:r>
              <a:rPr lang="en-US" altLang="zh-CN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Stationary</a:t>
            </a:r>
            <a:r>
              <a: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488180" y="4507865"/>
            <a:ext cx="636270" cy="621665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586230" y="4526280"/>
            <a:ext cx="636270" cy="621665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3302635" y="3401695"/>
            <a:ext cx="636270" cy="621665"/>
          </a:xfrm>
          <a:prstGeom prst="ellipse">
            <a:avLst/>
          </a:prstGeom>
          <a:noFill/>
          <a:ln w="38100">
            <a:solidFill>
              <a:srgbClr val="92D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586230" y="1641475"/>
            <a:ext cx="636270" cy="621665"/>
          </a:xfrm>
          <a:prstGeom prst="ellipse">
            <a:avLst/>
          </a:prstGeom>
          <a:noFill/>
          <a:ln w="38100">
            <a:solidFill>
              <a:srgbClr val="92D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5280025" y="3723640"/>
            <a:ext cx="1040765" cy="94742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4169410" y="2706370"/>
            <a:ext cx="2446020" cy="791845"/>
          </a:xfrm>
          <a:prstGeom prst="straightConnector1">
            <a:avLst/>
          </a:prstGeom>
          <a:ln w="28575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2399030" y="1984375"/>
            <a:ext cx="4170045" cy="551180"/>
          </a:xfrm>
          <a:prstGeom prst="straightConnector1">
            <a:avLst/>
          </a:prstGeom>
          <a:ln w="28575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DCL-SA错在哪里？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021265" y="1005840"/>
            <a:ext cx="10424160" cy="274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zh-CN" alt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我们可以自己圈圈看</a:t>
            </a:r>
            <a:r>
              <a:rPr 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721158" y="1828800"/>
            <a:ext cx="4480560" cy="2194560"/>
          </a:xfrm>
          <a:prstGeom prst="roundRect">
            <a:avLst>
              <a:gd name="adj" fmla="val 3333"/>
            </a:avLst>
          </a:prstGeom>
          <a:solidFill>
            <a:srgbClr val="FFF3F3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85750" y="1965960"/>
            <a:ext cx="415137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主要发现</a:t>
            </a:r>
            <a:endParaRPr 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85750" y="2359152"/>
            <a:ext cx="4151376" cy="1572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457200" fontAlgn="auto">
              <a:buNone/>
            </a:pPr>
            <a:r>
              <a:rPr 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Stationary 和 Cruising Flight 依然最稳定。</a:t>
            </a:r>
            <a:endParaRPr lang="en-US" dirty="0"/>
          </a:p>
          <a:p>
            <a:pPr indent="457200" fontAlgn="auto">
              <a:buNone/>
            </a:pPr>
            <a:endParaRPr lang="en-US" dirty="0"/>
          </a:p>
          <a:p>
            <a:pPr indent="457200" fontAlgn="auto">
              <a:buNone/>
            </a:pPr>
            <a:r>
              <a:rPr lang="en-US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Dipping的F1仍较低，许多窗口被误判为Stationary。</a:t>
            </a:r>
            <a:endParaRPr lang="en-US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721158" y="438912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23520" y="4699762"/>
            <a:ext cx="4151376" cy="201168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少数类别和短暂复杂行为，是</a:t>
            </a:r>
            <a:r>
              <a:rPr lang="zh-CN" alt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</a:t>
            </a: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改进重点。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690" y="1664970"/>
            <a:ext cx="5780405" cy="4867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top20_feature_importance_xgboost_see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260" y="1700530"/>
            <a:ext cx="6322060" cy="477075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XGBoost</a:t>
            </a:r>
            <a:r>
              <a:rPr lang="zh-CN" alt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</a:t>
            </a: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哪些动作指标</a:t>
            </a:r>
            <a:r>
              <a:rPr lang="zh-CN" alt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更重要</a:t>
            </a: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95695" y="1076960"/>
            <a:ext cx="5203190" cy="62357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indent="457200" fontAlgn="auto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特征重要性</a:t>
            </a:r>
            <a:r>
              <a:rPr lang="zh-CN" altLang="en-US" sz="2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排序是非常重要的参考指标，</a:t>
            </a:r>
            <a:r>
              <a:rPr lang="en-US" sz="2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可以帮助我们</a:t>
            </a:r>
            <a:r>
              <a:rPr lang="zh-CN" altLang="en-US" sz="2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看到哪些指标起了较大作用</a:t>
            </a:r>
            <a:r>
              <a:rPr lang="en-US" sz="2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000" b="1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086918" y="2313305"/>
            <a:ext cx="4389120" cy="2971800"/>
          </a:xfrm>
          <a:prstGeom prst="roundRect">
            <a:avLst>
              <a:gd name="adj" fmla="val 2462"/>
            </a:avLst>
          </a:prstGeom>
          <a:solidFill>
            <a:srgbClr val="EEF7EE"/>
          </a:solidFill>
          <a:ln w="12700">
            <a:solidFill>
              <a:srgbClr val="CFE8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51510" y="2606040"/>
            <a:ext cx="405993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E8B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核心结论</a:t>
            </a:r>
            <a:endParaRPr lang="en-US" sz="2400" b="1" dirty="0">
              <a:solidFill>
                <a:srgbClr val="2E8B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251510" y="2843657"/>
            <a:ext cx="4059936" cy="23500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排名靠前的多为：</a:t>
            </a:r>
            <a:endParaRPr lang="en-US" sz="16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动态强度：acc_x_dcp_mean、VeDBA_mean、VeDBA_var</a:t>
            </a:r>
            <a:endParaRPr lang="en-US" sz="16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姿态变化：roll_var、pitch_var</a:t>
            </a:r>
            <a:endParaRPr lang="en-US" sz="16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轴向统计、协方差、频域信息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同理，我们来看</a:t>
            </a: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DCL-SA总体表现</a:t>
            </a:r>
            <a:endParaRPr lang="en-US" sz="28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731838" y="1828800"/>
            <a:ext cx="23774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731838" y="1993392"/>
            <a:ext cx="237744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95.87%</a:t>
            </a:r>
            <a:endParaRPr lang="en-US" sz="28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777558" y="2606040"/>
            <a:ext cx="228600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3429318" y="1828800"/>
            <a:ext cx="23774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3429318" y="1993392"/>
            <a:ext cx="237744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74.31%</a:t>
            </a:r>
            <a:endParaRPr lang="en-US" sz="28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3475038" y="2606040"/>
            <a:ext cx="228600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6126798" y="1828800"/>
            <a:ext cx="23774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6126798" y="1993392"/>
            <a:ext cx="237744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96.00%</a:t>
            </a:r>
            <a:endParaRPr lang="en-US" sz="28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6172518" y="2606040"/>
            <a:ext cx="228600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Weighted F1</a:t>
            </a:r>
            <a:endParaRPr lang="en-US" sz="1100" dirty="0"/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8824278" y="1828800"/>
            <a:ext cx="23774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8824278" y="1993392"/>
            <a:ext cx="237744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64.80%</a:t>
            </a:r>
            <a:endParaRPr lang="en-US" sz="28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8869998" y="2606040"/>
            <a:ext cx="228600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Macro IoU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598" y="3931920"/>
            <a:ext cx="9692640" cy="1097280"/>
          </a:xfrm>
          <a:prstGeom prst="roundRect">
            <a:avLst>
              <a:gd name="adj" fmla="val 6667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2190" y="4252722"/>
            <a:ext cx="9363456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indent="457200" fontAlgn="auto">
              <a:buNone/>
            </a:pPr>
            <a:r>
              <a:rPr lang="en-US" sz="20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DCL-SA整体略优于XGBoost，尤其Macro F1更高，说明深度学习对不同类别的综合表现略好。</a:t>
            </a:r>
            <a:endParaRPr lang="en-US" sz="20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等腰三角形 48"/>
          <p:cNvSpPr/>
          <p:nvPr/>
        </p:nvSpPr>
        <p:spPr>
          <a:xfrm rot="16200000">
            <a:off x="11021695" y="3008630"/>
            <a:ext cx="1499235" cy="840105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868545" y="2971800"/>
            <a:ext cx="309753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5400" spc="300" dirty="0">
                <a:latin typeface="字魂35号-经典雅黑" panose="00000500000000000000" charset="-122"/>
                <a:ea typeface="字魂35号-经典雅黑" panose="00000500000000000000" charset="-122"/>
                <a:cs typeface="+mn-ea"/>
                <a:sym typeface="+mn-ea"/>
              </a:rPr>
              <a:t>总结</a:t>
            </a:r>
            <a:endParaRPr lang="zh-CN" altLang="en-US" sz="5400" spc="300" dirty="0">
              <a:latin typeface="字魂35号-经典雅黑" panose="00000500000000000000" charset="-122"/>
              <a:ea typeface="字魂35号-经典雅黑" panose="00000500000000000000" charset="-122"/>
              <a:cs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54655" y="4079240"/>
            <a:ext cx="7490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latin typeface="字魂119号-天真儿风体" panose="00000500000000000000" charset="-122"/>
                <a:ea typeface="字魂119号-天真儿风体" panose="00000500000000000000" charset="-122"/>
                <a:cs typeface="Lucida Calligraphy" panose="03010101010101010101" charset="0"/>
                <a:sym typeface="+mn-ea"/>
              </a:rPr>
              <a:t>点击这里，输入合适的内容。点击这里，输入合适的内容。点击这里，输入合适的内容。</a:t>
            </a:r>
            <a:r>
              <a:rPr lang="en-US" sz="1400" dirty="0">
                <a:latin typeface="字魂119号-天真儿风体" panose="00000500000000000000" charset="-122"/>
                <a:ea typeface="字魂119号-天真儿风体" panose="00000500000000000000" charset="-122"/>
                <a:cs typeface="Lucida Calligraphy" panose="03010101010101010101" charset="0"/>
                <a:sym typeface="+mn-ea"/>
              </a:rPr>
              <a:t>.</a:t>
            </a:r>
            <a:endParaRPr lang="en-US" sz="1400" dirty="0">
              <a:latin typeface="字魂119号-天真儿风体" panose="00000500000000000000" charset="-122"/>
              <a:ea typeface="字魂119号-天真儿风体" panose="00000500000000000000" charset="-122"/>
              <a:cs typeface="Lucida Calligraphy" panose="03010101010101010101" charset="0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901055" y="1647190"/>
            <a:ext cx="1049655" cy="1049655"/>
            <a:chOff x="8078" y="1403"/>
            <a:chExt cx="2610" cy="2610"/>
          </a:xfrm>
        </p:grpSpPr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8493" y="2088"/>
              <a:ext cx="1781" cy="1240"/>
            </a:xfrm>
            <a:custGeom>
              <a:avLst/>
              <a:gdLst>
                <a:gd name="T0" fmla="*/ 245 w 589"/>
                <a:gd name="T1" fmla="*/ 311 h 334"/>
                <a:gd name="T2" fmla="*/ 243 w 589"/>
                <a:gd name="T3" fmla="*/ 244 h 334"/>
                <a:gd name="T4" fmla="*/ 236 w 589"/>
                <a:gd name="T5" fmla="*/ 238 h 334"/>
                <a:gd name="T6" fmla="*/ 223 w 589"/>
                <a:gd name="T7" fmla="*/ 240 h 334"/>
                <a:gd name="T8" fmla="*/ 218 w 589"/>
                <a:gd name="T9" fmla="*/ 239 h 334"/>
                <a:gd name="T10" fmla="*/ 156 w 589"/>
                <a:gd name="T11" fmla="*/ 211 h 334"/>
                <a:gd name="T12" fmla="*/ 148 w 589"/>
                <a:gd name="T13" fmla="*/ 216 h 334"/>
                <a:gd name="T14" fmla="*/ 151 w 589"/>
                <a:gd name="T15" fmla="*/ 252 h 334"/>
                <a:gd name="T16" fmla="*/ 153 w 589"/>
                <a:gd name="T17" fmla="*/ 254 h 334"/>
                <a:gd name="T18" fmla="*/ 199 w 589"/>
                <a:gd name="T19" fmla="*/ 296 h 334"/>
                <a:gd name="T20" fmla="*/ 237 w 589"/>
                <a:gd name="T21" fmla="*/ 317 h 334"/>
                <a:gd name="T22" fmla="*/ 245 w 589"/>
                <a:gd name="T23" fmla="*/ 311 h 334"/>
                <a:gd name="T24" fmla="*/ 521 w 589"/>
                <a:gd name="T25" fmla="*/ 220 h 334"/>
                <a:gd name="T26" fmla="*/ 524 w 589"/>
                <a:gd name="T27" fmla="*/ 223 h 334"/>
                <a:gd name="T28" fmla="*/ 534 w 589"/>
                <a:gd name="T29" fmla="*/ 235 h 334"/>
                <a:gd name="T30" fmla="*/ 536 w 589"/>
                <a:gd name="T31" fmla="*/ 238 h 334"/>
                <a:gd name="T32" fmla="*/ 552 w 589"/>
                <a:gd name="T33" fmla="*/ 262 h 334"/>
                <a:gd name="T34" fmla="*/ 527 w 589"/>
                <a:gd name="T35" fmla="*/ 320 h 334"/>
                <a:gd name="T36" fmla="*/ 520 w 589"/>
                <a:gd name="T37" fmla="*/ 313 h 334"/>
                <a:gd name="T38" fmla="*/ 501 w 589"/>
                <a:gd name="T39" fmla="*/ 268 h 334"/>
                <a:gd name="T40" fmla="*/ 506 w 589"/>
                <a:gd name="T41" fmla="*/ 244 h 334"/>
                <a:gd name="T42" fmla="*/ 506 w 589"/>
                <a:gd name="T43" fmla="*/ 241 h 334"/>
                <a:gd name="T44" fmla="*/ 505 w 589"/>
                <a:gd name="T45" fmla="*/ 235 h 334"/>
                <a:gd name="T46" fmla="*/ 510 w 589"/>
                <a:gd name="T47" fmla="*/ 226 h 334"/>
                <a:gd name="T48" fmla="*/ 511 w 589"/>
                <a:gd name="T49" fmla="*/ 222 h 334"/>
                <a:gd name="T50" fmla="*/ 495 w 589"/>
                <a:gd name="T51" fmla="*/ 174 h 334"/>
                <a:gd name="T52" fmla="*/ 491 w 589"/>
                <a:gd name="T53" fmla="*/ 173 h 334"/>
                <a:gd name="T54" fmla="*/ 224 w 589"/>
                <a:gd name="T55" fmla="*/ 227 h 334"/>
                <a:gd name="T56" fmla="*/ 221 w 589"/>
                <a:gd name="T57" fmla="*/ 227 h 334"/>
                <a:gd name="T58" fmla="*/ 95 w 589"/>
                <a:gd name="T59" fmla="*/ 162 h 334"/>
                <a:gd name="T60" fmla="*/ 5 w 589"/>
                <a:gd name="T61" fmla="*/ 81 h 334"/>
                <a:gd name="T62" fmla="*/ 9 w 589"/>
                <a:gd name="T63" fmla="*/ 72 h 334"/>
                <a:gd name="T64" fmla="*/ 194 w 589"/>
                <a:gd name="T65" fmla="*/ 51 h 334"/>
                <a:gd name="T66" fmla="*/ 372 w 589"/>
                <a:gd name="T67" fmla="*/ 0 h 334"/>
                <a:gd name="T68" fmla="*/ 378 w 589"/>
                <a:gd name="T69" fmla="*/ 2 h 334"/>
                <a:gd name="T70" fmla="*/ 484 w 589"/>
                <a:gd name="T71" fmla="*/ 84 h 334"/>
                <a:gd name="T72" fmla="*/ 581 w 589"/>
                <a:gd name="T73" fmla="*/ 132 h 334"/>
                <a:gd name="T74" fmla="*/ 581 w 589"/>
                <a:gd name="T75" fmla="*/ 143 h 334"/>
                <a:gd name="T76" fmla="*/ 507 w 589"/>
                <a:gd name="T77" fmla="*/ 167 h 334"/>
                <a:gd name="T78" fmla="*/ 505 w 589"/>
                <a:gd name="T79" fmla="*/ 172 h 334"/>
                <a:gd name="T80" fmla="*/ 521 w 589"/>
                <a:gd name="T81" fmla="*/ 220 h 334"/>
                <a:gd name="T82" fmla="*/ 452 w 589"/>
                <a:gd name="T83" fmla="*/ 197 h 334"/>
                <a:gd name="T84" fmla="*/ 458 w 589"/>
                <a:gd name="T85" fmla="*/ 209 h 334"/>
                <a:gd name="T86" fmla="*/ 456 w 589"/>
                <a:gd name="T87" fmla="*/ 234 h 334"/>
                <a:gd name="T88" fmla="*/ 451 w 589"/>
                <a:gd name="T89" fmla="*/ 258 h 334"/>
                <a:gd name="T90" fmla="*/ 448 w 589"/>
                <a:gd name="T91" fmla="*/ 262 h 334"/>
                <a:gd name="T92" fmla="*/ 355 w 589"/>
                <a:gd name="T93" fmla="*/ 298 h 334"/>
                <a:gd name="T94" fmla="*/ 264 w 589"/>
                <a:gd name="T95" fmla="*/ 321 h 334"/>
                <a:gd name="T96" fmla="*/ 258 w 589"/>
                <a:gd name="T97" fmla="*/ 316 h 334"/>
                <a:gd name="T98" fmla="*/ 255 w 589"/>
                <a:gd name="T99" fmla="*/ 241 h 334"/>
                <a:gd name="T100" fmla="*/ 260 w 589"/>
                <a:gd name="T101" fmla="*/ 235 h 334"/>
                <a:gd name="T102" fmla="*/ 452 w 589"/>
                <a:gd name="T103" fmla="*/ 19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89" h="334">
                  <a:moveTo>
                    <a:pt x="245" y="311"/>
                  </a:moveTo>
                  <a:cubicBezTo>
                    <a:pt x="244" y="289"/>
                    <a:pt x="243" y="266"/>
                    <a:pt x="243" y="244"/>
                  </a:cubicBezTo>
                  <a:cubicBezTo>
                    <a:pt x="242" y="241"/>
                    <a:pt x="239" y="238"/>
                    <a:pt x="236" y="238"/>
                  </a:cubicBezTo>
                  <a:cubicBezTo>
                    <a:pt x="232" y="239"/>
                    <a:pt x="228" y="239"/>
                    <a:pt x="223" y="240"/>
                  </a:cubicBezTo>
                  <a:cubicBezTo>
                    <a:pt x="221" y="240"/>
                    <a:pt x="220" y="240"/>
                    <a:pt x="218" y="239"/>
                  </a:cubicBezTo>
                  <a:cubicBezTo>
                    <a:pt x="194" y="229"/>
                    <a:pt x="173" y="219"/>
                    <a:pt x="156" y="211"/>
                  </a:cubicBezTo>
                  <a:cubicBezTo>
                    <a:pt x="152" y="209"/>
                    <a:pt x="147" y="212"/>
                    <a:pt x="148" y="216"/>
                  </a:cubicBezTo>
                  <a:cubicBezTo>
                    <a:pt x="148" y="228"/>
                    <a:pt x="149" y="241"/>
                    <a:pt x="151" y="252"/>
                  </a:cubicBezTo>
                  <a:cubicBezTo>
                    <a:pt x="152" y="253"/>
                    <a:pt x="152" y="254"/>
                    <a:pt x="153" y="254"/>
                  </a:cubicBezTo>
                  <a:cubicBezTo>
                    <a:pt x="167" y="270"/>
                    <a:pt x="183" y="284"/>
                    <a:pt x="199" y="296"/>
                  </a:cubicBezTo>
                  <a:cubicBezTo>
                    <a:pt x="211" y="304"/>
                    <a:pt x="224" y="311"/>
                    <a:pt x="237" y="317"/>
                  </a:cubicBezTo>
                  <a:cubicBezTo>
                    <a:pt x="241" y="318"/>
                    <a:pt x="245" y="316"/>
                    <a:pt x="245" y="311"/>
                  </a:cubicBezTo>
                  <a:close/>
                  <a:moveTo>
                    <a:pt x="521" y="220"/>
                  </a:moveTo>
                  <a:cubicBezTo>
                    <a:pt x="522" y="222"/>
                    <a:pt x="522" y="222"/>
                    <a:pt x="524" y="223"/>
                  </a:cubicBezTo>
                  <a:cubicBezTo>
                    <a:pt x="530" y="224"/>
                    <a:pt x="534" y="229"/>
                    <a:pt x="534" y="235"/>
                  </a:cubicBezTo>
                  <a:cubicBezTo>
                    <a:pt x="534" y="237"/>
                    <a:pt x="534" y="237"/>
                    <a:pt x="536" y="238"/>
                  </a:cubicBezTo>
                  <a:cubicBezTo>
                    <a:pt x="545" y="241"/>
                    <a:pt x="551" y="249"/>
                    <a:pt x="552" y="262"/>
                  </a:cubicBezTo>
                  <a:cubicBezTo>
                    <a:pt x="553" y="279"/>
                    <a:pt x="539" y="308"/>
                    <a:pt x="527" y="320"/>
                  </a:cubicBezTo>
                  <a:cubicBezTo>
                    <a:pt x="512" y="334"/>
                    <a:pt x="515" y="327"/>
                    <a:pt x="520" y="313"/>
                  </a:cubicBezTo>
                  <a:cubicBezTo>
                    <a:pt x="524" y="300"/>
                    <a:pt x="504" y="290"/>
                    <a:pt x="501" y="268"/>
                  </a:cubicBezTo>
                  <a:cubicBezTo>
                    <a:pt x="500" y="257"/>
                    <a:pt x="501" y="249"/>
                    <a:pt x="506" y="244"/>
                  </a:cubicBezTo>
                  <a:cubicBezTo>
                    <a:pt x="507" y="243"/>
                    <a:pt x="507" y="242"/>
                    <a:pt x="506" y="241"/>
                  </a:cubicBezTo>
                  <a:cubicBezTo>
                    <a:pt x="506" y="239"/>
                    <a:pt x="505" y="237"/>
                    <a:pt x="505" y="235"/>
                  </a:cubicBezTo>
                  <a:cubicBezTo>
                    <a:pt x="505" y="232"/>
                    <a:pt x="507" y="228"/>
                    <a:pt x="510" y="226"/>
                  </a:cubicBezTo>
                  <a:cubicBezTo>
                    <a:pt x="511" y="224"/>
                    <a:pt x="511" y="224"/>
                    <a:pt x="511" y="222"/>
                  </a:cubicBezTo>
                  <a:cubicBezTo>
                    <a:pt x="505" y="202"/>
                    <a:pt x="500" y="187"/>
                    <a:pt x="495" y="174"/>
                  </a:cubicBezTo>
                  <a:cubicBezTo>
                    <a:pt x="495" y="173"/>
                    <a:pt x="493" y="172"/>
                    <a:pt x="491" y="173"/>
                  </a:cubicBezTo>
                  <a:cubicBezTo>
                    <a:pt x="405" y="199"/>
                    <a:pt x="327" y="215"/>
                    <a:pt x="224" y="227"/>
                  </a:cubicBezTo>
                  <a:cubicBezTo>
                    <a:pt x="223" y="227"/>
                    <a:pt x="222" y="227"/>
                    <a:pt x="221" y="227"/>
                  </a:cubicBezTo>
                  <a:cubicBezTo>
                    <a:pt x="162" y="201"/>
                    <a:pt x="127" y="184"/>
                    <a:pt x="95" y="162"/>
                  </a:cubicBezTo>
                  <a:cubicBezTo>
                    <a:pt x="67" y="142"/>
                    <a:pt x="42" y="118"/>
                    <a:pt x="5" y="81"/>
                  </a:cubicBezTo>
                  <a:cubicBezTo>
                    <a:pt x="2" y="78"/>
                    <a:pt x="0" y="72"/>
                    <a:pt x="9" y="72"/>
                  </a:cubicBezTo>
                  <a:cubicBezTo>
                    <a:pt x="86" y="67"/>
                    <a:pt x="142" y="61"/>
                    <a:pt x="194" y="51"/>
                  </a:cubicBezTo>
                  <a:cubicBezTo>
                    <a:pt x="250" y="40"/>
                    <a:pt x="302" y="25"/>
                    <a:pt x="372" y="0"/>
                  </a:cubicBezTo>
                  <a:cubicBezTo>
                    <a:pt x="374" y="0"/>
                    <a:pt x="376" y="0"/>
                    <a:pt x="378" y="2"/>
                  </a:cubicBezTo>
                  <a:cubicBezTo>
                    <a:pt x="416" y="37"/>
                    <a:pt x="449" y="63"/>
                    <a:pt x="484" y="84"/>
                  </a:cubicBezTo>
                  <a:cubicBezTo>
                    <a:pt x="514" y="102"/>
                    <a:pt x="545" y="117"/>
                    <a:pt x="581" y="132"/>
                  </a:cubicBezTo>
                  <a:cubicBezTo>
                    <a:pt x="589" y="135"/>
                    <a:pt x="589" y="140"/>
                    <a:pt x="581" y="143"/>
                  </a:cubicBezTo>
                  <a:cubicBezTo>
                    <a:pt x="555" y="152"/>
                    <a:pt x="531" y="160"/>
                    <a:pt x="507" y="167"/>
                  </a:cubicBezTo>
                  <a:cubicBezTo>
                    <a:pt x="505" y="168"/>
                    <a:pt x="504" y="170"/>
                    <a:pt x="505" y="172"/>
                  </a:cubicBezTo>
                  <a:cubicBezTo>
                    <a:pt x="509" y="184"/>
                    <a:pt x="514" y="199"/>
                    <a:pt x="521" y="220"/>
                  </a:cubicBezTo>
                  <a:close/>
                  <a:moveTo>
                    <a:pt x="452" y="197"/>
                  </a:moveTo>
                  <a:cubicBezTo>
                    <a:pt x="460" y="195"/>
                    <a:pt x="459" y="205"/>
                    <a:pt x="458" y="209"/>
                  </a:cubicBezTo>
                  <a:cubicBezTo>
                    <a:pt x="457" y="218"/>
                    <a:pt x="457" y="226"/>
                    <a:pt x="456" y="234"/>
                  </a:cubicBezTo>
                  <a:cubicBezTo>
                    <a:pt x="454" y="242"/>
                    <a:pt x="453" y="250"/>
                    <a:pt x="451" y="258"/>
                  </a:cubicBezTo>
                  <a:cubicBezTo>
                    <a:pt x="451" y="260"/>
                    <a:pt x="450" y="261"/>
                    <a:pt x="448" y="262"/>
                  </a:cubicBezTo>
                  <a:cubicBezTo>
                    <a:pt x="418" y="276"/>
                    <a:pt x="387" y="288"/>
                    <a:pt x="355" y="298"/>
                  </a:cubicBezTo>
                  <a:cubicBezTo>
                    <a:pt x="326" y="307"/>
                    <a:pt x="295" y="315"/>
                    <a:pt x="264" y="321"/>
                  </a:cubicBezTo>
                  <a:cubicBezTo>
                    <a:pt x="261" y="321"/>
                    <a:pt x="258" y="319"/>
                    <a:pt x="258" y="316"/>
                  </a:cubicBezTo>
                  <a:cubicBezTo>
                    <a:pt x="257" y="291"/>
                    <a:pt x="256" y="266"/>
                    <a:pt x="255" y="241"/>
                  </a:cubicBezTo>
                  <a:cubicBezTo>
                    <a:pt x="255" y="238"/>
                    <a:pt x="257" y="236"/>
                    <a:pt x="260" y="235"/>
                  </a:cubicBezTo>
                  <a:cubicBezTo>
                    <a:pt x="325" y="227"/>
                    <a:pt x="389" y="214"/>
                    <a:pt x="452" y="197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8078" y="1403"/>
              <a:ext cx="2610" cy="2610"/>
            </a:xfrm>
            <a:prstGeom prst="ellipse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八边形 8"/>
          <p:cNvSpPr/>
          <p:nvPr/>
        </p:nvSpPr>
        <p:spPr>
          <a:xfrm>
            <a:off x="5604510" y="4949825"/>
            <a:ext cx="1643380" cy="445770"/>
          </a:xfrm>
          <a:prstGeom prst="octagon">
            <a:avLst>
              <a:gd name="adj" fmla="val 2753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556250" y="4973320"/>
            <a:ext cx="1625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en-US" altLang="zh-CN" sz="2000" b="1" dirty="0">
                <a:solidFill>
                  <a:schemeClr val="bg1"/>
                </a:solidFill>
                <a:latin typeface="字魂59号-创粗黑" panose="00000500000000000000" charset="-122"/>
                <a:ea typeface="字魂59号-创粗黑" panose="00000500000000000000" charset="-122"/>
                <a:sym typeface="+mn-ea"/>
              </a:rPr>
              <a:t> PART 04</a:t>
            </a:r>
            <a:endParaRPr lang="en-US" altLang="zh-CN" sz="2000" b="1" dirty="0">
              <a:solidFill>
                <a:schemeClr val="bg1"/>
              </a:solidFill>
              <a:latin typeface="字魂59号-创粗黑" panose="00000500000000000000" charset="-122"/>
              <a:ea typeface="字魂59号-创粗黑" panose="00000500000000000000" charset="-122"/>
              <a:sym typeface="+mn-ea"/>
            </a:endParaRPr>
          </a:p>
        </p:txBody>
      </p:sp>
      <p:grpSp>
        <p:nvGrpSpPr>
          <p:cNvPr id="58" name="组合 57"/>
          <p:cNvGrpSpPr/>
          <p:nvPr/>
        </p:nvGrpSpPr>
        <p:grpSpPr>
          <a:xfrm rot="16200000">
            <a:off x="-845185" y="1463675"/>
            <a:ext cx="3479800" cy="1250950"/>
            <a:chOff x="169" y="209"/>
            <a:chExt cx="5480" cy="1970"/>
          </a:xfrm>
        </p:grpSpPr>
        <p:grpSp>
          <p:nvGrpSpPr>
            <p:cNvPr id="2" name="组合 1"/>
            <p:cNvGrpSpPr/>
            <p:nvPr/>
          </p:nvGrpSpPr>
          <p:grpSpPr>
            <a:xfrm flipH="1">
              <a:off x="169" y="209"/>
              <a:ext cx="5481" cy="1970"/>
              <a:chOff x="13719" y="55"/>
              <a:chExt cx="5481" cy="1970"/>
            </a:xfrm>
          </p:grpSpPr>
          <p:grpSp>
            <p:nvGrpSpPr>
              <p:cNvPr id="10" name="Group 4"/>
              <p:cNvGrpSpPr/>
              <p:nvPr userDrawn="1"/>
            </p:nvGrpSpPr>
            <p:grpSpPr>
              <a:xfrm rot="10800000">
                <a:off x="14586" y="777"/>
                <a:ext cx="4614" cy="1248"/>
                <a:chOff x="6492014" y="1638308"/>
                <a:chExt cx="938947" cy="25399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17" name="Diamond 5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18" name="Diamond 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" name="Diamond 7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grpSp>
            <p:nvGrpSpPr>
              <p:cNvPr id="11" name="Group 12"/>
              <p:cNvGrpSpPr/>
              <p:nvPr userDrawn="1"/>
            </p:nvGrpSpPr>
            <p:grpSpPr>
              <a:xfrm rot="10800000">
                <a:off x="13719" y="55"/>
                <a:ext cx="4614" cy="1248"/>
                <a:chOff x="6492014" y="1638308"/>
                <a:chExt cx="938947" cy="253992"/>
              </a:xfrm>
              <a:solidFill>
                <a:srgbClr val="C00000"/>
              </a:solidFill>
            </p:grpSpPr>
            <p:sp>
              <p:nvSpPr>
                <p:cNvPr id="15" name="Diamond 1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16" name="Diamond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1" name="Diamond 1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4" name="椭圆 53"/>
            <p:cNvSpPr/>
            <p:nvPr/>
          </p:nvSpPr>
          <p:spPr>
            <a:xfrm>
              <a:off x="583" y="1346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3116" y="624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 rot="5400000" flipH="1">
            <a:off x="95250" y="4151630"/>
            <a:ext cx="3479800" cy="1250950"/>
            <a:chOff x="169" y="209"/>
            <a:chExt cx="5480" cy="1970"/>
          </a:xfrm>
        </p:grpSpPr>
        <p:grpSp>
          <p:nvGrpSpPr>
            <p:cNvPr id="23" name="组合 22"/>
            <p:cNvGrpSpPr/>
            <p:nvPr/>
          </p:nvGrpSpPr>
          <p:grpSpPr>
            <a:xfrm flipH="1">
              <a:off x="169" y="209"/>
              <a:ext cx="5481" cy="1970"/>
              <a:chOff x="13719" y="55"/>
              <a:chExt cx="5481" cy="1970"/>
            </a:xfrm>
          </p:grpSpPr>
          <p:grpSp>
            <p:nvGrpSpPr>
              <p:cNvPr id="24" name="Group 4"/>
              <p:cNvGrpSpPr/>
              <p:nvPr userDrawn="1"/>
            </p:nvGrpSpPr>
            <p:grpSpPr>
              <a:xfrm rot="10800000">
                <a:off x="14586" y="777"/>
                <a:ext cx="4614" cy="1248"/>
                <a:chOff x="6492014" y="1638308"/>
                <a:chExt cx="938947" cy="25399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25" name="Diamond 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6" name="Diamond 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7" name="Diamond 7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grpSp>
            <p:nvGrpSpPr>
              <p:cNvPr id="28" name="Group 12"/>
              <p:cNvGrpSpPr/>
              <p:nvPr userDrawn="1"/>
            </p:nvGrpSpPr>
            <p:grpSpPr>
              <a:xfrm rot="10800000">
                <a:off x="13719" y="55"/>
                <a:ext cx="4614" cy="1248"/>
                <a:chOff x="6492014" y="1638308"/>
                <a:chExt cx="938947" cy="253992"/>
              </a:xfrm>
              <a:solidFill>
                <a:srgbClr val="C00000"/>
              </a:solidFill>
            </p:grpSpPr>
            <p:sp>
              <p:nvSpPr>
                <p:cNvPr id="30" name="Diamond 13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1" name="Diamond 14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2" name="Diamond 15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3" name="椭圆 32"/>
            <p:cNvSpPr/>
            <p:nvPr/>
          </p:nvSpPr>
          <p:spPr>
            <a:xfrm>
              <a:off x="583" y="1346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3116" y="624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等腰三角形 47"/>
          <p:cNvSpPr/>
          <p:nvPr/>
        </p:nvSpPr>
        <p:spPr>
          <a:xfrm rot="16200000">
            <a:off x="11189970" y="3176270"/>
            <a:ext cx="1499235" cy="50482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/>
          <p:nvPr/>
        </p:nvCxnSpPr>
        <p:spPr>
          <a:xfrm flipH="1" flipV="1">
            <a:off x="293370" y="3190240"/>
            <a:ext cx="594360" cy="6388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 flipV="1">
            <a:off x="2197100" y="5085715"/>
            <a:ext cx="605155" cy="59880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925830" y="425450"/>
            <a:ext cx="594360" cy="6388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14:prism isContent="1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ldLvl="0" animBg="1"/>
      <p:bldP spid="49" grpId="1" animBg="1"/>
      <p:bldP spid="34" grpId="0"/>
      <p:bldP spid="34" grpId="1"/>
      <p:bldP spid="8" grpId="0"/>
      <p:bldP spid="8" grpId="1"/>
      <p:bldP spid="9" grpId="0" bldLvl="0" animBg="1"/>
      <p:bldP spid="9" grpId="1" animBg="1"/>
      <p:bldP spid="29" grpId="0"/>
      <p:bldP spid="29" grpId="1"/>
      <p:bldP spid="48" grpId="0" bldLvl="0" animBg="1"/>
      <p:bldP spid="48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6118" y="868680"/>
            <a:ext cx="10881360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两条路线的结果对比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550" y="1417320"/>
            <a:ext cx="10424160" cy="274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显然，</a:t>
            </a: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传统机器学习和深度学习都能做，但优势不同。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838" y="1828800"/>
            <a:ext cx="141732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414" y="1938528"/>
            <a:ext cx="1344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</a:t>
            </a:r>
            <a:endParaRPr 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32038" y="1828800"/>
            <a:ext cx="210312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8614" y="1938528"/>
            <a:ext cx="20299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758" y="1828800"/>
            <a:ext cx="150876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334" y="1938528"/>
            <a:ext cx="14356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838" y="1828800"/>
            <a:ext cx="150876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414" y="1938528"/>
            <a:ext cx="14356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Macro F1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918" y="1828800"/>
            <a:ext cx="324612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494" y="1938528"/>
            <a:ext cx="31729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主要特点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838" y="2395728"/>
            <a:ext cx="1417320" cy="502920"/>
          </a:xfrm>
          <a:prstGeom prst="rect">
            <a:avLst/>
          </a:prstGeom>
          <a:solidFill>
            <a:srgbClr val="FFF7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414" y="2505456"/>
            <a:ext cx="1344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XGBoost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332038" y="2395728"/>
            <a:ext cx="2103120" cy="502920"/>
          </a:xfrm>
          <a:prstGeom prst="rect">
            <a:avLst/>
          </a:prstGeom>
          <a:solidFill>
            <a:srgbClr val="FFF7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68614" y="2505456"/>
            <a:ext cx="20299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20000"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119个手工特征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758" y="2395728"/>
            <a:ext cx="1508760" cy="502920"/>
          </a:xfrm>
          <a:prstGeom prst="rect">
            <a:avLst/>
          </a:prstGeom>
          <a:solidFill>
            <a:srgbClr val="FFF7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334" y="2505456"/>
            <a:ext cx="14356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20000"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95.54%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46838" y="2395728"/>
            <a:ext cx="1508760" cy="502920"/>
          </a:xfrm>
          <a:prstGeom prst="rect">
            <a:avLst/>
          </a:prstGeom>
          <a:solidFill>
            <a:srgbClr val="FFF7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414" y="2505456"/>
            <a:ext cx="14356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20000"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69.46%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29918" y="2395728"/>
            <a:ext cx="3246120" cy="502920"/>
          </a:xfrm>
          <a:prstGeom prst="rect">
            <a:avLst/>
          </a:prstGeom>
          <a:solidFill>
            <a:srgbClr val="FFF7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494" y="2505456"/>
            <a:ext cx="31729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20000"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更容易解释，看得出重要特征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31838" y="2962656"/>
            <a:ext cx="141732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414" y="3072384"/>
            <a:ext cx="1344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20000"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DCL-SA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332038" y="2962656"/>
            <a:ext cx="210312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68614" y="3072384"/>
            <a:ext cx="20299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20000"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原始加速度窗口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63758" y="2962656"/>
            <a:ext cx="150876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334" y="3072384"/>
            <a:ext cx="14356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20000"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95.87%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46838" y="2962656"/>
            <a:ext cx="150876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3414" y="3072384"/>
            <a:ext cx="14356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20000"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74.31%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29918" y="2962656"/>
            <a:ext cx="324612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66494" y="3072384"/>
            <a:ext cx="31729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20000"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自动学习曲线模式，整体略优</a:t>
            </a:r>
            <a:endParaRPr lang="en-US" sz="1600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96620" y="3598545"/>
            <a:ext cx="10241280" cy="452755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>
            <a:solidFill>
              <a:srgbClr val="F3D3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0260" y="3667252"/>
            <a:ext cx="991209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20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两种方法都能较好识别主要行为；但Dipping等少数、短暂、复杂行为仍然是最难点。</a:t>
            </a:r>
            <a:endParaRPr lang="en-US" sz="2000" b="1" dirty="0">
              <a:solidFill>
                <a:srgbClr val="F28C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1" name="Text 3"/>
          <p:cNvSpPr/>
          <p:nvPr/>
        </p:nvSpPr>
        <p:spPr>
          <a:xfrm>
            <a:off x="686435" y="4161155"/>
            <a:ext cx="3287395" cy="5029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Dipping 这么难？</a:t>
            </a:r>
            <a:endParaRPr lang="en-US" sz="20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2" name="Shape 5"/>
          <p:cNvSpPr/>
          <p:nvPr>
            <p:custDataLst>
              <p:tags r:id="rId1"/>
            </p:custDataLst>
          </p:nvPr>
        </p:nvSpPr>
        <p:spPr>
          <a:xfrm>
            <a:off x="623570" y="4664075"/>
            <a:ext cx="3200400" cy="1577975"/>
          </a:xfrm>
          <a:prstGeom prst="roundRect">
            <a:avLst>
              <a:gd name="adj" fmla="val 3077"/>
            </a:avLst>
          </a:prstGeom>
          <a:solidFill>
            <a:srgbClr val="FFF3F3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43" name="Text 6"/>
          <p:cNvSpPr/>
          <p:nvPr>
            <p:custDataLst>
              <p:tags r:id="rId2"/>
            </p:custDataLst>
          </p:nvPr>
        </p:nvSpPr>
        <p:spPr>
          <a:xfrm>
            <a:off x="788035" y="4801235"/>
            <a:ext cx="2639695" cy="542925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样本少</a:t>
            </a:r>
            <a:endParaRPr 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Text 7"/>
          <p:cNvSpPr/>
          <p:nvPr>
            <p:custDataLst>
              <p:tags r:id="rId3"/>
            </p:custDataLst>
          </p:nvPr>
        </p:nvSpPr>
        <p:spPr>
          <a:xfrm>
            <a:off x="788035" y="5194300"/>
            <a:ext cx="2871470" cy="116395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457200" fontAlgn="auto"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模型见过的例子少，</a:t>
            </a:r>
            <a:endParaRPr lang="en-US" sz="1600" dirty="0"/>
          </a:p>
          <a:p>
            <a:pPr indent="45720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学习机会不足。</a:t>
            </a:r>
            <a:endParaRPr lang="en-US" sz="1600" dirty="0"/>
          </a:p>
        </p:txBody>
      </p:sp>
      <p:sp>
        <p:nvSpPr>
          <p:cNvPr id="45" name="Shape 8"/>
          <p:cNvSpPr/>
          <p:nvPr>
            <p:custDataLst>
              <p:tags r:id="rId4"/>
            </p:custDataLst>
          </p:nvPr>
        </p:nvSpPr>
        <p:spPr>
          <a:xfrm>
            <a:off x="4281170" y="4664075"/>
            <a:ext cx="3200400" cy="1577975"/>
          </a:xfrm>
          <a:prstGeom prst="roundRect">
            <a:avLst>
              <a:gd name="adj" fmla="val 3077"/>
            </a:avLst>
          </a:prstGeom>
          <a:solidFill>
            <a:srgbClr val="FFF7E8"/>
          </a:solidFill>
          <a:ln w="12700">
            <a:solidFill>
              <a:srgbClr val="F3D3A0"/>
            </a:solidFill>
            <a:prstDash val="solid"/>
          </a:ln>
        </p:spPr>
      </p:sp>
      <p:sp>
        <p:nvSpPr>
          <p:cNvPr id="46" name="Text 9"/>
          <p:cNvSpPr/>
          <p:nvPr>
            <p:custDataLst>
              <p:tags r:id="rId5"/>
            </p:custDataLst>
          </p:nvPr>
        </p:nvSpPr>
        <p:spPr>
          <a:xfrm>
            <a:off x="4445635" y="4801235"/>
            <a:ext cx="2661920" cy="542925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动作短暂</a:t>
            </a:r>
            <a:endParaRPr lang="en-US" sz="2000" b="1" dirty="0">
              <a:solidFill>
                <a:srgbClr val="F28C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7" name="Text 10"/>
          <p:cNvSpPr/>
          <p:nvPr>
            <p:custDataLst>
              <p:tags r:id="rId6"/>
            </p:custDataLst>
          </p:nvPr>
        </p:nvSpPr>
        <p:spPr>
          <a:xfrm>
            <a:off x="4435475" y="5078095"/>
            <a:ext cx="2871470" cy="116395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45720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2秒窗口中，关键动作可能只占很短一部分。</a:t>
            </a:r>
            <a:endParaRPr lang="en-US" sz="1600" dirty="0"/>
          </a:p>
        </p:txBody>
      </p:sp>
      <p:sp>
        <p:nvSpPr>
          <p:cNvPr id="48" name="Shape 11"/>
          <p:cNvSpPr/>
          <p:nvPr>
            <p:custDataLst>
              <p:tags r:id="rId7"/>
            </p:custDataLst>
          </p:nvPr>
        </p:nvSpPr>
        <p:spPr>
          <a:xfrm>
            <a:off x="7938770" y="4664075"/>
            <a:ext cx="3200400" cy="1577975"/>
          </a:xfrm>
          <a:prstGeom prst="roundRect">
            <a:avLst>
              <a:gd name="adj" fmla="val 3077"/>
            </a:avLst>
          </a:prstGeom>
          <a:solidFill>
            <a:srgbClr val="EAF3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49" name="Text 12"/>
          <p:cNvSpPr/>
          <p:nvPr>
            <p:custDataLst>
              <p:tags r:id="rId8"/>
            </p:custDataLst>
          </p:nvPr>
        </p:nvSpPr>
        <p:spPr>
          <a:xfrm>
            <a:off x="8103235" y="4801235"/>
            <a:ext cx="2868930" cy="542925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75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容易相似</a:t>
            </a:r>
            <a:endParaRPr lang="en-US" sz="2000" b="1" dirty="0">
              <a:solidFill>
                <a:srgbClr val="2B75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0" name="Text 13"/>
          <p:cNvSpPr/>
          <p:nvPr>
            <p:custDataLst>
              <p:tags r:id="rId9"/>
            </p:custDataLst>
          </p:nvPr>
        </p:nvSpPr>
        <p:spPr>
          <a:xfrm>
            <a:off x="8100695" y="5132705"/>
            <a:ext cx="2871470" cy="116395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45720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点水/俯冲可能与静止或飞行中的某些片段相似。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1752" y="256032"/>
            <a:ext cx="201168" cy="20116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21792"/>
            <a:ext cx="10515600" cy="109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698480" cy="5060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CN" sz="2800" b="1">
                <a:solidFill>
                  <a:srgbClr val="1F1F1F"/>
                </a:solidFill>
                <a:latin typeface="微软雅黑" panose="020B0503020204020204" pitchFamily="34" charset="-122"/>
              </a:rPr>
              <a:t>让我们回顾</a:t>
            </a:r>
            <a:r>
              <a:rPr sz="2800" b="1">
                <a:solidFill>
                  <a:srgbClr val="1F1F1F"/>
                </a:solidFill>
                <a:latin typeface="微软雅黑" panose="020B0503020204020204" pitchFamily="34" charset="-122"/>
              </a:rPr>
              <a:t>全流程：</a:t>
            </a:r>
            <a:endParaRPr sz="2800" b="1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1920240" cy="2148840"/>
          </a:xfrm>
          <a:prstGeom prst="roundRect">
            <a:avLst/>
          </a:prstGeom>
          <a:solidFill>
            <a:srgbClr val="FCEE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7415" y="1837690"/>
            <a:ext cx="1139825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C00000"/>
                </a:solidFill>
                <a:latin typeface="微软雅黑" panose="020B0503020204020204" pitchFamily="34" charset="-122"/>
              </a:rPr>
              <a:t>原始记录</a:t>
            </a:r>
            <a:endParaRPr sz="2000"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5500" y="2614295"/>
            <a:ext cx="1222375" cy="58547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3,940 万条
25 Hz 时序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50392" y="4005072"/>
            <a:ext cx="1417320" cy="31089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大数据</a:t>
            </a:r>
            <a:endParaRPr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532888" y="2724912"/>
            <a:ext cx="27432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1691640"/>
            <a:ext cx="1920240" cy="2148840"/>
          </a:xfrm>
          <a:prstGeom prst="roundRect">
            <a:avLst/>
          </a:prstGeom>
          <a:solidFill>
            <a:srgbClr val="FCEEEE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1670" y="1837690"/>
            <a:ext cx="141732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C00000"/>
                </a:solidFill>
                <a:latin typeface="微软雅黑" panose="020B0503020204020204" pitchFamily="34" charset="-122"/>
              </a:rPr>
              <a:t>清洗与切窗</a:t>
            </a:r>
            <a:endParaRPr sz="2000"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98089" y="2481707"/>
            <a:ext cx="1627505" cy="8509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时间校正
缺口处理
2 秒窗口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36391" y="4005072"/>
            <a:ext cx="1417320" cy="31089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大数据</a:t>
            </a:r>
            <a:endParaRPr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2724912"/>
            <a:ext cx="27432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66360" y="1691640"/>
            <a:ext cx="1920240" cy="2148840"/>
          </a:xfrm>
          <a:prstGeom prst="roundRect">
            <a:avLst/>
          </a:prstGeom>
          <a:solidFill>
            <a:srgbClr val="EAF3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265" y="1837690"/>
            <a:ext cx="1423035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B75B8"/>
                </a:solidFill>
                <a:latin typeface="微软雅黑" panose="020B0503020204020204" pitchFamily="34" charset="-122"/>
              </a:rPr>
              <a:t>描述与设计</a:t>
            </a:r>
            <a:endParaRPr sz="20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24729" y="2481707"/>
            <a:ext cx="1627505" cy="8509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比例、均值/方差
训练/测试划分
LOIO-CV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22392" y="4005072"/>
            <a:ext cx="1417320" cy="310896"/>
          </a:xfrm>
          <a:prstGeom prst="roundRect">
            <a:avLst/>
          </a:prstGeom>
          <a:solidFill>
            <a:srgbClr val="2B75B8"/>
          </a:solidFill>
          <a:ln>
            <a:solidFill>
              <a:srgbClr val="2B7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统计</a:t>
            </a:r>
            <a:endParaRPr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7104888" y="2724912"/>
            <a:ext cx="27432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52360" y="1691640"/>
            <a:ext cx="1920240" cy="2148840"/>
          </a:xfrm>
          <a:prstGeom prst="roundRect">
            <a:avLst/>
          </a:prstGeom>
          <a:solidFill>
            <a:srgbClr val="FFF5E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3080" y="1837690"/>
            <a:ext cx="723265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28C28"/>
                </a:solidFill>
                <a:latin typeface="微软雅黑" panose="020B0503020204020204" pitchFamily="34" charset="-122"/>
              </a:rPr>
              <a:t>建模</a:t>
            </a:r>
            <a:endParaRPr sz="2000" b="1">
              <a:solidFill>
                <a:srgbClr val="F28C2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22794" y="2481707"/>
            <a:ext cx="1627505" cy="8509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XGBoost
CNN + LSTM
Self-Attention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08392" y="4005072"/>
            <a:ext cx="1417320" cy="310896"/>
          </a:xfrm>
          <a:prstGeom prst="round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AI</a:t>
            </a:r>
            <a:endParaRPr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9390888" y="2724912"/>
            <a:ext cx="27432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38360" y="1691640"/>
            <a:ext cx="1920240" cy="2148840"/>
          </a:xfrm>
          <a:prstGeom prst="roundRect">
            <a:avLst/>
          </a:prstGeom>
          <a:solidFill>
            <a:srgbClr val="EAF3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9787" y="1837944"/>
            <a:ext cx="164592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B75B8"/>
                </a:solidFill>
                <a:latin typeface="微软雅黑" panose="020B0503020204020204" pitchFamily="34" charset="-122"/>
              </a:rPr>
              <a:t>评价与解释</a:t>
            </a:r>
            <a:endParaRPr sz="2000"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03714" y="2481707"/>
            <a:ext cx="1627505" cy="8509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Accuracy / F1
混淆矩阵
特征重要性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994392" y="4005072"/>
            <a:ext cx="1417320" cy="310896"/>
          </a:xfrm>
          <a:prstGeom prst="roundRect">
            <a:avLst/>
          </a:prstGeom>
          <a:solidFill>
            <a:srgbClr val="2B75B8"/>
          </a:solidFill>
          <a:ln>
            <a:solidFill>
              <a:srgbClr val="2B7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统计 + AI</a:t>
            </a:r>
            <a:endParaRPr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50265" y="4817110"/>
            <a:ext cx="10607040" cy="1356360"/>
          </a:xfrm>
          <a:prstGeom prst="roundRect">
            <a:avLst/>
          </a:prstGeom>
          <a:solidFill>
            <a:srgbClr val="F8F8F8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lang="zh-CN" sz="2000" b="1">
                <a:solidFill>
                  <a:srgbClr val="C00000"/>
                </a:solidFill>
                <a:latin typeface="微软雅黑" panose="020B0503020204020204" pitchFamily="34" charset="-122"/>
              </a:rPr>
              <a:t>区分点</a:t>
            </a:r>
            <a:r>
              <a:rPr sz="2000" b="1">
                <a:solidFill>
                  <a:srgbClr val="C00000"/>
                </a:solidFill>
                <a:latin typeface="微软雅黑" panose="020B0503020204020204" pitchFamily="34" charset="-122"/>
              </a:rPr>
              <a:t>：
</a:t>
            </a:r>
            <a:r>
              <a:rPr b="0">
                <a:solidFill>
                  <a:srgbClr val="1F1F1F"/>
                </a:solidFill>
                <a:latin typeface="微软雅黑" panose="020B0503020204020204" pitchFamily="34" charset="-122"/>
              </a:rPr>
              <a:t>① 大数据强调数据规模与处理方式；</a:t>
            </a:r>
            <a:endParaRPr b="0">
              <a:solidFill>
                <a:srgbClr val="1F1F1F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3000"/>
              </a:lnSpc>
            </a:pPr>
            <a:r>
              <a:rPr b="0">
                <a:solidFill>
                  <a:srgbClr val="1F1F1F"/>
                </a:solidFill>
                <a:latin typeface="微软雅黑" panose="020B0503020204020204" pitchFamily="34" charset="-122"/>
              </a:rPr>
              <a:t>② AI 强调让模型从数据中学习并预测；</a:t>
            </a:r>
            <a:endParaRPr b="0">
              <a:solidFill>
                <a:srgbClr val="1F1F1F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3000"/>
              </a:lnSpc>
            </a:pPr>
            <a:r>
              <a:rPr b="0">
                <a:solidFill>
                  <a:srgbClr val="1F1F1F"/>
                </a:solidFill>
                <a:latin typeface="微软雅黑" panose="020B0503020204020204" pitchFamily="34" charset="-122"/>
              </a:rPr>
              <a:t>③ 统计学贯穿“理解数据—设计验证—评价结果”全过程。</a:t>
            </a:r>
            <a:endParaRPr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8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39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1752" y="256032"/>
            <a:ext cx="201168" cy="20116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21792"/>
            <a:ext cx="10515600" cy="109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698480" cy="5060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CN" sz="2800" b="1">
                <a:solidFill>
                  <a:srgbClr val="1F1F1F"/>
                </a:solidFill>
                <a:latin typeface="微软雅黑" panose="020B0503020204020204" pitchFamily="34" charset="-122"/>
              </a:rPr>
              <a:t>还可以</a:t>
            </a:r>
            <a:r>
              <a:rPr sz="2800" b="1">
                <a:solidFill>
                  <a:srgbClr val="1F1F1F"/>
                </a:solidFill>
                <a:latin typeface="微软雅黑" panose="020B0503020204020204" pitchFamily="34" charset="-122"/>
              </a:rPr>
              <a:t>怎么提升？</a:t>
            </a:r>
            <a:endParaRPr sz="2800" b="1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1965960" cy="658368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b="1">
                <a:solidFill>
                  <a:srgbClr val="C00000"/>
                </a:solidFill>
                <a:latin typeface="微软雅黑" panose="020B0503020204020204" pitchFamily="34" charset="-122"/>
              </a:rPr>
              <a:t>少数类样本少</a:t>
            </a:r>
            <a:endParaRPr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706624" y="1892807"/>
            <a:ext cx="384048" cy="0"/>
          </a:xfrm>
          <a:prstGeom prst="line">
            <a:avLst/>
          </a:prstGeom>
          <a:ln w="228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54680" y="1572768"/>
            <a:ext cx="306324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Dipping 等行为学习机会不足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291072" y="1892807"/>
            <a:ext cx="384048" cy="0"/>
          </a:xfrm>
          <a:prstGeom prst="line">
            <a:avLst/>
          </a:prstGeom>
          <a:ln w="228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48272" y="1572768"/>
            <a:ext cx="470916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补充定向标注；类别权重 ；谨慎重采样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1965960" cy="658368"/>
          </a:xfrm>
          <a:prstGeom prst="roundRect">
            <a:avLst/>
          </a:prstGeom>
          <a:solidFill>
            <a:srgbClr val="FFF5E8"/>
          </a:solidFill>
          <a:ln>
            <a:solidFill>
              <a:srgbClr val="FF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b="1">
                <a:solidFill>
                  <a:srgbClr val="F28C28"/>
                </a:solidFill>
                <a:latin typeface="微软雅黑" panose="020B0503020204020204" pitchFamily="34" charset="-122"/>
              </a:rPr>
              <a:t>个体差异大</a:t>
            </a:r>
            <a:endParaRPr b="1">
              <a:solidFill>
                <a:srgbClr val="F28C2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706624" y="2752344"/>
            <a:ext cx="384048" cy="0"/>
          </a:xfrm>
          <a:prstGeom prst="line">
            <a:avLst/>
          </a:prstGeom>
          <a:ln w="228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54680" y="2432304"/>
            <a:ext cx="306324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新海鸟的动作幅度、姿态不同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291072" y="2752344"/>
            <a:ext cx="384048" cy="0"/>
          </a:xfrm>
          <a:prstGeom prst="line">
            <a:avLst/>
          </a:prstGeom>
          <a:ln w="228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48272" y="2432304"/>
            <a:ext cx="470916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更多个体；个体标准化；用 LOIO 做严格验证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3291839"/>
            <a:ext cx="1965960" cy="658368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b="1">
                <a:solidFill>
                  <a:srgbClr val="2B75B8"/>
                </a:solidFill>
                <a:latin typeface="微软雅黑" panose="020B0503020204020204" pitchFamily="34" charset="-122"/>
              </a:rPr>
              <a:t>固定 2 秒窗口</a:t>
            </a:r>
            <a:endParaRPr b="1">
              <a:solidFill>
                <a:srgbClr val="2B75B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706624" y="3611879"/>
            <a:ext cx="384048" cy="0"/>
          </a:xfrm>
          <a:prstGeom prst="line">
            <a:avLst/>
          </a:prstGeom>
          <a:ln w="228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154680" y="3291839"/>
            <a:ext cx="306324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indent="0" algn="ctr" fontAlgn="auto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短动作可能被切碎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  <a:p>
            <a:pPr indent="0" algn="ctr" fontAlgn="auto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长动作上下文不足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6291072" y="3611879"/>
            <a:ext cx="384048" cy="0"/>
          </a:xfrm>
          <a:prstGeom prst="line">
            <a:avLst/>
          </a:prstGeom>
          <a:ln w="228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48272" y="3291839"/>
            <a:ext cx="470916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多尺度窗口；滑动窗口；序列级预测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85800" y="4151376"/>
            <a:ext cx="1965960" cy="658368"/>
          </a:xfrm>
          <a:prstGeom prst="roundRect">
            <a:avLst/>
          </a:prstGeom>
          <a:solidFill>
            <a:srgbClr val="ECF7F0"/>
          </a:solidFill>
          <a:ln>
            <a:solidFill>
              <a:srgbClr val="EC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b="1">
                <a:solidFill>
                  <a:srgbClr val="2E8B57"/>
                </a:solidFill>
                <a:latin typeface="微软雅黑" panose="020B0503020204020204" pitchFamily="34" charset="-122"/>
              </a:rPr>
              <a:t>只有三轴加速度</a:t>
            </a:r>
            <a:endParaRPr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706624" y="4471416"/>
            <a:ext cx="384048" cy="0"/>
          </a:xfrm>
          <a:prstGeom prst="line">
            <a:avLst/>
          </a:prstGeom>
          <a:ln w="228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154680" y="4151376"/>
            <a:ext cx="306324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相似动作仅靠加速度难区分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291072" y="4471416"/>
            <a:ext cx="384048" cy="0"/>
          </a:xfrm>
          <a:prstGeom prst="line">
            <a:avLst/>
          </a:prstGeom>
          <a:ln w="228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748272" y="4151376"/>
            <a:ext cx="470916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融合 GPS / 深度 / 陀螺仪等多模态信息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85800" y="5010912"/>
            <a:ext cx="1965960" cy="658368"/>
          </a:xfrm>
          <a:prstGeom prst="roundRect">
            <a:avLst/>
          </a:prstGeom>
          <a:solidFill>
            <a:srgbClr val="FCEEEE"/>
          </a:solidFill>
          <a:ln>
            <a:solidFill>
              <a:srgbClr val="F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b="1">
                <a:solidFill>
                  <a:srgbClr val="C00000"/>
                </a:solidFill>
                <a:latin typeface="微软雅黑" panose="020B0503020204020204" pitchFamily="34" charset="-122"/>
              </a:rPr>
              <a:t>可解释性有限</a:t>
            </a:r>
            <a:endParaRPr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706624" y="5330951"/>
            <a:ext cx="384048" cy="0"/>
          </a:xfrm>
          <a:prstGeom prst="line">
            <a:avLst/>
          </a:prstGeom>
          <a:ln w="228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154680" y="5010912"/>
            <a:ext cx="306324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知道“对/错”，但</a:t>
            </a:r>
            <a:r>
              <a:rPr lang="zh-CN" sz="1600" b="0">
                <a:solidFill>
                  <a:srgbClr val="1F1F1F"/>
                </a:solidFill>
                <a:latin typeface="微软雅黑" panose="020B0503020204020204" pitchFamily="34" charset="-122"/>
              </a:rPr>
              <a:t>不</a:t>
            </a: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知道</a:t>
            </a:r>
            <a:r>
              <a:rPr lang="zh-CN" sz="1600" b="0">
                <a:solidFill>
                  <a:srgbClr val="1F1F1F"/>
                </a:solidFill>
                <a:latin typeface="微软雅黑" panose="020B0503020204020204" pitchFamily="34" charset="-122"/>
              </a:rPr>
              <a:t>原因</a:t>
            </a:r>
            <a:endParaRPr lang="zh-CN"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291072" y="5330951"/>
            <a:ext cx="384048" cy="0"/>
          </a:xfrm>
          <a:prstGeom prst="line">
            <a:avLst/>
          </a:prstGeom>
          <a:ln w="228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748272" y="5010912"/>
            <a:ext cx="4709160" cy="658368"/>
          </a:xfrm>
          <a:prstGeom prst="roundRect">
            <a:avLst/>
          </a:prstGeom>
          <a:solidFill>
            <a:srgbClr val="FAFAF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3000"/>
              </a:lnSpc>
            </a:pPr>
            <a:r>
              <a:rPr sz="1600" b="0">
                <a:solidFill>
                  <a:srgbClr val="1F1F1F"/>
                </a:solidFill>
                <a:latin typeface="微软雅黑" panose="020B0503020204020204" pitchFamily="34" charset="-122"/>
              </a:rPr>
              <a:t>注意力可视化；把重要片段反馈给生态学解释</a:t>
            </a:r>
            <a:endParaRPr sz="1600" b="0">
              <a:solidFill>
                <a:srgbClr val="1F1F1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9808" y="5961888"/>
            <a:ext cx="182880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C00000"/>
                </a:solidFill>
                <a:latin typeface="微软雅黑" panose="020B0503020204020204" pitchFamily="34" charset="-122"/>
              </a:rPr>
              <a:t>当前不足</a:t>
            </a:r>
            <a:endParaRPr sz="2000" b="1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46120" y="5961888"/>
            <a:ext cx="283464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666666"/>
                </a:solidFill>
                <a:latin typeface="微软雅黑" panose="020B0503020204020204" pitchFamily="34" charset="-122"/>
              </a:rPr>
              <a:t>为什么是问题</a:t>
            </a:r>
            <a:endParaRPr sz="2000" b="1">
              <a:solidFill>
                <a:srgbClr val="6666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35240" y="5961888"/>
            <a:ext cx="2880360" cy="3765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E8B57"/>
                </a:solidFill>
                <a:latin typeface="微软雅黑" panose="020B0503020204020204" pitchFamily="34" charset="-122"/>
              </a:rPr>
              <a:t>可以怎样提升</a:t>
            </a:r>
            <a:endParaRPr sz="2000" b="1">
              <a:solidFill>
                <a:srgbClr val="2E8B5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Shape 0"/>
          <p:cNvSpPr/>
          <p:nvPr/>
        </p:nvSpPr>
        <p:spPr>
          <a:xfrm>
            <a:off x="302070" y="256032"/>
            <a:ext cx="201168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6" name="Shape 1"/>
          <p:cNvSpPr/>
          <p:nvPr/>
        </p:nvSpPr>
        <p:spPr>
          <a:xfrm>
            <a:off x="686118" y="621792"/>
            <a:ext cx="1051560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37" name="Shape 2"/>
          <p:cNvSpPr/>
          <p:nvPr/>
        </p:nvSpPr>
        <p:spPr>
          <a:xfrm>
            <a:off x="686118" y="676656"/>
            <a:ext cx="1051560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 flipH="1">
            <a:off x="8599805" y="5489575"/>
            <a:ext cx="3480435" cy="1250950"/>
            <a:chOff x="13719" y="55"/>
            <a:chExt cx="5481" cy="1970"/>
          </a:xfrm>
        </p:grpSpPr>
        <p:grpSp>
          <p:nvGrpSpPr>
            <p:cNvPr id="4" name="Group 4"/>
            <p:cNvGrpSpPr/>
            <p:nvPr userDrawn="1"/>
          </p:nvGrpSpPr>
          <p:grpSpPr>
            <a:xfrm rot="10800000">
              <a:off x="14586" y="777"/>
              <a:ext cx="4614" cy="1248"/>
              <a:chOff x="6492014" y="1638308"/>
              <a:chExt cx="938947" cy="253992"/>
            </a:xfrm>
            <a:solidFill>
              <a:schemeClr val="bg1">
                <a:lumMod val="65000"/>
              </a:schemeClr>
            </a:solidFill>
          </p:grpSpPr>
          <p:sp>
            <p:nvSpPr>
              <p:cNvPr id="5" name="Diamond 5"/>
              <p:cNvSpPr/>
              <p:nvPr>
                <p:custDataLst>
                  <p:tags r:id="rId1"/>
                </p:custDataLst>
              </p:nvPr>
            </p:nvSpPr>
            <p:spPr>
              <a:xfrm>
                <a:off x="6492014" y="1638308"/>
                <a:ext cx="253992" cy="253992"/>
              </a:xfrm>
              <a:prstGeom prst="diamond">
                <a:avLst/>
              </a:prstGeom>
              <a:solidFill>
                <a:srgbClr val="A6A6A6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" name="Diamond 6"/>
              <p:cNvSpPr/>
              <p:nvPr>
                <p:custDataLst>
                  <p:tags r:id="rId2"/>
                </p:custDataLst>
              </p:nvPr>
            </p:nvSpPr>
            <p:spPr>
              <a:xfrm>
                <a:off x="6837701" y="1638308"/>
                <a:ext cx="253992" cy="253992"/>
              </a:xfrm>
              <a:prstGeom prst="diamond">
                <a:avLst/>
              </a:prstGeom>
              <a:solidFill>
                <a:srgbClr val="A6A6A6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7" name="Diamond 7"/>
              <p:cNvSpPr/>
              <p:nvPr>
                <p:custDataLst>
                  <p:tags r:id="rId3"/>
                </p:custDataLst>
              </p:nvPr>
            </p:nvSpPr>
            <p:spPr>
              <a:xfrm>
                <a:off x="7176969" y="1638308"/>
                <a:ext cx="253992" cy="253992"/>
              </a:xfrm>
              <a:prstGeom prst="diamond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8" name="Group 12"/>
            <p:cNvGrpSpPr/>
            <p:nvPr userDrawn="1"/>
          </p:nvGrpSpPr>
          <p:grpSpPr>
            <a:xfrm rot="10800000">
              <a:off x="13719" y="55"/>
              <a:ext cx="4614" cy="1248"/>
              <a:chOff x="6492014" y="1638308"/>
              <a:chExt cx="938947" cy="253992"/>
            </a:xfrm>
            <a:solidFill>
              <a:srgbClr val="C00000"/>
            </a:solidFill>
          </p:grpSpPr>
          <p:sp>
            <p:nvSpPr>
              <p:cNvPr id="9" name="Diamond 13"/>
              <p:cNvSpPr/>
              <p:nvPr>
                <p:custDataLst>
                  <p:tags r:id="rId4"/>
                </p:custDataLst>
              </p:nvPr>
            </p:nvSpPr>
            <p:spPr>
              <a:xfrm>
                <a:off x="6492014" y="1638308"/>
                <a:ext cx="253992" cy="253992"/>
              </a:xfrm>
              <a:prstGeom prst="diamond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2" name="Diamond 14"/>
              <p:cNvSpPr/>
              <p:nvPr>
                <p:custDataLst>
                  <p:tags r:id="rId5"/>
                </p:custDataLst>
              </p:nvPr>
            </p:nvSpPr>
            <p:spPr>
              <a:xfrm>
                <a:off x="6837701" y="1638308"/>
                <a:ext cx="253992" cy="253992"/>
              </a:xfrm>
              <a:prstGeom prst="diamond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3" name="Diamond 15"/>
              <p:cNvSpPr/>
              <p:nvPr>
                <p:custDataLst>
                  <p:tags r:id="rId6"/>
                </p:custDataLst>
              </p:nvPr>
            </p:nvSpPr>
            <p:spPr>
              <a:xfrm>
                <a:off x="7176969" y="1638308"/>
                <a:ext cx="253992" cy="253992"/>
              </a:xfrm>
              <a:prstGeom prst="diamond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3733800" y="591185"/>
            <a:ext cx="8016875" cy="71120"/>
            <a:chOff x="5880" y="931"/>
            <a:chExt cx="12625" cy="112"/>
          </a:xfrm>
        </p:grpSpPr>
        <p:cxnSp>
          <p:nvCxnSpPr>
            <p:cNvPr id="20" name="直接连接符 19"/>
            <p:cNvCxnSpPr/>
            <p:nvPr>
              <p:custDataLst>
                <p:tags r:id="rId7"/>
              </p:custDataLst>
            </p:nvPr>
          </p:nvCxnSpPr>
          <p:spPr>
            <a:xfrm>
              <a:off x="5880" y="931"/>
              <a:ext cx="11653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>
              <p:custDataLst>
                <p:tags r:id="rId8"/>
              </p:custDataLst>
            </p:nvPr>
          </p:nvCxnSpPr>
          <p:spPr>
            <a:xfrm>
              <a:off x="6852" y="1043"/>
              <a:ext cx="11653" cy="0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 flipV="1">
            <a:off x="499110" y="6344285"/>
            <a:ext cx="8016875" cy="85090"/>
            <a:chOff x="5880" y="909"/>
            <a:chExt cx="12625" cy="134"/>
          </a:xfrm>
        </p:grpSpPr>
        <p:cxnSp>
          <p:nvCxnSpPr>
            <p:cNvPr id="24" name="直接连接符 23"/>
            <p:cNvCxnSpPr/>
            <p:nvPr>
              <p:custDataLst>
                <p:tags r:id="rId9"/>
              </p:custDataLst>
            </p:nvPr>
          </p:nvCxnSpPr>
          <p:spPr>
            <a:xfrm>
              <a:off x="5880" y="909"/>
              <a:ext cx="11653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>
              <p:custDataLst>
                <p:tags r:id="rId10"/>
              </p:custDataLst>
            </p:nvPr>
          </p:nvCxnSpPr>
          <p:spPr>
            <a:xfrm>
              <a:off x="6852" y="1043"/>
              <a:ext cx="11653" cy="0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椭圆 55"/>
          <p:cNvSpPr/>
          <p:nvPr/>
        </p:nvSpPr>
        <p:spPr>
          <a:xfrm>
            <a:off x="9413875" y="5752465"/>
            <a:ext cx="266065" cy="2660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11021695" y="6211570"/>
            <a:ext cx="266065" cy="2660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9" name="组合 58"/>
          <p:cNvGrpSpPr/>
          <p:nvPr/>
        </p:nvGrpSpPr>
        <p:grpSpPr>
          <a:xfrm>
            <a:off x="107315" y="132715"/>
            <a:ext cx="3479800" cy="1250950"/>
            <a:chOff x="169" y="209"/>
            <a:chExt cx="5480" cy="1970"/>
          </a:xfrm>
        </p:grpSpPr>
        <p:grpSp>
          <p:nvGrpSpPr>
            <p:cNvPr id="60" name="组合 59"/>
            <p:cNvGrpSpPr/>
            <p:nvPr/>
          </p:nvGrpSpPr>
          <p:grpSpPr>
            <a:xfrm flipH="1">
              <a:off x="169" y="209"/>
              <a:ext cx="5481" cy="1970"/>
              <a:chOff x="13719" y="55"/>
              <a:chExt cx="5481" cy="1970"/>
            </a:xfrm>
          </p:grpSpPr>
          <p:grpSp>
            <p:nvGrpSpPr>
              <p:cNvPr id="61" name="Group 4"/>
              <p:cNvGrpSpPr/>
              <p:nvPr userDrawn="1"/>
            </p:nvGrpSpPr>
            <p:grpSpPr>
              <a:xfrm rot="10800000">
                <a:off x="14586" y="777"/>
                <a:ext cx="4614" cy="1248"/>
                <a:chOff x="6492014" y="1638308"/>
                <a:chExt cx="938947" cy="25399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62" name="Diamond 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63" name="Diamond 6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64" name="Diamond 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grpSp>
            <p:nvGrpSpPr>
              <p:cNvPr id="65" name="Group 12"/>
              <p:cNvGrpSpPr/>
              <p:nvPr userDrawn="1"/>
            </p:nvGrpSpPr>
            <p:grpSpPr>
              <a:xfrm rot="10800000">
                <a:off x="13719" y="55"/>
                <a:ext cx="4614" cy="1248"/>
                <a:chOff x="6492014" y="1638308"/>
                <a:chExt cx="938947" cy="253992"/>
              </a:xfrm>
              <a:solidFill>
                <a:srgbClr val="C00000"/>
              </a:solidFill>
            </p:grpSpPr>
            <p:sp>
              <p:nvSpPr>
                <p:cNvPr id="66" name="Diamond 13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492014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67" name="Diamond 14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6837701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68" name="Diamond 1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7176969" y="1638308"/>
                  <a:ext cx="253992" cy="253992"/>
                </a:xfrm>
                <a:prstGeom prst="diamond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</p:grpSp>
        <p:sp>
          <p:nvSpPr>
            <p:cNvPr id="69" name="椭圆 68"/>
            <p:cNvSpPr/>
            <p:nvPr/>
          </p:nvSpPr>
          <p:spPr>
            <a:xfrm>
              <a:off x="583" y="1346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3116" y="624"/>
              <a:ext cx="419" cy="4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2015490" y="2321560"/>
            <a:ext cx="8213725" cy="2214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3800" b="1" i="1" spc="300" dirty="0">
                <a:solidFill>
                  <a:schemeClr val="tx1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字魂105号-简雅黑" panose="00000500000000000000" pitchFamily="2" charset="-122"/>
              </a:rPr>
              <a:t>THANKS</a:t>
            </a:r>
            <a:endParaRPr lang="en-US" altLang="zh-CN" sz="13800" b="1" i="1" spc="300" dirty="0">
              <a:solidFill>
                <a:schemeClr val="tx1"/>
              </a:solidFill>
              <a:latin typeface="字魂59号-创粗黑" panose="00000500000000000000" charset="-122"/>
              <a:ea typeface="字魂59号-创粗黑" panose="00000500000000000000" charset="-122"/>
              <a:cs typeface="+mn-ea"/>
              <a:sym typeface="字魂105号-简雅黑" panose="00000500000000000000" pitchFamily="2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836" y="55013"/>
            <a:ext cx="2705580" cy="518126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prism isInverted="1" isContent="1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56" grpId="1" animBg="1"/>
      <p:bldP spid="57" grpId="0" bldLvl="0" animBg="1"/>
      <p:bldP spid="57" grpId="1" animBg="1"/>
      <p:bldP spid="15" grpId="0"/>
      <p:bldP spid="15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FULL_TEXT_BEAUTIFY_COPY_ID" val="5"/>
</p:tagLst>
</file>

<file path=ppt/tags/tag126.xml><?xml version="1.0" encoding="utf-8"?>
<p:tagLst xmlns:p="http://schemas.openxmlformats.org/presentationml/2006/main">
  <p:tag name="KSO_WM_FULL_TEXT_BEAUTIFY_COPY_ID" val="6"/>
</p:tagLst>
</file>

<file path=ppt/tags/tag127.xml><?xml version="1.0" encoding="utf-8"?>
<p:tagLst xmlns:p="http://schemas.openxmlformats.org/presentationml/2006/main">
  <p:tag name="KSO_WM_FULL_TEXT_BEAUTIFY_COPY_ID" val="7"/>
</p:tagLst>
</file>

<file path=ppt/tags/tag128.xml><?xml version="1.0" encoding="utf-8"?>
<p:tagLst xmlns:p="http://schemas.openxmlformats.org/presentationml/2006/main">
  <p:tag name="KSO_WM_FULL_TEXT_BEAUTIFY_COPY_ID" val="9"/>
</p:tagLst>
</file>

<file path=ppt/tags/tag129.xml><?xml version="1.0" encoding="utf-8"?>
<p:tagLst xmlns:p="http://schemas.openxmlformats.org/presentationml/2006/main">
  <p:tag name="KSO_WM_FULL_TEXT_BEAUTIFY_COPY_ID" val="12"/>
</p:tagLst>
</file>

<file path=ppt/tags/tag130.xml><?xml version="1.0" encoding="utf-8"?>
<p:tagLst xmlns:p="http://schemas.openxmlformats.org/presentationml/2006/main">
  <p:tag name="KSO_WM_FULL_TEXT_BEAUTIFY_COPY_ID" val="13"/>
</p:tagLst>
</file>

<file path=ppt/tags/tag131.xml><?xml version="1.0" encoding="utf-8"?>
<p:tagLst xmlns:p="http://schemas.openxmlformats.org/presentationml/2006/main">
  <p:tag name="KSO_WM_FULL_TEXT_BEAUTIFY_COPY_ID" val="20"/>
</p:tagLst>
</file>

<file path=ppt/tags/tag132.xml><?xml version="1.0" encoding="utf-8"?>
<p:tagLst xmlns:p="http://schemas.openxmlformats.org/presentationml/2006/main">
  <p:tag name="KSO_WM_FULL_TEXT_BEAUTIFY_COPY_ID" val="21"/>
</p:tagLst>
</file>

<file path=ppt/tags/tag133.xml><?xml version="1.0" encoding="utf-8"?>
<p:tagLst xmlns:p="http://schemas.openxmlformats.org/presentationml/2006/main">
  <p:tag name="KSO_WM_FULL_TEXT_BEAUTIFY_COPY_ID" val="24"/>
</p:tagLst>
</file>

<file path=ppt/tags/tag134.xml><?xml version="1.0" encoding="utf-8"?>
<p:tagLst xmlns:p="http://schemas.openxmlformats.org/presentationml/2006/main">
  <p:tag name="KSO_WM_FULL_TEXT_BEAUTIFY_COPY_ID" val="25"/>
</p:tagLst>
</file>

<file path=ppt/tags/tag135.xml><?xml version="1.0" encoding="utf-8"?>
<p:tagLst xmlns:p="http://schemas.openxmlformats.org/presentationml/2006/main">
  <p:tag name="KSO_WM_FULL_TEXT_BEAUTIFY_COPY_ID" val="26"/>
</p:tagLst>
</file>

<file path=ppt/tags/tag136.xml><?xml version="1.0" encoding="utf-8"?>
<p:tagLst xmlns:p="http://schemas.openxmlformats.org/presentationml/2006/main">
  <p:tag name="KSO_WM_FULL_TEXT_BEAUTIFY_COPY_ID" val="109"/>
</p:tagLst>
</file>

<file path=ppt/tags/tag137.xml><?xml version="1.0" encoding="utf-8"?>
<p:tagLst xmlns:p="http://schemas.openxmlformats.org/presentationml/2006/main">
  <p:tag name="KSO_WM_FULL_TEXT_BEAUTIFY_COPY_ID" val="110"/>
</p:tagLst>
</file>

<file path=ppt/tags/tag138.xml><?xml version="1.0" encoding="utf-8"?>
<p:tagLst xmlns:p="http://schemas.openxmlformats.org/presentationml/2006/main">
  <p:tag name="KSO_WM_FULL_TEXT_BEAUTIFY_COPY_ID" val="111"/>
</p:tagLst>
</file>

<file path=ppt/tags/tag139.xml><?xml version="1.0" encoding="utf-8"?>
<p:tagLst xmlns:p="http://schemas.openxmlformats.org/presentationml/2006/main">
  <p:tag name="KSO_WM_FULL_TEXT_BEAUTIFY_COPY_ID" val="28"/>
</p:tagLst>
</file>

<file path=ppt/tags/tag140.xml><?xml version="1.0" encoding="utf-8"?>
<p:tagLst xmlns:p="http://schemas.openxmlformats.org/presentationml/2006/main">
  <p:tag name="KSO_WM_FULL_TEXT_BEAUTIFY_COPY_ID" val="29"/>
</p:tagLst>
</file>

<file path=ppt/tags/tag141.xml><?xml version="1.0" encoding="utf-8"?>
<p:tagLst xmlns:p="http://schemas.openxmlformats.org/presentationml/2006/main">
  <p:tag name="KSO_WM_FULL_TEXT_BEAUTIFY_COPY_ID" val="30"/>
</p:tagLst>
</file>

<file path=ppt/tags/tag142.xml><?xml version="1.0" encoding="utf-8"?>
<p:tagLst xmlns:p="http://schemas.openxmlformats.org/presentationml/2006/main">
  <p:tag name="KSO_WM_FULL_TEXT_BEAUTIFY_COPY_ID" val="17"/>
</p:tagLst>
</file>

<file path=ppt/tags/tag143.xml><?xml version="1.0" encoding="utf-8"?>
<p:tagLst xmlns:p="http://schemas.openxmlformats.org/presentationml/2006/main">
  <p:tag name="KSO_WM_FULL_TEXT_BEAUTIFY_COPY_ID" val="18"/>
</p:tagLst>
</file>

<file path=ppt/tags/tag144.xml><?xml version="1.0" encoding="utf-8"?>
<p:tagLst xmlns:p="http://schemas.openxmlformats.org/presentationml/2006/main">
  <p:tag name="KSO_WM_FULL_TEXT_BEAUTIFY_COPY_ID" val="19"/>
</p:tagLst>
</file>

<file path=ppt/tags/tag145.xml><?xml version="1.0" encoding="utf-8"?>
<p:tagLst xmlns:p="http://schemas.openxmlformats.org/presentationml/2006/main">
  <p:tag name="KSO_WM_FULL_TEXT_BEAUTIFY_COPY_ID" val="14"/>
</p:tagLst>
</file>

<file path=ppt/tags/tag146.xml><?xml version="1.0" encoding="utf-8"?>
<p:tagLst xmlns:p="http://schemas.openxmlformats.org/presentationml/2006/main">
  <p:tag name="KSO_WM_FULL_TEXT_BEAUTIFY_COPY_ID" val="15"/>
</p:tagLst>
</file>

<file path=ppt/tags/tag147.xml><?xml version="1.0" encoding="utf-8"?>
<p:tagLst xmlns:p="http://schemas.openxmlformats.org/presentationml/2006/main">
  <p:tag name="KSO_WM_FULL_TEXT_BEAUTIFY_COPY_ID" val="16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ULL_TEXT_BEAUTIFY_COPY_ID" val="150996089"/>
</p:tagLst>
</file>

<file path=ppt/tags/tag149.xml><?xml version="1.0" encoding="utf-8"?>
<p:tagLst xmlns:p="http://schemas.openxmlformats.org/presentationml/2006/main">
  <p:tag name="KSO_WM_DIAGRAM_VIRTUALLY_FRAME" val="{&quot;height&quot;:253.4,&quot;left&quot;:64.825,&quot;top&quot;:144,&quot;width&quot;:622.8}"/>
</p:tagLst>
</file>

<file path=ppt/tags/tag150.xml><?xml version="1.0" encoding="utf-8"?>
<p:tagLst xmlns:p="http://schemas.openxmlformats.org/presentationml/2006/main">
  <p:tag name="KSO_WM_DIAGRAM_VIRTUALLY_FRAME" val="{&quot;height&quot;:253.4,&quot;left&quot;:64.825,&quot;top&quot;:144,&quot;width&quot;:622.8}"/>
</p:tagLst>
</file>

<file path=ppt/tags/tag151.xml><?xml version="1.0" encoding="utf-8"?>
<p:tagLst xmlns:p="http://schemas.openxmlformats.org/presentationml/2006/main">
  <p:tag name="KSO_WM_DIAGRAM_VIRTUALLY_FRAME" val="{&quot;height&quot;:253.4,&quot;left&quot;:64.825,&quot;top&quot;:144,&quot;width&quot;:622.8}"/>
</p:tagLst>
</file>

<file path=ppt/tags/tag152.xml><?xml version="1.0" encoding="utf-8"?>
<p:tagLst xmlns:p="http://schemas.openxmlformats.org/presentationml/2006/main">
  <p:tag name="KSO_WM_DIAGRAM_VIRTUALLY_FRAME" val="{&quot;height&quot;:253.4,&quot;left&quot;:64.825,&quot;top&quot;:144,&quot;width&quot;:622.8}"/>
</p:tagLst>
</file>

<file path=ppt/tags/tag153.xml><?xml version="1.0" encoding="utf-8"?>
<p:tagLst xmlns:p="http://schemas.openxmlformats.org/presentationml/2006/main">
  <p:tag name="KSO_WM_DIAGRAM_VIRTUALLY_FRAME" val="{&quot;height&quot;:253.4,&quot;left&quot;:64.825,&quot;top&quot;:144,&quot;width&quot;:622.8}"/>
</p:tagLst>
</file>

<file path=ppt/tags/tag154.xml><?xml version="1.0" encoding="utf-8"?>
<p:tagLst xmlns:p="http://schemas.openxmlformats.org/presentationml/2006/main">
  <p:tag name="KSO_WM_DIAGRAM_VIRTUALLY_FRAME" val="{&quot;height&quot;:253.4,&quot;left&quot;:64.825,&quot;top&quot;:144,&quot;width&quot;:622.8}"/>
</p:tagLst>
</file>

<file path=ppt/tags/tag155.xml><?xml version="1.0" encoding="utf-8"?>
<p:tagLst xmlns:p="http://schemas.openxmlformats.org/presentationml/2006/main">
  <p:tag name="KSO_WM_DIAGRAM_VIRTUALLY_FRAME" val="{&quot;height&quot;:253.4,&quot;left&quot;:64.825,&quot;top&quot;:144,&quot;width&quot;:622.8}"/>
</p:tagLst>
</file>

<file path=ppt/tags/tag156.xml><?xml version="1.0" encoding="utf-8"?>
<p:tagLst xmlns:p="http://schemas.openxmlformats.org/presentationml/2006/main">
  <p:tag name="KSO_WM_DIAGRAM_VIRTUALLY_FRAME" val="{&quot;height&quot;:253.4,&quot;left&quot;:64.825,&quot;top&quot;:144,&quot;width&quot;:622.8}"/>
</p:tagLst>
</file>

<file path=ppt/tags/tag157.xml><?xml version="1.0" encoding="utf-8"?>
<p:tagLst xmlns:p="http://schemas.openxmlformats.org/presentationml/2006/main">
  <p:tag name="KSO_WM_FULL_TEXT_BEAUTIFY_COPY_ID" val="17"/>
</p:tagLst>
</file>

<file path=ppt/tags/tag158.xml><?xml version="1.0" encoding="utf-8"?>
<p:tagLst xmlns:p="http://schemas.openxmlformats.org/presentationml/2006/main">
  <p:tag name="KSO_WM_FULL_TEXT_BEAUTIFY_COPY_ID" val="18"/>
</p:tagLst>
</file>

<file path=ppt/tags/tag159.xml><?xml version="1.0" encoding="utf-8"?>
<p:tagLst xmlns:p="http://schemas.openxmlformats.org/presentationml/2006/main">
  <p:tag name="KSO_WM_FULL_TEXT_BEAUTIFY_COPY_ID" val="19"/>
</p:tagLst>
</file>

<file path=ppt/tags/tag160.xml><?xml version="1.0" encoding="utf-8"?>
<p:tagLst xmlns:p="http://schemas.openxmlformats.org/presentationml/2006/main">
  <p:tag name="KSO_WM_FULL_TEXT_BEAUTIFY_COPY_ID" val="14"/>
</p:tagLst>
</file>

<file path=ppt/tags/tag161.xml><?xml version="1.0" encoding="utf-8"?>
<p:tagLst xmlns:p="http://schemas.openxmlformats.org/presentationml/2006/main">
  <p:tag name="KSO_WM_FULL_TEXT_BEAUTIFY_COPY_ID" val="15"/>
</p:tagLst>
</file>

<file path=ppt/tags/tag162.xml><?xml version="1.0" encoding="utf-8"?>
<p:tagLst xmlns:p="http://schemas.openxmlformats.org/presentationml/2006/main">
  <p:tag name="KSO_WM_FULL_TEXT_BEAUTIFY_COPY_ID" val="16"/>
</p:tagLst>
</file>

<file path=ppt/tags/tag163.xml><?xml version="1.0" encoding="utf-8"?>
<p:tagLst xmlns:p="http://schemas.openxmlformats.org/presentationml/2006/main">
  <p:tag name="KSO_WM_FULL_TEXT_BEAUTIFY_COPY_ID" val="17"/>
</p:tagLst>
</file>

<file path=ppt/tags/tag164.xml><?xml version="1.0" encoding="utf-8"?>
<p:tagLst xmlns:p="http://schemas.openxmlformats.org/presentationml/2006/main">
  <p:tag name="KSO_WM_FULL_TEXT_BEAUTIFY_COPY_ID" val="18"/>
</p:tagLst>
</file>

<file path=ppt/tags/tag165.xml><?xml version="1.0" encoding="utf-8"?>
<p:tagLst xmlns:p="http://schemas.openxmlformats.org/presentationml/2006/main">
  <p:tag name="KSO_WM_FULL_TEXT_BEAUTIFY_COPY_ID" val="19"/>
</p:tagLst>
</file>

<file path=ppt/tags/tag166.xml><?xml version="1.0" encoding="utf-8"?>
<p:tagLst xmlns:p="http://schemas.openxmlformats.org/presentationml/2006/main">
  <p:tag name="KSO_WM_FULL_TEXT_BEAUTIFY_COPY_ID" val="14"/>
</p:tagLst>
</file>

<file path=ppt/tags/tag167.xml><?xml version="1.0" encoding="utf-8"?>
<p:tagLst xmlns:p="http://schemas.openxmlformats.org/presentationml/2006/main">
  <p:tag name="KSO_WM_FULL_TEXT_BEAUTIFY_COPY_ID" val="15"/>
</p:tagLst>
</file>

<file path=ppt/tags/tag168.xml><?xml version="1.0" encoding="utf-8"?>
<p:tagLst xmlns:p="http://schemas.openxmlformats.org/presentationml/2006/main">
  <p:tag name="KSO_WM_FULL_TEXT_BEAUTIFY_COPY_ID" val="16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0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71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72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73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74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75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76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77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78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79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80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81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82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83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84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85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86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87.xml><?xml version="1.0" encoding="utf-8"?>
<p:tagLst xmlns:p="http://schemas.openxmlformats.org/presentationml/2006/main">
  <p:tag name="KSO_WM_DIAGRAM_VIRTUALLY_FRAME" val="{&quot;height&quot;:253.46000000000004,&quot;left&quot;:19.875,&quot;top&quot;:508.25,&quot;width&quot;:862.55}"/>
</p:tagLst>
</file>

<file path=ppt/tags/tag188.xml><?xml version="1.0" encoding="utf-8"?>
<p:tagLst xmlns:p="http://schemas.openxmlformats.org/presentationml/2006/main">
  <p:tag name="KSO_DOCER_RESOURCE_TRACE_INFO" val="{&quot;id&quot;:&quot;175453920&quot;,&quot;origin&quot;:0,&quot;type&quot;:&quot;pictures&quot;,&quot;user&quot;:&quot;1499160438&quot;}"/>
</p:tagLst>
</file>

<file path=ppt/tags/tag189.xml><?xml version="1.0" encoding="utf-8"?>
<p:tagLst xmlns:p="http://schemas.openxmlformats.org/presentationml/2006/main">
  <p:tag name="KSO_DOCER_RESOURCE_TRACE_INFO" val="{&quot;id&quot;:&quot;44458874&quot;,&quot;origin&quot;:0,&quot;type&quot;:&quot;pictures&quot;,&quot;user&quot;:&quot;1499160438&quot;}"/>
</p:tagLst>
</file>

<file path=ppt/tags/tag190.xml><?xml version="1.0" encoding="utf-8"?>
<p:tagLst xmlns:p="http://schemas.openxmlformats.org/presentationml/2006/main">
  <p:tag name="KSO_DOCER_RESOURCE_TRACE_INFO" val="{&quot;id&quot;:&quot;59999727&quot;,&quot;origin&quot;:0,&quot;type&quot;:&quot;pictures&quot;,&quot;user&quot;:&quot;1499160438&quot;}"/>
</p:tagLst>
</file>

<file path=ppt/tags/tag191.xml><?xml version="1.0" encoding="utf-8"?>
<p:tagLst xmlns:p="http://schemas.openxmlformats.org/presentationml/2006/main">
  <p:tag name="KSO_DOCER_RESOURCE_TRACE_INFO" val="{&quot;id&quot;:&quot;85744376&quot;,&quot;origin&quot;:0,&quot;type&quot;:&quot;pictures&quot;,&quot;user&quot;:&quot;1499160438&quot;}"/>
</p:tagLst>
</file>

<file path=ppt/tags/tag192.xml><?xml version="1.0" encoding="utf-8"?>
<p:tagLst xmlns:p="http://schemas.openxmlformats.org/presentationml/2006/main">
  <p:tag name="KSO_DOCER_RESOURCE_TRACE_INFO" val="{&quot;id&quot;:&quot;64774989&quot;,&quot;origin&quot;:0,&quot;type&quot;:&quot;pictures&quot;,&quot;user&quot;:&quot;1499160438&quot;}"/>
</p:tagLst>
</file>

<file path=ppt/tags/tag193.xml><?xml version="1.0" encoding="utf-8"?>
<p:tagLst xmlns:p="http://schemas.openxmlformats.org/presentationml/2006/main">
  <p:tag name="KSO_DOCER_RESOURCE_TRACE_INFO" val="{&quot;id&quot;:&quot;56351626&quot;,&quot;origin&quot;:0,&quot;type&quot;:&quot;pictures&quot;,&quot;user&quot;:&quot;1499160438&quot;}"/>
</p:tagLst>
</file>

<file path=ppt/tags/tag194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195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196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197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198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199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00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01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02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03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04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05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06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07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08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09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10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11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12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13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14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15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16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17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18.xml><?xml version="1.0" encoding="utf-8"?>
<p:tagLst xmlns:p="http://schemas.openxmlformats.org/presentationml/2006/main">
  <p:tag name="KSO_WM_DIAGRAM_VIRTUALLY_FRAME" val="{&quot;height&quot;:209.25,&quot;left&quot;:44.6,&quot;top&quot;:144,&quot;width&quot;:787.0250393700787}"/>
</p:tagLst>
</file>

<file path=ppt/tags/tag219.xml><?xml version="1.0" encoding="utf-8"?>
<p:tagLst xmlns:p="http://schemas.openxmlformats.org/presentationml/2006/main">
  <p:tag name="KSO_WM_FULL_TEXT_BEAUTIFY_COPY_ID" val="17"/>
</p:tagLst>
</file>

<file path=ppt/tags/tag220.xml><?xml version="1.0" encoding="utf-8"?>
<p:tagLst xmlns:p="http://schemas.openxmlformats.org/presentationml/2006/main">
  <p:tag name="KSO_WM_FULL_TEXT_BEAUTIFY_COPY_ID" val="18"/>
</p:tagLst>
</file>

<file path=ppt/tags/tag221.xml><?xml version="1.0" encoding="utf-8"?>
<p:tagLst xmlns:p="http://schemas.openxmlformats.org/presentationml/2006/main">
  <p:tag name="KSO_WM_FULL_TEXT_BEAUTIFY_COPY_ID" val="19"/>
</p:tagLst>
</file>

<file path=ppt/tags/tag222.xml><?xml version="1.0" encoding="utf-8"?>
<p:tagLst xmlns:p="http://schemas.openxmlformats.org/presentationml/2006/main">
  <p:tag name="KSO_WM_FULL_TEXT_BEAUTIFY_COPY_ID" val="14"/>
</p:tagLst>
</file>

<file path=ppt/tags/tag223.xml><?xml version="1.0" encoding="utf-8"?>
<p:tagLst xmlns:p="http://schemas.openxmlformats.org/presentationml/2006/main">
  <p:tag name="KSO_WM_FULL_TEXT_BEAUTIFY_COPY_ID" val="15"/>
</p:tagLst>
</file>

<file path=ppt/tags/tag224.xml><?xml version="1.0" encoding="utf-8"?>
<p:tagLst xmlns:p="http://schemas.openxmlformats.org/presentationml/2006/main">
  <p:tag name="KSO_WM_FULL_TEXT_BEAUTIFY_COPY_ID" val="16"/>
</p:tagLst>
</file>

<file path=ppt/tags/tag225.xml><?xml version="1.0" encoding="utf-8"?>
<p:tagLst xmlns:p="http://schemas.openxmlformats.org/presentationml/2006/main">
  <p:tag name="KSO_WM_FULL_TEXT_BEAUTIFY_COPY_ID" val="17"/>
</p:tagLst>
</file>

<file path=ppt/tags/tag226.xml><?xml version="1.0" encoding="utf-8"?>
<p:tagLst xmlns:p="http://schemas.openxmlformats.org/presentationml/2006/main">
  <p:tag name="KSO_WM_FULL_TEXT_BEAUTIFY_COPY_ID" val="18"/>
</p:tagLst>
</file>

<file path=ppt/tags/tag227.xml><?xml version="1.0" encoding="utf-8"?>
<p:tagLst xmlns:p="http://schemas.openxmlformats.org/presentationml/2006/main">
  <p:tag name="KSO_WM_FULL_TEXT_BEAUTIFY_COPY_ID" val="19"/>
</p:tagLst>
</file>

<file path=ppt/tags/tag228.xml><?xml version="1.0" encoding="utf-8"?>
<p:tagLst xmlns:p="http://schemas.openxmlformats.org/presentationml/2006/main">
  <p:tag name="KSO_WM_FULL_TEXT_BEAUTIFY_COPY_ID" val="14"/>
</p:tagLst>
</file>

<file path=ppt/tags/tag229.xml><?xml version="1.0" encoding="utf-8"?>
<p:tagLst xmlns:p="http://schemas.openxmlformats.org/presentationml/2006/main">
  <p:tag name="KSO_WM_FULL_TEXT_BEAUTIFY_COPY_ID" val="15"/>
</p:tagLst>
</file>

<file path=ppt/tags/tag230.xml><?xml version="1.0" encoding="utf-8"?>
<p:tagLst xmlns:p="http://schemas.openxmlformats.org/presentationml/2006/main">
  <p:tag name="KSO_WM_FULL_TEXT_BEAUTIFY_COPY_ID" val="16"/>
</p:tagLst>
</file>

<file path=ppt/tags/tag2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2.xml><?xml version="1.0" encoding="utf-8"?>
<p:tagLst xmlns:p="http://schemas.openxmlformats.org/presentationml/2006/main">
  <p:tag name="KSO_WM_DIAGRAM_VIRTUALLY_FRAME" val="{&quot;height&quot;:214.56,&quot;left&quot;:84.96000000000001,&quot;top&quot;:164.16,&quot;width&quot;:789.8399999999999}"/>
</p:tagLst>
</file>

<file path=ppt/tags/tag233.xml><?xml version="1.0" encoding="utf-8"?>
<p:tagLst xmlns:p="http://schemas.openxmlformats.org/presentationml/2006/main">
  <p:tag name="KSO_WM_DIAGRAM_VIRTUALLY_FRAME" val="{&quot;height&quot;:214.56,&quot;left&quot;:84.96000000000001,&quot;top&quot;:164.16,&quot;width&quot;:789.8399999999999}"/>
</p:tagLst>
</file>

<file path=ppt/tags/tag234.xml><?xml version="1.0" encoding="utf-8"?>
<p:tagLst xmlns:p="http://schemas.openxmlformats.org/presentationml/2006/main">
  <p:tag name="KSO_WM_DIAGRAM_VIRTUALLY_FRAME" val="{&quot;height&quot;:214.56,&quot;left&quot;:84.96000000000001,&quot;top&quot;:164.16,&quot;width&quot;:789.8399999999999}"/>
</p:tagLst>
</file>

<file path=ppt/tags/tag235.xml><?xml version="1.0" encoding="utf-8"?>
<p:tagLst xmlns:p="http://schemas.openxmlformats.org/presentationml/2006/main">
  <p:tag name="KSO_WM_DIAGRAM_VIRTUALLY_FRAME" val="{&quot;height&quot;:214.56,&quot;left&quot;:84.96000000000001,&quot;top&quot;:164.16,&quot;width&quot;:789.8399999999999}"/>
</p:tagLst>
</file>

<file path=ppt/tags/tag236.xml><?xml version="1.0" encoding="utf-8"?>
<p:tagLst xmlns:p="http://schemas.openxmlformats.org/presentationml/2006/main">
  <p:tag name="KSO_WM_DIAGRAM_VIRTUALLY_FRAME" val="{&quot;height&quot;:214.56,&quot;left&quot;:84.96000000000001,&quot;top&quot;:164.16,&quot;width&quot;:789.8399999999999}"/>
</p:tagLst>
</file>

<file path=ppt/tags/tag237.xml><?xml version="1.0" encoding="utf-8"?>
<p:tagLst xmlns:p="http://schemas.openxmlformats.org/presentationml/2006/main">
  <p:tag name="KSO_WM_DIAGRAM_VIRTUALLY_FRAME" val="{&quot;height&quot;:214.56,&quot;left&quot;:84.96000000000001,&quot;top&quot;:164.16,&quot;width&quot;:789.8399999999999}"/>
</p:tagLst>
</file>

<file path=ppt/tags/tag238.xml><?xml version="1.0" encoding="utf-8"?>
<p:tagLst xmlns:p="http://schemas.openxmlformats.org/presentationml/2006/main">
  <p:tag name="KSO_WM_DIAGRAM_VIRTUALLY_FRAME" val="{&quot;height&quot;:214.56,&quot;left&quot;:84.96000000000001,&quot;top&quot;:164.16,&quot;width&quot;:789.8399999999999}"/>
</p:tagLst>
</file>

<file path=ppt/tags/tag239.xml><?xml version="1.0" encoding="utf-8"?>
<p:tagLst xmlns:p="http://schemas.openxmlformats.org/presentationml/2006/main">
  <p:tag name="KSO_WM_DIAGRAM_VIRTUALLY_FRAME" val="{&quot;height&quot;:214.56,&quot;left&quot;:84.96000000000001,&quot;top&quot;:164.16,&quot;width&quot;:789.8399999999999}"/>
</p:tagLst>
</file>

<file path=ppt/tags/tag240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41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42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43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44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45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46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47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48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49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50.xml><?xml version="1.0" encoding="utf-8"?>
<p:tagLst xmlns:p="http://schemas.openxmlformats.org/presentationml/2006/main">
  <p:tag name="KSO_WM_DIAGRAM_VIRTUALLY_FRAME" val="{&quot;height&quot;:260.64,&quot;left&quot;:51.6,&quot;top&quot;:157.7,&quot;width&quot;:302.4}"/>
</p:tagLst>
</file>

<file path=ppt/tags/tag251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52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53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54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55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56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57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58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59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60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61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62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63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64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65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66.xml><?xml version="1.0" encoding="utf-8"?>
<p:tagLst xmlns:p="http://schemas.openxmlformats.org/presentationml/2006/main">
  <p:tag name="KSO_WM_DIAGRAM_VIRTUALLY_FRAME" val="{&quot;height&quot;:368.95,&quot;left&quot;:36.7,&quot;top&quot;:144,&quot;width&quot;:882.75}"/>
</p:tagLst>
</file>

<file path=ppt/tags/tag267.xml><?xml version="1.0" encoding="utf-8"?>
<p:tagLst xmlns:p="http://schemas.openxmlformats.org/presentationml/2006/main">
  <p:tag name="KSO_WM_DIAGRAM_VIRTUALLY_FRAME" val="{&quot;height&quot;:142.35,&quot;left&quot;:64.825,&quot;top&quot;:144,&quot;width&quot;:813.625}"/>
</p:tagLst>
</file>

<file path=ppt/tags/tag268.xml><?xml version="1.0" encoding="utf-8"?>
<p:tagLst xmlns:p="http://schemas.openxmlformats.org/presentationml/2006/main">
  <p:tag name="KSO_WM_DIAGRAM_VIRTUALLY_FRAME" val="{&quot;height&quot;:142.35,&quot;left&quot;:64.825,&quot;top&quot;:144,&quot;width&quot;:813.625}"/>
</p:tagLst>
</file>

<file path=ppt/tags/tag269.xml><?xml version="1.0" encoding="utf-8"?>
<p:tagLst xmlns:p="http://schemas.openxmlformats.org/presentationml/2006/main">
  <p:tag name="KSO_WM_DIAGRAM_VIRTUALLY_FRAME" val="{&quot;height&quot;:142.35,&quot;left&quot;:64.825,&quot;top&quot;:144,&quot;width&quot;:813.625}"/>
</p:tagLst>
</file>

<file path=ppt/tags/tag270.xml><?xml version="1.0" encoding="utf-8"?>
<p:tagLst xmlns:p="http://schemas.openxmlformats.org/presentationml/2006/main">
  <p:tag name="KSO_WM_DIAGRAM_VIRTUALLY_FRAME" val="{&quot;height&quot;:142.35,&quot;left&quot;:64.825,&quot;top&quot;:144,&quot;width&quot;:813.625}"/>
</p:tagLst>
</file>

<file path=ppt/tags/tag271.xml><?xml version="1.0" encoding="utf-8"?>
<p:tagLst xmlns:p="http://schemas.openxmlformats.org/presentationml/2006/main">
  <p:tag name="KSO_WM_DIAGRAM_VIRTUALLY_FRAME" val="{&quot;height&quot;:142.35,&quot;left&quot;:64.825,&quot;top&quot;:144,&quot;width&quot;:813.625}"/>
</p:tagLst>
</file>

<file path=ppt/tags/tag272.xml><?xml version="1.0" encoding="utf-8"?>
<p:tagLst xmlns:p="http://schemas.openxmlformats.org/presentationml/2006/main">
  <p:tag name="KSO_WM_DIAGRAM_VIRTUALLY_FRAME" val="{&quot;height&quot;:142.35,&quot;left&quot;:64.825,&quot;top&quot;:144,&quot;width&quot;:813.625}"/>
</p:tagLst>
</file>

<file path=ppt/tags/tag273.xml><?xml version="1.0" encoding="utf-8"?>
<p:tagLst xmlns:p="http://schemas.openxmlformats.org/presentationml/2006/main">
  <p:tag name="KSO_WM_DIAGRAM_VIRTUALLY_FRAME" val="{&quot;height&quot;:142.35,&quot;left&quot;:64.825,&quot;top&quot;:144,&quot;width&quot;:813.625}"/>
</p:tagLst>
</file>

<file path=ppt/tags/tag274.xml><?xml version="1.0" encoding="utf-8"?>
<p:tagLst xmlns:p="http://schemas.openxmlformats.org/presentationml/2006/main">
  <p:tag name="KSO_WM_DIAGRAM_VIRTUALLY_FRAME" val="{&quot;height&quot;:142.35,&quot;left&quot;:64.825,&quot;top&quot;:144,&quot;width&quot;:813.625}"/>
</p:tagLst>
</file>

<file path=ppt/tags/tag275.xml><?xml version="1.0" encoding="utf-8"?>
<p:tagLst xmlns:p="http://schemas.openxmlformats.org/presentationml/2006/main">
  <p:tag name="KSO_WM_DIAGRAM_VIRTUALLY_FRAME" val="{&quot;height&quot;:142.35,&quot;left&quot;:64.825,&quot;top&quot;:144,&quot;width&quot;:813.625}"/>
</p:tagLst>
</file>

<file path=ppt/tags/tag276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77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78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79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80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81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82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83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84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85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86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87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88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89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90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91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92.xml><?xml version="1.0" encoding="utf-8"?>
<p:tagLst xmlns:p="http://schemas.openxmlformats.org/presentationml/2006/main">
  <p:tag name="KSO_WM_DIAGRAM_VIRTUALLY_FRAME" val="{&quot;height&quot;:51.83999999999996,&quot;left&quot;:68.42503937007874,&quot;top&quot;:378.82,&quot;width&quot;:814.3199999999999}"/>
</p:tagLst>
</file>

<file path=ppt/tags/tag293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294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295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296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297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298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299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300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301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302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303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304.xml><?xml version="1.0" encoding="utf-8"?>
<p:tagLst xmlns:p="http://schemas.openxmlformats.org/presentationml/2006/main">
  <p:tag name="KSO_WM_DIAGRAM_VIRTUALLY_FRAME" val="{&quot;height&quot;:273.6,&quot;left&quot;:51.864999999999995,&quot;top&quot;:135.35999999999999,&quot;width&quot;:411.84}"/>
</p:tagLst>
</file>

<file path=ppt/tags/tag305.xml><?xml version="1.0" encoding="utf-8"?>
<p:tagLst xmlns:p="http://schemas.openxmlformats.org/presentationml/2006/main">
  <p:tag name="KSO_WM_FULL_TEXT_BEAUTIFY_COPY_ID" val="17"/>
</p:tagLst>
</file>

<file path=ppt/tags/tag306.xml><?xml version="1.0" encoding="utf-8"?>
<p:tagLst xmlns:p="http://schemas.openxmlformats.org/presentationml/2006/main">
  <p:tag name="KSO_WM_FULL_TEXT_BEAUTIFY_COPY_ID" val="18"/>
</p:tagLst>
</file>

<file path=ppt/tags/tag307.xml><?xml version="1.0" encoding="utf-8"?>
<p:tagLst xmlns:p="http://schemas.openxmlformats.org/presentationml/2006/main">
  <p:tag name="KSO_WM_FULL_TEXT_BEAUTIFY_COPY_ID" val="19"/>
</p:tagLst>
</file>

<file path=ppt/tags/tag308.xml><?xml version="1.0" encoding="utf-8"?>
<p:tagLst xmlns:p="http://schemas.openxmlformats.org/presentationml/2006/main">
  <p:tag name="KSO_WM_FULL_TEXT_BEAUTIFY_COPY_ID" val="14"/>
</p:tagLst>
</file>

<file path=ppt/tags/tag309.xml><?xml version="1.0" encoding="utf-8"?>
<p:tagLst xmlns:p="http://schemas.openxmlformats.org/presentationml/2006/main">
  <p:tag name="KSO_WM_FULL_TEXT_BEAUTIFY_COPY_ID" val="15"/>
</p:tagLst>
</file>

<file path=ppt/tags/tag310.xml><?xml version="1.0" encoding="utf-8"?>
<p:tagLst xmlns:p="http://schemas.openxmlformats.org/presentationml/2006/main">
  <p:tag name="KSO_WM_FULL_TEXT_BEAUTIFY_COPY_ID" val="16"/>
</p:tagLst>
</file>

<file path=ppt/tags/tag311.xml><?xml version="1.0" encoding="utf-8"?>
<p:tagLst xmlns:p="http://schemas.openxmlformats.org/presentationml/2006/main">
  <p:tag name="KSO_WM_FULL_TEXT_BEAUTIFY_COPY_ID" val="17"/>
</p:tagLst>
</file>

<file path=ppt/tags/tag312.xml><?xml version="1.0" encoding="utf-8"?>
<p:tagLst xmlns:p="http://schemas.openxmlformats.org/presentationml/2006/main">
  <p:tag name="KSO_WM_FULL_TEXT_BEAUTIFY_COPY_ID" val="18"/>
</p:tagLst>
</file>

<file path=ppt/tags/tag313.xml><?xml version="1.0" encoding="utf-8"?>
<p:tagLst xmlns:p="http://schemas.openxmlformats.org/presentationml/2006/main">
  <p:tag name="KSO_WM_FULL_TEXT_BEAUTIFY_COPY_ID" val="19"/>
</p:tagLst>
</file>

<file path=ppt/tags/tag314.xml><?xml version="1.0" encoding="utf-8"?>
<p:tagLst xmlns:p="http://schemas.openxmlformats.org/presentationml/2006/main">
  <p:tag name="KSO_WM_FULL_TEXT_BEAUTIFY_COPY_ID" val="14"/>
</p:tagLst>
</file>

<file path=ppt/tags/tag315.xml><?xml version="1.0" encoding="utf-8"?>
<p:tagLst xmlns:p="http://schemas.openxmlformats.org/presentationml/2006/main">
  <p:tag name="KSO_WM_FULL_TEXT_BEAUTIFY_COPY_ID" val="15"/>
</p:tagLst>
</file>

<file path=ppt/tags/tag316.xml><?xml version="1.0" encoding="utf-8"?>
<p:tagLst xmlns:p="http://schemas.openxmlformats.org/presentationml/2006/main">
  <p:tag name="KSO_WM_FULL_TEXT_BEAUTIFY_COPY_ID" val="16"/>
</p:tagLst>
</file>

<file path=ppt/tags/tag3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18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19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20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21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22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23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24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25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26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27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28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29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30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31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32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33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34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35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36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37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38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39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40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41.xml><?xml version="1.0" encoding="utf-8"?>
<p:tagLst xmlns:p="http://schemas.openxmlformats.org/presentationml/2006/main">
  <p:tag name="KSO_WM_DIAGRAM_VIRTUALLY_FRAME" val="{&quot;height&quot;:104.4,&quot;left&quot;:57.625,&quot;top&quot;:144,&quot;width&quot;:824.4}"/>
</p:tagLst>
</file>

<file path=ppt/tags/tag342.xml><?xml version="1.0" encoding="utf-8"?>
<p:tagLst xmlns:p="http://schemas.openxmlformats.org/presentationml/2006/main">
  <p:tag name="KSO_WM_FULL_TEXT_BEAUTIFY_COPY_ID" val="17"/>
</p:tagLst>
</file>

<file path=ppt/tags/tag343.xml><?xml version="1.0" encoding="utf-8"?>
<p:tagLst xmlns:p="http://schemas.openxmlformats.org/presentationml/2006/main">
  <p:tag name="KSO_WM_FULL_TEXT_BEAUTIFY_COPY_ID" val="18"/>
</p:tagLst>
</file>

<file path=ppt/tags/tag344.xml><?xml version="1.0" encoding="utf-8"?>
<p:tagLst xmlns:p="http://schemas.openxmlformats.org/presentationml/2006/main">
  <p:tag name="KSO_WM_FULL_TEXT_BEAUTIFY_COPY_ID" val="19"/>
</p:tagLst>
</file>

<file path=ppt/tags/tag345.xml><?xml version="1.0" encoding="utf-8"?>
<p:tagLst xmlns:p="http://schemas.openxmlformats.org/presentationml/2006/main">
  <p:tag name="KSO_WM_FULL_TEXT_BEAUTIFY_COPY_ID" val="14"/>
</p:tagLst>
</file>

<file path=ppt/tags/tag346.xml><?xml version="1.0" encoding="utf-8"?>
<p:tagLst xmlns:p="http://schemas.openxmlformats.org/presentationml/2006/main">
  <p:tag name="KSO_WM_FULL_TEXT_BEAUTIFY_COPY_ID" val="15"/>
</p:tagLst>
</file>

<file path=ppt/tags/tag347.xml><?xml version="1.0" encoding="utf-8"?>
<p:tagLst xmlns:p="http://schemas.openxmlformats.org/presentationml/2006/main">
  <p:tag name="KSO_WM_FULL_TEXT_BEAUTIFY_COPY_ID" val="16"/>
</p:tagLst>
</file>

<file path=ppt/tags/tag348.xml><?xml version="1.0" encoding="utf-8"?>
<p:tagLst xmlns:p="http://schemas.openxmlformats.org/presentationml/2006/main">
  <p:tag name="KSO_WM_FULL_TEXT_BEAUTIFY_COPY_ID" val="17"/>
</p:tagLst>
</file>

<file path=ppt/tags/tag349.xml><?xml version="1.0" encoding="utf-8"?>
<p:tagLst xmlns:p="http://schemas.openxmlformats.org/presentationml/2006/main">
  <p:tag name="KSO_WM_FULL_TEXT_BEAUTIFY_COPY_ID" val="18"/>
</p:tagLst>
</file>

<file path=ppt/tags/tag350.xml><?xml version="1.0" encoding="utf-8"?>
<p:tagLst xmlns:p="http://schemas.openxmlformats.org/presentationml/2006/main">
  <p:tag name="KSO_WM_FULL_TEXT_BEAUTIFY_COPY_ID" val="19"/>
</p:tagLst>
</file>

<file path=ppt/tags/tag351.xml><?xml version="1.0" encoding="utf-8"?>
<p:tagLst xmlns:p="http://schemas.openxmlformats.org/presentationml/2006/main">
  <p:tag name="KSO_WM_FULL_TEXT_BEAUTIFY_COPY_ID" val="14"/>
</p:tagLst>
</file>

<file path=ppt/tags/tag352.xml><?xml version="1.0" encoding="utf-8"?>
<p:tagLst xmlns:p="http://schemas.openxmlformats.org/presentationml/2006/main">
  <p:tag name="KSO_WM_FULL_TEXT_BEAUTIFY_COPY_ID" val="15"/>
</p:tagLst>
</file>

<file path=ppt/tags/tag353.xml><?xml version="1.0" encoding="utf-8"?>
<p:tagLst xmlns:p="http://schemas.openxmlformats.org/presentationml/2006/main">
  <p:tag name="KSO_WM_FULL_TEXT_BEAUTIFY_COPY_ID" val="16"/>
</p:tagLst>
</file>

<file path=ppt/tags/tag3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55.xml><?xml version="1.0" encoding="utf-8"?>
<p:tagLst xmlns:p="http://schemas.openxmlformats.org/presentationml/2006/main">
  <p:tag name="KSO_WM_DIAGRAM_VIRTUALLY_FRAME" val="{&quot;height&quot;:187.2,&quot;left&quot;:64.825,&quot;top&quot;:143.4,&quot;width&quot;:828}"/>
</p:tagLst>
</file>

<file path=ppt/tags/tag356.xml><?xml version="1.0" encoding="utf-8"?>
<p:tagLst xmlns:p="http://schemas.openxmlformats.org/presentationml/2006/main">
  <p:tag name="KSO_WM_DIAGRAM_VIRTUALLY_FRAME" val="{&quot;height&quot;:187.2,&quot;left&quot;:64.825,&quot;top&quot;:143.4,&quot;width&quot;:828}"/>
</p:tagLst>
</file>

<file path=ppt/tags/tag357.xml><?xml version="1.0" encoding="utf-8"?>
<p:tagLst xmlns:p="http://schemas.openxmlformats.org/presentationml/2006/main">
  <p:tag name="KSO_WM_DIAGRAM_VIRTUALLY_FRAME" val="{&quot;height&quot;:187.2,&quot;left&quot;:64.825,&quot;top&quot;:143.4,&quot;width&quot;:828}"/>
</p:tagLst>
</file>

<file path=ppt/tags/tag358.xml><?xml version="1.0" encoding="utf-8"?>
<p:tagLst xmlns:p="http://schemas.openxmlformats.org/presentationml/2006/main">
  <p:tag name="KSO_WM_DIAGRAM_VIRTUALLY_FRAME" val="{&quot;height&quot;:187.2,&quot;left&quot;:64.825,&quot;top&quot;:143.4,&quot;width&quot;:828}"/>
</p:tagLst>
</file>

<file path=ppt/tags/tag359.xml><?xml version="1.0" encoding="utf-8"?>
<p:tagLst xmlns:p="http://schemas.openxmlformats.org/presentationml/2006/main">
  <p:tag name="KSO_WM_DIAGRAM_VIRTUALLY_FRAME" val="{&quot;height&quot;:187.2,&quot;left&quot;:64.825,&quot;top&quot;:143.4,&quot;width&quot;:828}"/>
</p:tagLst>
</file>

<file path=ppt/tags/tag360.xml><?xml version="1.0" encoding="utf-8"?>
<p:tagLst xmlns:p="http://schemas.openxmlformats.org/presentationml/2006/main">
  <p:tag name="KSO_WM_DIAGRAM_VIRTUALLY_FRAME" val="{&quot;height&quot;:187.2,&quot;left&quot;:64.825,&quot;top&quot;:143.4,&quot;width&quot;:828}"/>
</p:tagLst>
</file>

<file path=ppt/tags/tag361.xml><?xml version="1.0" encoding="utf-8"?>
<p:tagLst xmlns:p="http://schemas.openxmlformats.org/presentationml/2006/main">
  <p:tag name="KSO_WM_DIAGRAM_VIRTUALLY_FRAME" val="{&quot;height&quot;:187.2,&quot;left&quot;:64.825,&quot;top&quot;:143.4,&quot;width&quot;:828}"/>
</p:tagLst>
</file>

<file path=ppt/tags/tag362.xml><?xml version="1.0" encoding="utf-8"?>
<p:tagLst xmlns:p="http://schemas.openxmlformats.org/presentationml/2006/main">
  <p:tag name="KSO_WM_DIAGRAM_VIRTUALLY_FRAME" val="{&quot;height&quot;:187.2,&quot;left&quot;:64.825,&quot;top&quot;:143.4,&quot;width&quot;:828}"/>
</p:tagLst>
</file>

<file path=ppt/tags/tag363.xml><?xml version="1.0" encoding="utf-8"?>
<p:tagLst xmlns:p="http://schemas.openxmlformats.org/presentationml/2006/main">
  <p:tag name="KSO_WM_DIAGRAM_VIRTUALLY_FRAME" val="{&quot;height&quot;:187.2,&quot;left&quot;:64.825,&quot;top&quot;:143.4,&quot;width&quot;:828}"/>
</p:tagLst>
</file>

<file path=ppt/tags/tag364.xml><?xml version="1.0" encoding="utf-8"?>
<p:tagLst xmlns:p="http://schemas.openxmlformats.org/presentationml/2006/main">
  <p:tag name="KSO_WM_FULL_TEXT_BEAUTIFY_COPY_ID" val="5"/>
</p:tagLst>
</file>

<file path=ppt/tags/tag365.xml><?xml version="1.0" encoding="utf-8"?>
<p:tagLst xmlns:p="http://schemas.openxmlformats.org/presentationml/2006/main">
  <p:tag name="KSO_WM_FULL_TEXT_BEAUTIFY_COPY_ID" val="6"/>
</p:tagLst>
</file>

<file path=ppt/tags/tag366.xml><?xml version="1.0" encoding="utf-8"?>
<p:tagLst xmlns:p="http://schemas.openxmlformats.org/presentationml/2006/main">
  <p:tag name="KSO_WM_FULL_TEXT_BEAUTIFY_COPY_ID" val="7"/>
</p:tagLst>
</file>

<file path=ppt/tags/tag367.xml><?xml version="1.0" encoding="utf-8"?>
<p:tagLst xmlns:p="http://schemas.openxmlformats.org/presentationml/2006/main">
  <p:tag name="KSO_WM_FULL_TEXT_BEAUTIFY_COPY_ID" val="9"/>
</p:tagLst>
</file>

<file path=ppt/tags/tag368.xml><?xml version="1.0" encoding="utf-8"?>
<p:tagLst xmlns:p="http://schemas.openxmlformats.org/presentationml/2006/main">
  <p:tag name="KSO_WM_FULL_TEXT_BEAUTIFY_COPY_ID" val="12"/>
</p:tagLst>
</file>

<file path=ppt/tags/tag369.xml><?xml version="1.0" encoding="utf-8"?>
<p:tagLst xmlns:p="http://schemas.openxmlformats.org/presentationml/2006/main">
  <p:tag name="KSO_WM_FULL_TEXT_BEAUTIFY_COPY_ID" val="13"/>
</p:tagLst>
</file>

<file path=ppt/tags/tag370.xml><?xml version="1.0" encoding="utf-8"?>
<p:tagLst xmlns:p="http://schemas.openxmlformats.org/presentationml/2006/main">
  <p:tag name="KSO_WM_FULL_TEXT_BEAUTIFY_COPY_ID" val="20"/>
</p:tagLst>
</file>

<file path=ppt/tags/tag371.xml><?xml version="1.0" encoding="utf-8"?>
<p:tagLst xmlns:p="http://schemas.openxmlformats.org/presentationml/2006/main">
  <p:tag name="KSO_WM_FULL_TEXT_BEAUTIFY_COPY_ID" val="21"/>
</p:tagLst>
</file>

<file path=ppt/tags/tag372.xml><?xml version="1.0" encoding="utf-8"?>
<p:tagLst xmlns:p="http://schemas.openxmlformats.org/presentationml/2006/main">
  <p:tag name="KSO_WM_FULL_TEXT_BEAUTIFY_COPY_ID" val="24"/>
</p:tagLst>
</file>

<file path=ppt/tags/tag373.xml><?xml version="1.0" encoding="utf-8"?>
<p:tagLst xmlns:p="http://schemas.openxmlformats.org/presentationml/2006/main">
  <p:tag name="KSO_WM_FULL_TEXT_BEAUTIFY_COPY_ID" val="25"/>
</p:tagLst>
</file>

<file path=ppt/tags/tag374.xml><?xml version="1.0" encoding="utf-8"?>
<p:tagLst xmlns:p="http://schemas.openxmlformats.org/presentationml/2006/main">
  <p:tag name="KSO_WM_FULL_TEXT_BEAUTIFY_COPY_ID" val="17"/>
</p:tagLst>
</file>

<file path=ppt/tags/tag375.xml><?xml version="1.0" encoding="utf-8"?>
<p:tagLst xmlns:p="http://schemas.openxmlformats.org/presentationml/2006/main">
  <p:tag name="KSO_WM_FULL_TEXT_BEAUTIFY_COPY_ID" val="18"/>
</p:tagLst>
</file>

<file path=ppt/tags/tag376.xml><?xml version="1.0" encoding="utf-8"?>
<p:tagLst xmlns:p="http://schemas.openxmlformats.org/presentationml/2006/main">
  <p:tag name="KSO_WM_FULL_TEXT_BEAUTIFY_COPY_ID" val="19"/>
</p:tagLst>
</file>

<file path=ppt/tags/tag377.xml><?xml version="1.0" encoding="utf-8"?>
<p:tagLst xmlns:p="http://schemas.openxmlformats.org/presentationml/2006/main">
  <p:tag name="KSO_WM_FULL_TEXT_BEAUTIFY_COPY_ID" val="14"/>
</p:tagLst>
</file>

<file path=ppt/tags/tag378.xml><?xml version="1.0" encoding="utf-8"?>
<p:tagLst xmlns:p="http://schemas.openxmlformats.org/presentationml/2006/main">
  <p:tag name="KSO_WM_FULL_TEXT_BEAUTIFY_COPY_ID" val="15"/>
</p:tagLst>
</file>

<file path=ppt/tags/tag379.xml><?xml version="1.0" encoding="utf-8"?>
<p:tagLst xmlns:p="http://schemas.openxmlformats.org/presentationml/2006/main">
  <p:tag name="KSO_WM_FULL_TEXT_BEAUTIFY_COPY_ID" val="16"/>
</p:tagLst>
</file>

<file path=ppt/tags/tag3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ULL_TEXT_BEAUTIFY_COPY_ID" val="150996089"/>
</p:tagLst>
</file>

<file path=ppt/theme/theme1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5645</Words>
  <Application>WPS 演示</Application>
  <PresentationFormat>宽屏</PresentationFormat>
  <Paragraphs>805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Wingdings</vt:lpstr>
      <vt:lpstr>字魂35号-经典雅黑</vt:lpstr>
      <vt:lpstr>黑体</vt:lpstr>
      <vt:lpstr>字魂59号-创粗黑</vt:lpstr>
      <vt:lpstr>字魂119号-天真儿风体</vt:lpstr>
      <vt:lpstr>Lucida Calligraphy</vt:lpstr>
      <vt:lpstr>Calibri</vt:lpstr>
      <vt:lpstr>微软雅黑</vt:lpstr>
      <vt:lpstr>Arial Unicode MS</vt:lpstr>
      <vt:lpstr>字魂105号-简雅黑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徐水办公(拟稿)</dc:creator>
  <cp:lastModifiedBy>Lionel Andrés Messi</cp:lastModifiedBy>
  <cp:revision>378</cp:revision>
  <dcterms:created xsi:type="dcterms:W3CDTF">2019-06-19T02:08:00Z</dcterms:created>
  <dcterms:modified xsi:type="dcterms:W3CDTF">2026-09-09T09:14:26Z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SaveFontToCloudKey">
    <vt:lpwstr>289360249_btnclosed</vt:lpwstr>
  </property>
  <property fmtid="{D5CDD505-2E9C-101B-9397-08002B2CF9AE}" pid="4" name="ICV">
    <vt:lpwstr>F8EFBB5240BD43A598C628B53417E2F6_13</vt:lpwstr>
  </property>
</Properties>
</file>